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68" d="100"/>
          <a:sy n="68" d="100"/>
        </p:scale>
        <p:origin x="867" y="261"/>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2/12/2026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2/12/2026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2/12/2026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2/12/2026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2/12/2026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2/12/2026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2/12/2026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‹N›</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1E1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2000" cy="73152"/>
          </a:xfrm>
          <a:prstGeom prst="rect">
            <a:avLst/>
          </a:prstGeom>
          <a:solidFill>
            <a:srgbClr val="BD27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365760"/>
            <a:ext cx="3657600" cy="548640"/>
          </a:xfrm>
          <a:prstGeom prst="rect">
            <a:avLst/>
          </a:prstGeom>
          <a:noFill/>
        </p:spPr>
        <p:txBody>
          <a:bodyPr wrap="square"/>
          <a:lstStyle/>
          <a:p>
            <a:pPr algn="l">
              <a:spcBef>
                <a:spcPts val="0"/>
              </a:spcBef>
              <a:spcAft>
                <a:spcPts val="0"/>
              </a:spcAft>
              <a:defRPr sz="2800" b="1" i="0">
                <a:solidFill>
                  <a:srgbClr val="FFFFFF"/>
                </a:solidFill>
                <a:latin typeface="Calibri"/>
              </a:defRPr>
            </a:pPr>
            <a:r>
              <a:t>OVERNET.</a:t>
            </a:r>
          </a:p>
        </p:txBody>
      </p:sp>
      <p:sp>
        <p:nvSpPr>
          <p:cNvPr id="5" name="TextBox 4"/>
          <p:cNvSpPr txBox="1"/>
          <p:nvPr/>
        </p:nvSpPr>
        <p:spPr>
          <a:xfrm>
            <a:off x="548640" y="868680"/>
            <a:ext cx="3657600" cy="320040"/>
          </a:xfrm>
          <a:prstGeom prst="rect">
            <a:avLst/>
          </a:prstGeom>
          <a:noFill/>
        </p:spPr>
        <p:txBody>
          <a:bodyPr wrap="square"/>
          <a:lstStyle/>
          <a:p>
            <a:pPr algn="l">
              <a:spcBef>
                <a:spcPts val="0"/>
              </a:spcBef>
              <a:spcAft>
                <a:spcPts val="0"/>
              </a:spcAft>
              <a:defRPr sz="1100" b="0" i="0">
                <a:solidFill>
                  <a:srgbClr val="AAAABB"/>
                </a:solidFill>
                <a:latin typeface="Calibri Light"/>
              </a:defRPr>
            </a:pPr>
            <a:r>
              <a:t>upgrade your digital skills</a:t>
            </a:r>
          </a:p>
        </p:txBody>
      </p:sp>
      <p:sp>
        <p:nvSpPr>
          <p:cNvPr id="6" name="TextBox 5"/>
          <p:cNvSpPr txBox="1"/>
          <p:nvPr/>
        </p:nvSpPr>
        <p:spPr>
          <a:xfrm>
            <a:off x="548640" y="2194560"/>
            <a:ext cx="9144000" cy="1097280"/>
          </a:xfrm>
          <a:prstGeom prst="rect">
            <a:avLst/>
          </a:prstGeom>
          <a:noFill/>
        </p:spPr>
        <p:txBody>
          <a:bodyPr wrap="square"/>
          <a:lstStyle/>
          <a:p>
            <a:pPr algn="l">
              <a:spcBef>
                <a:spcPts val="0"/>
              </a:spcBef>
              <a:spcAft>
                <a:spcPts val="0"/>
              </a:spcAft>
              <a:defRPr sz="5200" b="1" i="0">
                <a:solidFill>
                  <a:srgbClr val="FFFFFF"/>
                </a:solidFill>
                <a:latin typeface="Calibri"/>
              </a:defRPr>
            </a:pPr>
            <a:r>
              <a:t>Creational Patterns</a:t>
            </a:r>
          </a:p>
        </p:txBody>
      </p:sp>
      <p:sp>
        <p:nvSpPr>
          <p:cNvPr id="7" name="Rectangle 6"/>
          <p:cNvSpPr/>
          <p:nvPr/>
        </p:nvSpPr>
        <p:spPr>
          <a:xfrm>
            <a:off x="548640" y="3383280"/>
            <a:ext cx="2286000" cy="54864"/>
          </a:xfrm>
          <a:prstGeom prst="rect">
            <a:avLst/>
          </a:prstGeom>
          <a:solidFill>
            <a:srgbClr val="BD27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48640" y="3657600"/>
            <a:ext cx="7315200" cy="640080"/>
          </a:xfrm>
          <a:prstGeom prst="rect">
            <a:avLst/>
          </a:prstGeom>
          <a:noFill/>
        </p:spPr>
        <p:txBody>
          <a:bodyPr wrap="square"/>
          <a:lstStyle/>
          <a:p>
            <a:pPr algn="l">
              <a:spcBef>
                <a:spcPts val="0"/>
              </a:spcBef>
              <a:spcAft>
                <a:spcPts val="0"/>
              </a:spcAft>
              <a:defRPr sz="2400" b="0" i="0">
                <a:solidFill>
                  <a:srgbClr val="BD2716"/>
                </a:solidFill>
                <a:latin typeface="Calibri"/>
              </a:defRPr>
            </a:pPr>
            <a:r>
              <a:t>Module 2: How do we construct objects?</a:t>
            </a:r>
          </a:p>
        </p:txBody>
      </p:sp>
      <p:sp>
        <p:nvSpPr>
          <p:cNvPr id="9" name="TextBox 8"/>
          <p:cNvSpPr txBox="1"/>
          <p:nvPr/>
        </p:nvSpPr>
        <p:spPr>
          <a:xfrm>
            <a:off x="548640" y="4389120"/>
            <a:ext cx="9144000" cy="457200"/>
          </a:xfrm>
          <a:prstGeom prst="rect">
            <a:avLst/>
          </a:prstGeom>
          <a:noFill/>
        </p:spPr>
        <p:txBody>
          <a:bodyPr wrap="square"/>
          <a:lstStyle/>
          <a:p>
            <a:pPr algn="l">
              <a:spcBef>
                <a:spcPts val="0"/>
              </a:spcBef>
              <a:spcAft>
                <a:spcPts val="0"/>
              </a:spcAft>
              <a:defRPr sz="1600" b="0" i="0">
                <a:solidFill>
                  <a:srgbClr val="AAAABB"/>
                </a:solidFill>
                <a:latin typeface="Calibri Light"/>
              </a:defRPr>
            </a:pPr>
            <a:r>
              <a:t>Abstract Factory  |  Builder  |  Factory Method  |  Prototype  |  Singleton</a:t>
            </a:r>
          </a:p>
        </p:txBody>
      </p:sp>
      <p:sp>
        <p:nvSpPr>
          <p:cNvPr id="10" name="TextBox 9"/>
          <p:cNvSpPr txBox="1"/>
          <p:nvPr/>
        </p:nvSpPr>
        <p:spPr>
          <a:xfrm>
            <a:off x="9601200" y="6217920"/>
            <a:ext cx="2286000" cy="365760"/>
          </a:xfrm>
          <a:prstGeom prst="rect">
            <a:avLst/>
          </a:prstGeom>
          <a:noFill/>
        </p:spPr>
        <p:txBody>
          <a:bodyPr wrap="square"/>
          <a:lstStyle/>
          <a:p>
            <a:pPr algn="r">
              <a:spcBef>
                <a:spcPts val="0"/>
              </a:spcBef>
              <a:spcAft>
                <a:spcPts val="0"/>
              </a:spcAft>
              <a:defRPr sz="1200" b="0" i="0">
                <a:solidFill>
                  <a:srgbClr val="666677"/>
                </a:solidFill>
                <a:latin typeface="Calibri Light"/>
              </a:defRPr>
            </a:pPr>
            <a:r>
              <a:t>OEO014</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54864"/>
          </a:xfrm>
          <a:prstGeom prst="rect">
            <a:avLst/>
          </a:prstGeom>
          <a:solidFill>
            <a:srgbClr val="BD27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182880"/>
            <a:ext cx="457200" cy="320040"/>
          </a:xfrm>
          <a:prstGeom prst="rect">
            <a:avLst/>
          </a:prstGeom>
          <a:noFill/>
        </p:spPr>
        <p:txBody>
          <a:bodyPr wrap="square"/>
          <a:lstStyle/>
          <a:p>
            <a:pPr algn="l">
              <a:spcBef>
                <a:spcPts val="0"/>
              </a:spcBef>
              <a:spcAft>
                <a:spcPts val="0"/>
              </a:spcAft>
              <a:defRPr sz="1300" b="1" i="0">
                <a:solidFill>
                  <a:srgbClr val="BD2716"/>
                </a:solidFill>
                <a:latin typeface="Calibri"/>
              </a:defRPr>
            </a:pPr>
            <a:r>
              <a:t>M2</a:t>
            </a:r>
          </a:p>
        </p:txBody>
      </p:sp>
      <p:sp>
        <p:nvSpPr>
          <p:cNvPr id="4" name="TextBox 3"/>
          <p:cNvSpPr txBox="1"/>
          <p:nvPr/>
        </p:nvSpPr>
        <p:spPr>
          <a:xfrm>
            <a:off x="822960" y="182880"/>
            <a:ext cx="7315200" cy="320040"/>
          </a:xfrm>
          <a:prstGeom prst="rect">
            <a:avLst/>
          </a:prstGeom>
          <a:noFill/>
        </p:spPr>
        <p:txBody>
          <a:bodyPr wrap="square"/>
          <a:lstStyle/>
          <a:p>
            <a:pPr algn="l">
              <a:spcBef>
                <a:spcPts val="0"/>
              </a:spcBef>
              <a:spcAft>
                <a:spcPts val="0"/>
              </a:spcAft>
              <a:defRPr sz="1100" b="0" i="0">
                <a:solidFill>
                  <a:srgbClr val="666666"/>
                </a:solidFill>
                <a:latin typeface="Calibri Light"/>
              </a:defRPr>
            </a:pPr>
            <a:r>
              <a:t>Creational Patterns</a:t>
            </a:r>
          </a:p>
        </p:txBody>
      </p:sp>
      <p:sp>
        <p:nvSpPr>
          <p:cNvPr id="5" name="TextBox 4"/>
          <p:cNvSpPr txBox="1"/>
          <p:nvPr/>
        </p:nvSpPr>
        <p:spPr>
          <a:xfrm>
            <a:off x="548640" y="731520"/>
            <a:ext cx="10515600" cy="731520"/>
          </a:xfrm>
          <a:prstGeom prst="rect">
            <a:avLst/>
          </a:prstGeom>
          <a:noFill/>
        </p:spPr>
        <p:txBody>
          <a:bodyPr wrap="square"/>
          <a:lstStyle/>
          <a:p>
            <a:pPr algn="l">
              <a:spcBef>
                <a:spcPts val="0"/>
              </a:spcBef>
              <a:spcAft>
                <a:spcPts val="0"/>
              </a:spcAft>
              <a:defRPr sz="3600" b="1" i="0">
                <a:solidFill>
                  <a:srgbClr val="333333"/>
                </a:solidFill>
                <a:latin typeface="Calibri"/>
              </a:defRPr>
            </a:pPr>
            <a:r>
              <a:t>Creational Patterns: Overview</a:t>
            </a:r>
          </a:p>
        </p:txBody>
      </p:sp>
      <p:sp>
        <p:nvSpPr>
          <p:cNvPr id="6" name="TextBox 5"/>
          <p:cNvSpPr txBox="1"/>
          <p:nvPr/>
        </p:nvSpPr>
        <p:spPr>
          <a:xfrm>
            <a:off x="731520" y="1645920"/>
            <a:ext cx="10515600" cy="731520"/>
          </a:xfrm>
          <a:prstGeom prst="rect">
            <a:avLst/>
          </a:prstGeom>
          <a:noFill/>
        </p:spPr>
        <p:txBody>
          <a:bodyPr wrap="square"/>
          <a:lstStyle/>
          <a:p>
            <a:pPr algn="l">
              <a:spcBef>
                <a:spcPts val="0"/>
              </a:spcBef>
              <a:spcAft>
                <a:spcPts val="0"/>
              </a:spcAft>
              <a:defRPr sz="1400" b="0" i="0">
                <a:solidFill>
                  <a:srgbClr val="333333"/>
                </a:solidFill>
                <a:latin typeface="Calibri Light"/>
              </a:defRPr>
            </a:pPr>
            <a:r>
              <a:t>Creational patterns abstract the instantiation process. They help make a system independent of how its objects are created, composed, and represented. In enterprise Java, they are everywhere: Spring’s @Bean, builders in HTTP clients, prototype-scoped beans, and the Singleton pattern that underpins the entire IoC container.</a:t>
            </a:r>
          </a:p>
        </p:txBody>
      </p:sp>
      <p:sp>
        <p:nvSpPr>
          <p:cNvPr id="7" name="Rectangle 6"/>
          <p:cNvSpPr/>
          <p:nvPr/>
        </p:nvSpPr>
        <p:spPr>
          <a:xfrm>
            <a:off x="731520" y="2743200"/>
            <a:ext cx="73152" cy="502920"/>
          </a:xfrm>
          <a:prstGeom prst="rect">
            <a:avLst/>
          </a:prstGeom>
          <a:solidFill>
            <a:srgbClr val="BD27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05840" y="2743200"/>
            <a:ext cx="2926080" cy="274320"/>
          </a:xfrm>
          <a:prstGeom prst="rect">
            <a:avLst/>
          </a:prstGeom>
          <a:noFill/>
        </p:spPr>
        <p:txBody>
          <a:bodyPr wrap="square"/>
          <a:lstStyle/>
          <a:p>
            <a:pPr algn="l">
              <a:spcBef>
                <a:spcPts val="0"/>
              </a:spcBef>
              <a:spcAft>
                <a:spcPts val="0"/>
              </a:spcAft>
              <a:defRPr sz="1500" b="1" i="0">
                <a:solidFill>
                  <a:srgbClr val="BD2716"/>
                </a:solidFill>
                <a:latin typeface="Calibri"/>
              </a:defRPr>
            </a:pPr>
            <a:r>
              <a:t>Abstract Factory</a:t>
            </a:r>
          </a:p>
        </p:txBody>
      </p:sp>
      <p:sp>
        <p:nvSpPr>
          <p:cNvPr id="9" name="TextBox 8"/>
          <p:cNvSpPr txBox="1"/>
          <p:nvPr/>
        </p:nvSpPr>
        <p:spPr>
          <a:xfrm>
            <a:off x="4114800" y="2743200"/>
            <a:ext cx="7315200" cy="502920"/>
          </a:xfrm>
          <a:prstGeom prst="rect">
            <a:avLst/>
          </a:prstGeom>
          <a:noFill/>
        </p:spPr>
        <p:txBody>
          <a:bodyPr wrap="square"/>
          <a:lstStyle/>
          <a:p>
            <a:pPr algn="l">
              <a:spcBef>
                <a:spcPts val="0"/>
              </a:spcBef>
              <a:spcAft>
                <a:spcPts val="0"/>
              </a:spcAft>
              <a:defRPr sz="1300" b="0" i="0">
                <a:solidFill>
                  <a:srgbClr val="333333"/>
                </a:solidFill>
                <a:latin typeface="Calibri Light"/>
              </a:defRPr>
            </a:pPr>
            <a:r>
              <a:t>Families of related objects without specifying concrete classes</a:t>
            </a:r>
          </a:p>
        </p:txBody>
      </p:sp>
      <p:sp>
        <p:nvSpPr>
          <p:cNvPr id="10" name="Rectangle 9"/>
          <p:cNvSpPr/>
          <p:nvPr/>
        </p:nvSpPr>
        <p:spPr>
          <a:xfrm>
            <a:off x="731520" y="3401568"/>
            <a:ext cx="73152" cy="502920"/>
          </a:xfrm>
          <a:prstGeom prst="rect">
            <a:avLst/>
          </a:prstGeom>
          <a:solidFill>
            <a:srgbClr val="BD27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005840" y="3401568"/>
            <a:ext cx="2926080" cy="274320"/>
          </a:xfrm>
          <a:prstGeom prst="rect">
            <a:avLst/>
          </a:prstGeom>
          <a:noFill/>
        </p:spPr>
        <p:txBody>
          <a:bodyPr wrap="square"/>
          <a:lstStyle/>
          <a:p>
            <a:pPr algn="l">
              <a:spcBef>
                <a:spcPts val="0"/>
              </a:spcBef>
              <a:spcAft>
                <a:spcPts val="0"/>
              </a:spcAft>
              <a:defRPr sz="1500" b="1" i="0">
                <a:solidFill>
                  <a:srgbClr val="BD2716"/>
                </a:solidFill>
                <a:latin typeface="Calibri"/>
              </a:defRPr>
            </a:pPr>
            <a:r>
              <a:t>Builder</a:t>
            </a:r>
          </a:p>
        </p:txBody>
      </p:sp>
      <p:sp>
        <p:nvSpPr>
          <p:cNvPr id="12" name="TextBox 11"/>
          <p:cNvSpPr txBox="1"/>
          <p:nvPr/>
        </p:nvSpPr>
        <p:spPr>
          <a:xfrm>
            <a:off x="4114800" y="3401568"/>
            <a:ext cx="7315200" cy="502920"/>
          </a:xfrm>
          <a:prstGeom prst="rect">
            <a:avLst/>
          </a:prstGeom>
          <a:noFill/>
        </p:spPr>
        <p:txBody>
          <a:bodyPr wrap="square"/>
          <a:lstStyle/>
          <a:p>
            <a:pPr algn="l">
              <a:spcBef>
                <a:spcPts val="0"/>
              </a:spcBef>
              <a:spcAft>
                <a:spcPts val="0"/>
              </a:spcAft>
              <a:defRPr sz="1300" b="0" i="0">
                <a:solidFill>
                  <a:srgbClr val="333333"/>
                </a:solidFill>
                <a:latin typeface="Calibri Light"/>
              </a:defRPr>
            </a:pPr>
            <a:r>
              <a:t>Complex objects step by step, separating construction from representation</a:t>
            </a:r>
          </a:p>
        </p:txBody>
      </p:sp>
      <p:sp>
        <p:nvSpPr>
          <p:cNvPr id="13" name="Rectangle 12"/>
          <p:cNvSpPr/>
          <p:nvPr/>
        </p:nvSpPr>
        <p:spPr>
          <a:xfrm>
            <a:off x="731520" y="4059935"/>
            <a:ext cx="73152" cy="502920"/>
          </a:xfrm>
          <a:prstGeom prst="rect">
            <a:avLst/>
          </a:prstGeom>
          <a:solidFill>
            <a:srgbClr val="BD27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005840" y="4059935"/>
            <a:ext cx="2926080" cy="274320"/>
          </a:xfrm>
          <a:prstGeom prst="rect">
            <a:avLst/>
          </a:prstGeom>
          <a:noFill/>
        </p:spPr>
        <p:txBody>
          <a:bodyPr wrap="square"/>
          <a:lstStyle/>
          <a:p>
            <a:pPr algn="l">
              <a:spcBef>
                <a:spcPts val="0"/>
              </a:spcBef>
              <a:spcAft>
                <a:spcPts val="0"/>
              </a:spcAft>
              <a:defRPr sz="1500" b="1" i="0">
                <a:solidFill>
                  <a:srgbClr val="BD2716"/>
                </a:solidFill>
                <a:latin typeface="Calibri"/>
              </a:defRPr>
            </a:pPr>
            <a:r>
              <a:t>Factory Method</a:t>
            </a:r>
          </a:p>
        </p:txBody>
      </p:sp>
      <p:sp>
        <p:nvSpPr>
          <p:cNvPr id="15" name="TextBox 14"/>
          <p:cNvSpPr txBox="1"/>
          <p:nvPr/>
        </p:nvSpPr>
        <p:spPr>
          <a:xfrm>
            <a:off x="4114800" y="4059935"/>
            <a:ext cx="7315200" cy="502920"/>
          </a:xfrm>
          <a:prstGeom prst="rect">
            <a:avLst/>
          </a:prstGeom>
          <a:noFill/>
        </p:spPr>
        <p:txBody>
          <a:bodyPr wrap="square"/>
          <a:lstStyle/>
          <a:p>
            <a:pPr algn="l">
              <a:spcBef>
                <a:spcPts val="0"/>
              </a:spcBef>
              <a:spcAft>
                <a:spcPts val="0"/>
              </a:spcAft>
              <a:defRPr sz="1300" b="0" i="0">
                <a:solidFill>
                  <a:srgbClr val="333333"/>
                </a:solidFill>
                <a:latin typeface="Calibri Light"/>
              </a:defRPr>
            </a:pPr>
            <a:r>
              <a:t>Let subclasses decide which class to instantiate</a:t>
            </a:r>
          </a:p>
        </p:txBody>
      </p:sp>
      <p:sp>
        <p:nvSpPr>
          <p:cNvPr id="16" name="Rectangle 15"/>
          <p:cNvSpPr/>
          <p:nvPr/>
        </p:nvSpPr>
        <p:spPr>
          <a:xfrm>
            <a:off x="731520" y="4718304"/>
            <a:ext cx="73152" cy="502920"/>
          </a:xfrm>
          <a:prstGeom prst="rect">
            <a:avLst/>
          </a:prstGeom>
          <a:solidFill>
            <a:srgbClr val="BD27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1005840" y="4718304"/>
            <a:ext cx="2926080" cy="274320"/>
          </a:xfrm>
          <a:prstGeom prst="rect">
            <a:avLst/>
          </a:prstGeom>
          <a:noFill/>
        </p:spPr>
        <p:txBody>
          <a:bodyPr wrap="square"/>
          <a:lstStyle/>
          <a:p>
            <a:pPr algn="l">
              <a:spcBef>
                <a:spcPts val="0"/>
              </a:spcBef>
              <a:spcAft>
                <a:spcPts val="0"/>
              </a:spcAft>
              <a:defRPr sz="1500" b="1" i="0">
                <a:solidFill>
                  <a:srgbClr val="BD2716"/>
                </a:solidFill>
                <a:latin typeface="Calibri"/>
              </a:defRPr>
            </a:pPr>
            <a:r>
              <a:t>Prototype</a:t>
            </a:r>
          </a:p>
        </p:txBody>
      </p:sp>
      <p:sp>
        <p:nvSpPr>
          <p:cNvPr id="18" name="TextBox 17"/>
          <p:cNvSpPr txBox="1"/>
          <p:nvPr/>
        </p:nvSpPr>
        <p:spPr>
          <a:xfrm>
            <a:off x="4114800" y="4718304"/>
            <a:ext cx="7315200" cy="502920"/>
          </a:xfrm>
          <a:prstGeom prst="rect">
            <a:avLst/>
          </a:prstGeom>
          <a:noFill/>
        </p:spPr>
        <p:txBody>
          <a:bodyPr wrap="square"/>
          <a:lstStyle/>
          <a:p>
            <a:pPr algn="l">
              <a:spcBef>
                <a:spcPts val="0"/>
              </a:spcBef>
              <a:spcAft>
                <a:spcPts val="0"/>
              </a:spcAft>
              <a:defRPr sz="1300" b="0" i="0">
                <a:solidFill>
                  <a:srgbClr val="333333"/>
                </a:solidFill>
                <a:latin typeface="Calibri Light"/>
              </a:defRPr>
            </a:pPr>
            <a:r>
              <a:t>Create objects by cloning an existing instance</a:t>
            </a:r>
          </a:p>
        </p:txBody>
      </p:sp>
      <p:sp>
        <p:nvSpPr>
          <p:cNvPr id="19" name="Rectangle 18"/>
          <p:cNvSpPr/>
          <p:nvPr/>
        </p:nvSpPr>
        <p:spPr>
          <a:xfrm>
            <a:off x="731520" y="5376672"/>
            <a:ext cx="73152" cy="502920"/>
          </a:xfrm>
          <a:prstGeom prst="rect">
            <a:avLst/>
          </a:prstGeom>
          <a:solidFill>
            <a:srgbClr val="BD27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005840" y="5376672"/>
            <a:ext cx="2926080" cy="274320"/>
          </a:xfrm>
          <a:prstGeom prst="rect">
            <a:avLst/>
          </a:prstGeom>
          <a:noFill/>
        </p:spPr>
        <p:txBody>
          <a:bodyPr wrap="square"/>
          <a:lstStyle/>
          <a:p>
            <a:pPr algn="l">
              <a:spcBef>
                <a:spcPts val="0"/>
              </a:spcBef>
              <a:spcAft>
                <a:spcPts val="0"/>
              </a:spcAft>
              <a:defRPr sz="1500" b="1" i="0">
                <a:solidFill>
                  <a:srgbClr val="BD2716"/>
                </a:solidFill>
                <a:latin typeface="Calibri"/>
              </a:defRPr>
            </a:pPr>
            <a:r>
              <a:t>Singleton</a:t>
            </a:r>
          </a:p>
        </p:txBody>
      </p:sp>
      <p:sp>
        <p:nvSpPr>
          <p:cNvPr id="21" name="TextBox 20"/>
          <p:cNvSpPr txBox="1"/>
          <p:nvPr/>
        </p:nvSpPr>
        <p:spPr>
          <a:xfrm>
            <a:off x="4114800" y="5376672"/>
            <a:ext cx="7315200" cy="502920"/>
          </a:xfrm>
          <a:prstGeom prst="rect">
            <a:avLst/>
          </a:prstGeom>
          <a:noFill/>
        </p:spPr>
        <p:txBody>
          <a:bodyPr wrap="square"/>
          <a:lstStyle/>
          <a:p>
            <a:pPr algn="l">
              <a:spcBef>
                <a:spcPts val="0"/>
              </a:spcBef>
              <a:spcAft>
                <a:spcPts val="0"/>
              </a:spcAft>
              <a:defRPr sz="1300" b="0" i="0">
                <a:solidFill>
                  <a:srgbClr val="333333"/>
                </a:solidFill>
                <a:latin typeface="Calibri Light"/>
              </a:defRPr>
            </a:pPr>
            <a:r>
              <a:t>Ensure a class has only one instance with a global access point</a:t>
            </a:r>
          </a:p>
        </p:txBody>
      </p:sp>
      <p:sp>
        <p:nvSpPr>
          <p:cNvPr id="22" name="Rectangle 21"/>
          <p:cNvSpPr/>
          <p:nvPr/>
        </p:nvSpPr>
        <p:spPr>
          <a:xfrm>
            <a:off x="0" y="6492240"/>
            <a:ext cx="12192000" cy="365760"/>
          </a:xfrm>
          <a:prstGeom prst="rect">
            <a:avLst/>
          </a:prstGeom>
          <a:solidFill>
            <a:srgbClr val="BD27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57200" y="6528816"/>
            <a:ext cx="3657600" cy="274320"/>
          </a:xfrm>
          <a:prstGeom prst="rect">
            <a:avLst/>
          </a:prstGeom>
          <a:noFill/>
        </p:spPr>
        <p:txBody>
          <a:bodyPr wrap="square"/>
          <a:lstStyle/>
          <a:p>
            <a:pPr algn="l">
              <a:spcBef>
                <a:spcPts val="0"/>
              </a:spcBef>
              <a:spcAft>
                <a:spcPts val="0"/>
              </a:spcAft>
              <a:defRPr sz="900" b="0" i="0">
                <a:solidFill>
                  <a:srgbClr val="FFFFFF"/>
                </a:solidFill>
                <a:latin typeface="Calibri Light"/>
              </a:defRPr>
            </a:pPr>
            <a:r>
              <a:t>www.overnet.education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1E1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2000" cy="73152"/>
          </a:xfrm>
          <a:prstGeom prst="rect">
            <a:avLst/>
          </a:prstGeom>
          <a:solidFill>
            <a:srgbClr val="BD27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1371600"/>
            <a:ext cx="10058400" cy="457200"/>
          </a:xfrm>
          <a:prstGeom prst="rect">
            <a:avLst/>
          </a:prstGeom>
          <a:noFill/>
        </p:spPr>
        <p:txBody>
          <a:bodyPr wrap="square"/>
          <a:lstStyle/>
          <a:p>
            <a:pPr algn="l">
              <a:spcBef>
                <a:spcPts val="0"/>
              </a:spcBef>
              <a:spcAft>
                <a:spcPts val="0"/>
              </a:spcAft>
              <a:defRPr sz="1600" b="0" i="0">
                <a:solidFill>
                  <a:srgbClr val="AAAABB"/>
                </a:solidFill>
                <a:latin typeface="Calibri Light"/>
              </a:defRPr>
            </a:pPr>
            <a:r>
              <a:t>Creational Pattern</a:t>
            </a:r>
          </a:p>
        </p:txBody>
      </p:sp>
      <p:sp>
        <p:nvSpPr>
          <p:cNvPr id="5" name="TextBox 4"/>
          <p:cNvSpPr txBox="1"/>
          <p:nvPr/>
        </p:nvSpPr>
        <p:spPr>
          <a:xfrm>
            <a:off x="548640" y="2011680"/>
            <a:ext cx="10058400" cy="914400"/>
          </a:xfrm>
          <a:prstGeom prst="rect">
            <a:avLst/>
          </a:prstGeom>
          <a:noFill/>
        </p:spPr>
        <p:txBody>
          <a:bodyPr wrap="square"/>
          <a:lstStyle/>
          <a:p>
            <a:pPr algn="l">
              <a:spcBef>
                <a:spcPts val="0"/>
              </a:spcBef>
              <a:spcAft>
                <a:spcPts val="0"/>
              </a:spcAft>
              <a:defRPr sz="4400" b="1" i="0">
                <a:solidFill>
                  <a:srgbClr val="FFFFFF"/>
                </a:solidFill>
                <a:latin typeface="Calibri"/>
              </a:defRPr>
            </a:pPr>
            <a:r>
              <a:t>Abstract Factory</a:t>
            </a:r>
          </a:p>
        </p:txBody>
      </p:sp>
      <p:sp>
        <p:nvSpPr>
          <p:cNvPr id="6" name="Rectangle 5"/>
          <p:cNvSpPr/>
          <p:nvPr/>
        </p:nvSpPr>
        <p:spPr>
          <a:xfrm>
            <a:off x="548640" y="3017520"/>
            <a:ext cx="2286000" cy="54864"/>
          </a:xfrm>
          <a:prstGeom prst="rect">
            <a:avLst/>
          </a:prstGeom>
          <a:solidFill>
            <a:srgbClr val="BD27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48640" y="3291840"/>
            <a:ext cx="10058400" cy="457200"/>
          </a:xfrm>
          <a:prstGeom prst="rect">
            <a:avLst/>
          </a:prstGeom>
          <a:noFill/>
        </p:spPr>
        <p:txBody>
          <a:bodyPr wrap="square"/>
          <a:lstStyle/>
          <a:p>
            <a:pPr algn="l">
              <a:spcBef>
                <a:spcPts val="0"/>
              </a:spcBef>
              <a:spcAft>
                <a:spcPts val="0"/>
              </a:spcAft>
              <a:defRPr sz="1800" b="0" i="0">
                <a:solidFill>
                  <a:srgbClr val="BD2716"/>
                </a:solidFill>
                <a:latin typeface="Calibri Light"/>
              </a:defRPr>
            </a:pPr>
            <a:r>
              <a:t>Families of related objects</a:t>
            </a:r>
          </a:p>
        </p:txBody>
      </p:sp>
      <p:sp>
        <p:nvSpPr>
          <p:cNvPr id="8" name="Rectangle 7"/>
          <p:cNvSpPr/>
          <p:nvPr/>
        </p:nvSpPr>
        <p:spPr>
          <a:xfrm>
            <a:off x="548640" y="4114800"/>
            <a:ext cx="10515600" cy="1097280"/>
          </a:xfrm>
          <a:prstGeom prst="rect">
            <a:avLst/>
          </a:prstGeom>
          <a:solidFill>
            <a:srgbClr val="282C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548640" y="4114800"/>
            <a:ext cx="73152" cy="1097280"/>
          </a:xfrm>
          <a:prstGeom prst="rect">
            <a:avLst/>
          </a:prstGeom>
          <a:solidFill>
            <a:srgbClr val="BD27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68680" y="4206240"/>
            <a:ext cx="9966960" cy="914400"/>
          </a:xfrm>
          <a:prstGeom prst="rect">
            <a:avLst/>
          </a:prstGeom>
          <a:noFill/>
        </p:spPr>
        <p:txBody>
          <a:bodyPr wrap="square">
            <a:spAutoFit/>
          </a:bodyPr>
          <a:lstStyle/>
          <a:p>
            <a:pPr algn="l"/>
            <a:r>
              <a:rPr sz="1400" b="1" i="0">
                <a:solidFill>
                  <a:srgbClr val="BD2716"/>
                </a:solidFill>
                <a:latin typeface="Calibri"/>
              </a:rPr>
              <a:t>Intent: </a:t>
            </a:r>
            <a:r>
              <a:rPr sz="1400" b="0" i="0">
                <a:solidFill>
                  <a:srgbClr val="DDDDEE"/>
                </a:solidFill>
                <a:latin typeface="Calibri Light"/>
              </a:rPr>
              <a:t>Provide an interface for creating families of related or dependent objects without specifying their concrete classes.</a:t>
            </a:r>
          </a:p>
        </p:txBody>
      </p:sp>
      <p:sp>
        <p:nvSpPr>
          <p:cNvPr id="11" name="Rectangle 10"/>
          <p:cNvSpPr/>
          <p:nvPr/>
        </p:nvSpPr>
        <p:spPr>
          <a:xfrm>
            <a:off x="0" y="6492240"/>
            <a:ext cx="12192000" cy="365760"/>
          </a:xfrm>
          <a:prstGeom prst="rect">
            <a:avLst/>
          </a:prstGeom>
          <a:solidFill>
            <a:srgbClr val="BD27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57200" y="6528816"/>
            <a:ext cx="3657600" cy="274320"/>
          </a:xfrm>
          <a:prstGeom prst="rect">
            <a:avLst/>
          </a:prstGeom>
          <a:noFill/>
        </p:spPr>
        <p:txBody>
          <a:bodyPr wrap="square"/>
          <a:lstStyle/>
          <a:p>
            <a:pPr algn="l">
              <a:spcBef>
                <a:spcPts val="0"/>
              </a:spcBef>
              <a:spcAft>
                <a:spcPts val="0"/>
              </a:spcAft>
              <a:defRPr sz="900" b="0" i="0">
                <a:solidFill>
                  <a:srgbClr val="FFFFFF"/>
                </a:solidFill>
                <a:latin typeface="Calibri Light"/>
              </a:defRPr>
            </a:pPr>
            <a:r>
              <a:t>www.overnet.education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54864"/>
          </a:xfrm>
          <a:prstGeom prst="rect">
            <a:avLst/>
          </a:prstGeom>
          <a:solidFill>
            <a:srgbClr val="BD27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182880"/>
            <a:ext cx="457200" cy="320040"/>
          </a:xfrm>
          <a:prstGeom prst="rect">
            <a:avLst/>
          </a:prstGeom>
          <a:noFill/>
        </p:spPr>
        <p:txBody>
          <a:bodyPr wrap="square"/>
          <a:lstStyle/>
          <a:p>
            <a:pPr algn="l">
              <a:spcBef>
                <a:spcPts val="0"/>
              </a:spcBef>
              <a:spcAft>
                <a:spcPts val="0"/>
              </a:spcAft>
              <a:defRPr sz="1300" b="1" i="0">
                <a:solidFill>
                  <a:srgbClr val="BD2716"/>
                </a:solidFill>
                <a:latin typeface="Calibri"/>
              </a:defRPr>
            </a:pPr>
            <a:r>
              <a:t>2.1</a:t>
            </a:r>
          </a:p>
        </p:txBody>
      </p:sp>
      <p:sp>
        <p:nvSpPr>
          <p:cNvPr id="4" name="TextBox 3"/>
          <p:cNvSpPr txBox="1"/>
          <p:nvPr/>
        </p:nvSpPr>
        <p:spPr>
          <a:xfrm>
            <a:off x="822960" y="182880"/>
            <a:ext cx="7315200" cy="320040"/>
          </a:xfrm>
          <a:prstGeom prst="rect">
            <a:avLst/>
          </a:prstGeom>
          <a:noFill/>
        </p:spPr>
        <p:txBody>
          <a:bodyPr wrap="square"/>
          <a:lstStyle/>
          <a:p>
            <a:pPr algn="l">
              <a:spcBef>
                <a:spcPts val="0"/>
              </a:spcBef>
              <a:spcAft>
                <a:spcPts val="0"/>
              </a:spcAft>
              <a:defRPr sz="1100" b="0" i="0">
                <a:solidFill>
                  <a:srgbClr val="666666"/>
                </a:solidFill>
                <a:latin typeface="Calibri Light"/>
              </a:defRPr>
            </a:pPr>
            <a:r>
              <a:t>Abstract Factory</a:t>
            </a:r>
          </a:p>
        </p:txBody>
      </p:sp>
      <p:sp>
        <p:nvSpPr>
          <p:cNvPr id="5" name="TextBox 4"/>
          <p:cNvSpPr txBox="1"/>
          <p:nvPr/>
        </p:nvSpPr>
        <p:spPr>
          <a:xfrm>
            <a:off x="548640" y="731520"/>
            <a:ext cx="10515600" cy="731520"/>
          </a:xfrm>
          <a:prstGeom prst="rect">
            <a:avLst/>
          </a:prstGeom>
          <a:noFill/>
        </p:spPr>
        <p:txBody>
          <a:bodyPr wrap="square"/>
          <a:lstStyle/>
          <a:p>
            <a:pPr algn="l">
              <a:spcBef>
                <a:spcPts val="0"/>
              </a:spcBef>
              <a:spcAft>
                <a:spcPts val="0"/>
              </a:spcAft>
              <a:defRPr sz="3200" b="1" i="0">
                <a:solidFill>
                  <a:srgbClr val="333333"/>
                </a:solidFill>
                <a:latin typeface="Calibri"/>
              </a:defRPr>
            </a:pPr>
            <a:r>
              <a:t>Abstract Factory: Structure &amp; Consequences</a:t>
            </a:r>
          </a:p>
        </p:txBody>
      </p:sp>
      <p:sp>
        <p:nvSpPr>
          <p:cNvPr id="6" name="Rectangle 5"/>
          <p:cNvSpPr/>
          <p:nvPr/>
        </p:nvSpPr>
        <p:spPr>
          <a:xfrm>
            <a:off x="457200" y="1645920"/>
            <a:ext cx="11247120" cy="109728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457200" y="1645920"/>
            <a:ext cx="73152" cy="1097280"/>
          </a:xfrm>
          <a:prstGeom prst="rect">
            <a:avLst/>
          </a:prstGeom>
          <a:solidFill>
            <a:srgbClr val="BD27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31520" y="1691640"/>
            <a:ext cx="1828800" cy="274320"/>
          </a:xfrm>
          <a:prstGeom prst="rect">
            <a:avLst/>
          </a:prstGeom>
          <a:noFill/>
        </p:spPr>
        <p:txBody>
          <a:bodyPr wrap="square"/>
          <a:lstStyle/>
          <a:p>
            <a:pPr algn="l">
              <a:spcBef>
                <a:spcPts val="0"/>
              </a:spcBef>
              <a:spcAft>
                <a:spcPts val="0"/>
              </a:spcAft>
              <a:defRPr sz="1300" b="1" i="0">
                <a:solidFill>
                  <a:srgbClr val="BD2716"/>
                </a:solidFill>
                <a:latin typeface="Calibri"/>
              </a:defRPr>
            </a:pPr>
            <a:r>
              <a:t>Motivation</a:t>
            </a:r>
          </a:p>
        </p:txBody>
      </p:sp>
      <p:sp>
        <p:nvSpPr>
          <p:cNvPr id="9" name="TextBox 8"/>
          <p:cNvSpPr txBox="1"/>
          <p:nvPr/>
        </p:nvSpPr>
        <p:spPr>
          <a:xfrm>
            <a:off x="731520" y="1965960"/>
            <a:ext cx="10698480" cy="685800"/>
          </a:xfrm>
          <a:prstGeom prst="rect">
            <a:avLst/>
          </a:prstGeom>
          <a:noFill/>
        </p:spPr>
        <p:txBody>
          <a:bodyPr wrap="square"/>
          <a:lstStyle/>
          <a:p>
            <a:pPr algn="l">
              <a:spcBef>
                <a:spcPts val="0"/>
              </a:spcBef>
              <a:spcAft>
                <a:spcPts val="0"/>
              </a:spcAft>
              <a:defRPr sz="1200" b="0" i="0">
                <a:solidFill>
                  <a:srgbClr val="333333"/>
                </a:solidFill>
                <a:latin typeface="Calibri Light"/>
              </a:defRPr>
            </a:pPr>
            <a:r>
              <a:t>A trading platform needs to create UI components that are consistent across themes (light/dark) or across deployment environments (web/desktop). Each environment requires a matching set of components: buttons, tables, charts. Mixing a web button with a desktop chart would be a bug. Abstract Factory guarantees that a complete, consistent family of objects is created together.</a:t>
            </a:r>
          </a:p>
        </p:txBody>
      </p:sp>
      <p:sp>
        <p:nvSpPr>
          <p:cNvPr id="10" name="TextBox 9"/>
          <p:cNvSpPr txBox="1"/>
          <p:nvPr/>
        </p:nvSpPr>
        <p:spPr>
          <a:xfrm>
            <a:off x="457200" y="2926080"/>
            <a:ext cx="2743200" cy="274320"/>
          </a:xfrm>
          <a:prstGeom prst="rect">
            <a:avLst/>
          </a:prstGeom>
          <a:noFill/>
        </p:spPr>
        <p:txBody>
          <a:bodyPr wrap="square"/>
          <a:lstStyle/>
          <a:p>
            <a:pPr algn="l">
              <a:spcBef>
                <a:spcPts val="0"/>
              </a:spcBef>
              <a:spcAft>
                <a:spcPts val="0"/>
              </a:spcAft>
              <a:defRPr sz="1400" b="1" i="0">
                <a:solidFill>
                  <a:srgbClr val="1565C0"/>
                </a:solidFill>
                <a:latin typeface="Calibri"/>
              </a:defRPr>
            </a:pPr>
            <a:r>
              <a:t>Participants</a:t>
            </a:r>
          </a:p>
        </p:txBody>
      </p:sp>
      <p:sp>
        <p:nvSpPr>
          <p:cNvPr id="11" name="TextBox 10"/>
          <p:cNvSpPr txBox="1"/>
          <p:nvPr/>
        </p:nvSpPr>
        <p:spPr>
          <a:xfrm>
            <a:off x="640080" y="3246120"/>
            <a:ext cx="10972800" cy="1371600"/>
          </a:xfrm>
          <a:prstGeom prst="rect">
            <a:avLst/>
          </a:prstGeom>
          <a:noFill/>
        </p:spPr>
        <p:txBody>
          <a:bodyPr wrap="square">
            <a:spAutoFit/>
          </a:bodyPr>
          <a:lstStyle/>
          <a:p>
            <a:pPr>
              <a:spcAft>
                <a:spcPts val="400"/>
              </a:spcAft>
              <a:defRPr sz="1200">
                <a:solidFill>
                  <a:srgbClr val="333333"/>
                </a:solidFill>
                <a:latin typeface="Calibri Light"/>
              </a:defRPr>
            </a:pPr>
            <a:r>
              <a:t>AbstractFactory – declares creation methods for each product in the family</a:t>
            </a:r>
          </a:p>
          <a:p>
            <a:pPr>
              <a:spcAft>
                <a:spcPts val="400"/>
              </a:spcAft>
              <a:defRPr sz="1200">
                <a:solidFill>
                  <a:srgbClr val="333333"/>
                </a:solidFill>
                <a:latin typeface="Calibri Light"/>
              </a:defRPr>
            </a:pPr>
            <a:r>
              <a:t>ConcreteFactory – implements creation methods for a specific variant (e.g., DarkThemeFactory)</a:t>
            </a:r>
          </a:p>
          <a:p>
            <a:pPr>
              <a:spcAft>
                <a:spcPts val="400"/>
              </a:spcAft>
              <a:defRPr sz="1200">
                <a:solidFill>
                  <a:srgbClr val="333333"/>
                </a:solidFill>
                <a:latin typeface="Calibri Light"/>
              </a:defRPr>
            </a:pPr>
            <a:r>
              <a:t>AbstractProduct – interface for a type of product (e.g., Button, Table)</a:t>
            </a:r>
          </a:p>
          <a:p>
            <a:pPr>
              <a:spcAft>
                <a:spcPts val="400"/>
              </a:spcAft>
              <a:defRPr sz="1200">
                <a:solidFill>
                  <a:srgbClr val="333333"/>
                </a:solidFill>
                <a:latin typeface="Calibri Light"/>
              </a:defRPr>
            </a:pPr>
            <a:r>
              <a:t>ConcreteProduct – variant-specific implementation (e.g., DarkButton, DarkTable)</a:t>
            </a:r>
          </a:p>
          <a:p>
            <a:pPr>
              <a:spcAft>
                <a:spcPts val="400"/>
              </a:spcAft>
              <a:defRPr sz="1200">
                <a:solidFill>
                  <a:srgbClr val="333333"/>
                </a:solidFill>
                <a:latin typeface="Calibri Light"/>
              </a:defRPr>
            </a:pPr>
            <a:r>
              <a:t>Client – uses only the abstract interfaces; never knows the concrete classes</a:t>
            </a:r>
          </a:p>
        </p:txBody>
      </p:sp>
      <p:sp>
        <p:nvSpPr>
          <p:cNvPr id="12" name="Rectangle 11"/>
          <p:cNvSpPr/>
          <p:nvPr/>
        </p:nvSpPr>
        <p:spPr>
          <a:xfrm>
            <a:off x="457200" y="4754880"/>
            <a:ext cx="5394960" cy="1280160"/>
          </a:xfrm>
          <a:prstGeom prst="rect">
            <a:avLst/>
          </a:prstGeom>
          <a:solidFill>
            <a:srgbClr val="F0FF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40080" y="4800600"/>
            <a:ext cx="5029200" cy="274320"/>
          </a:xfrm>
          <a:prstGeom prst="rect">
            <a:avLst/>
          </a:prstGeom>
          <a:noFill/>
        </p:spPr>
        <p:txBody>
          <a:bodyPr wrap="square"/>
          <a:lstStyle/>
          <a:p>
            <a:pPr algn="l">
              <a:spcBef>
                <a:spcPts val="0"/>
              </a:spcBef>
              <a:spcAft>
                <a:spcPts val="0"/>
              </a:spcAft>
              <a:defRPr sz="1300" b="1" i="0">
                <a:solidFill>
                  <a:srgbClr val="2E7D32"/>
                </a:solidFill>
                <a:latin typeface="Calibri"/>
              </a:defRPr>
            </a:pPr>
            <a:r>
              <a:t>✓  Advantages</a:t>
            </a:r>
          </a:p>
        </p:txBody>
      </p:sp>
      <p:sp>
        <p:nvSpPr>
          <p:cNvPr id="14" name="TextBox 13"/>
          <p:cNvSpPr txBox="1"/>
          <p:nvPr/>
        </p:nvSpPr>
        <p:spPr>
          <a:xfrm>
            <a:off x="640080" y="5120640"/>
            <a:ext cx="5029200" cy="822960"/>
          </a:xfrm>
          <a:prstGeom prst="rect">
            <a:avLst/>
          </a:prstGeom>
          <a:noFill/>
        </p:spPr>
        <p:txBody>
          <a:bodyPr wrap="square">
            <a:spAutoFit/>
          </a:bodyPr>
          <a:lstStyle/>
          <a:p>
            <a:pPr>
              <a:spcAft>
                <a:spcPts val="400"/>
              </a:spcAft>
              <a:defRPr sz="1100">
                <a:solidFill>
                  <a:srgbClr val="333333"/>
                </a:solidFill>
                <a:latin typeface="Calibri Light"/>
              </a:defRPr>
            </a:pPr>
            <a:r>
              <a:t>Guarantees consistency across product families</a:t>
            </a:r>
          </a:p>
          <a:p>
            <a:pPr>
              <a:spcAft>
                <a:spcPts val="400"/>
              </a:spcAft>
              <a:defRPr sz="1100">
                <a:solidFill>
                  <a:srgbClr val="333333"/>
                </a:solidFill>
                <a:latin typeface="Calibri Light"/>
              </a:defRPr>
            </a:pPr>
            <a:r>
              <a:t>Isolates concrete classes from client code</a:t>
            </a:r>
          </a:p>
          <a:p>
            <a:pPr>
              <a:spcAft>
                <a:spcPts val="400"/>
              </a:spcAft>
              <a:defRPr sz="1100">
                <a:solidFill>
                  <a:srgbClr val="333333"/>
                </a:solidFill>
                <a:latin typeface="Calibri Light"/>
              </a:defRPr>
            </a:pPr>
            <a:r>
              <a:t>Easy to swap entire families (e.g., switch theme or environment)</a:t>
            </a:r>
          </a:p>
        </p:txBody>
      </p:sp>
      <p:sp>
        <p:nvSpPr>
          <p:cNvPr id="15" name="Rectangle 14"/>
          <p:cNvSpPr/>
          <p:nvPr/>
        </p:nvSpPr>
        <p:spPr>
          <a:xfrm>
            <a:off x="6126480" y="4754880"/>
            <a:ext cx="5577840" cy="1280160"/>
          </a:xfrm>
          <a:prstGeom prst="rect">
            <a:avLst/>
          </a:prstGeom>
          <a:solidFill>
            <a:srgbClr val="FFF3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309360" y="4800600"/>
            <a:ext cx="5212080" cy="274320"/>
          </a:xfrm>
          <a:prstGeom prst="rect">
            <a:avLst/>
          </a:prstGeom>
          <a:noFill/>
        </p:spPr>
        <p:txBody>
          <a:bodyPr wrap="square"/>
          <a:lstStyle/>
          <a:p>
            <a:pPr algn="l">
              <a:spcBef>
                <a:spcPts val="0"/>
              </a:spcBef>
              <a:spcAft>
                <a:spcPts val="0"/>
              </a:spcAft>
              <a:defRPr sz="1300" b="1" i="0">
                <a:solidFill>
                  <a:srgbClr val="BD2716"/>
                </a:solidFill>
                <a:latin typeface="Calibri"/>
              </a:defRPr>
            </a:pPr>
            <a:r>
              <a:t>✗  Drawbacks</a:t>
            </a:r>
          </a:p>
        </p:txBody>
      </p:sp>
      <p:sp>
        <p:nvSpPr>
          <p:cNvPr id="17" name="TextBox 16"/>
          <p:cNvSpPr txBox="1"/>
          <p:nvPr/>
        </p:nvSpPr>
        <p:spPr>
          <a:xfrm>
            <a:off x="6309360" y="5120640"/>
            <a:ext cx="5212080" cy="822960"/>
          </a:xfrm>
          <a:prstGeom prst="rect">
            <a:avLst/>
          </a:prstGeom>
          <a:noFill/>
        </p:spPr>
        <p:txBody>
          <a:bodyPr wrap="square">
            <a:spAutoFit/>
          </a:bodyPr>
          <a:lstStyle/>
          <a:p>
            <a:pPr>
              <a:spcAft>
                <a:spcPts val="400"/>
              </a:spcAft>
              <a:defRPr sz="1100">
                <a:solidFill>
                  <a:srgbClr val="333333"/>
                </a:solidFill>
                <a:latin typeface="Calibri Light"/>
              </a:defRPr>
            </a:pPr>
            <a:r>
              <a:t>Adding a new product type requires changing all factories</a:t>
            </a:r>
          </a:p>
          <a:p>
            <a:pPr>
              <a:spcAft>
                <a:spcPts val="400"/>
              </a:spcAft>
              <a:defRPr sz="1100">
                <a:solidFill>
                  <a:srgbClr val="333333"/>
                </a:solidFill>
                <a:latin typeface="Calibri Light"/>
              </a:defRPr>
            </a:pPr>
            <a:r>
              <a:t>Can lead to a large number of small classes</a:t>
            </a:r>
          </a:p>
          <a:p>
            <a:pPr>
              <a:spcAft>
                <a:spcPts val="400"/>
              </a:spcAft>
              <a:defRPr sz="1100">
                <a:solidFill>
                  <a:srgbClr val="333333"/>
                </a:solidFill>
                <a:latin typeface="Calibri Light"/>
              </a:defRPr>
            </a:pPr>
            <a:r>
              <a:t>Overkill if you only have one product family</a:t>
            </a:r>
          </a:p>
        </p:txBody>
      </p:sp>
      <p:sp>
        <p:nvSpPr>
          <p:cNvPr id="18" name="Rectangle 17"/>
          <p:cNvSpPr/>
          <p:nvPr/>
        </p:nvSpPr>
        <p:spPr>
          <a:xfrm>
            <a:off x="0" y="6492240"/>
            <a:ext cx="12192000" cy="365760"/>
          </a:xfrm>
          <a:prstGeom prst="rect">
            <a:avLst/>
          </a:prstGeom>
          <a:solidFill>
            <a:srgbClr val="BD27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57200" y="6528816"/>
            <a:ext cx="3657600" cy="274320"/>
          </a:xfrm>
          <a:prstGeom prst="rect">
            <a:avLst/>
          </a:prstGeom>
          <a:noFill/>
        </p:spPr>
        <p:txBody>
          <a:bodyPr wrap="square"/>
          <a:lstStyle/>
          <a:p>
            <a:pPr algn="l">
              <a:spcBef>
                <a:spcPts val="0"/>
              </a:spcBef>
              <a:spcAft>
                <a:spcPts val="0"/>
              </a:spcAft>
              <a:defRPr sz="900" b="0" i="0">
                <a:solidFill>
                  <a:srgbClr val="FFFFFF"/>
                </a:solidFill>
                <a:latin typeface="Calibri Light"/>
              </a:defRPr>
            </a:pPr>
            <a:r>
              <a:t>www.overnet.education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54864"/>
          </a:xfrm>
          <a:prstGeom prst="rect">
            <a:avLst/>
          </a:prstGeom>
          <a:solidFill>
            <a:srgbClr val="BD27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182880"/>
            <a:ext cx="457200" cy="320040"/>
          </a:xfrm>
          <a:prstGeom prst="rect">
            <a:avLst/>
          </a:prstGeom>
          <a:noFill/>
        </p:spPr>
        <p:txBody>
          <a:bodyPr wrap="square"/>
          <a:lstStyle/>
          <a:p>
            <a:pPr algn="l">
              <a:spcBef>
                <a:spcPts val="0"/>
              </a:spcBef>
              <a:spcAft>
                <a:spcPts val="0"/>
              </a:spcAft>
              <a:defRPr sz="1300" b="1" i="0">
                <a:solidFill>
                  <a:srgbClr val="BD2716"/>
                </a:solidFill>
                <a:latin typeface="Calibri"/>
              </a:defRPr>
            </a:pPr>
            <a:r>
              <a:t>2.1</a:t>
            </a:r>
          </a:p>
        </p:txBody>
      </p:sp>
      <p:sp>
        <p:nvSpPr>
          <p:cNvPr id="4" name="TextBox 3"/>
          <p:cNvSpPr txBox="1"/>
          <p:nvPr/>
        </p:nvSpPr>
        <p:spPr>
          <a:xfrm>
            <a:off x="822960" y="182880"/>
            <a:ext cx="7315200" cy="320040"/>
          </a:xfrm>
          <a:prstGeom prst="rect">
            <a:avLst/>
          </a:prstGeom>
          <a:noFill/>
        </p:spPr>
        <p:txBody>
          <a:bodyPr wrap="square"/>
          <a:lstStyle/>
          <a:p>
            <a:pPr algn="l">
              <a:spcBef>
                <a:spcPts val="0"/>
              </a:spcBef>
              <a:spcAft>
                <a:spcPts val="0"/>
              </a:spcAft>
              <a:defRPr sz="1100" b="0" i="0">
                <a:solidFill>
                  <a:srgbClr val="666666"/>
                </a:solidFill>
                <a:latin typeface="Calibri Light"/>
              </a:defRPr>
            </a:pPr>
            <a:r>
              <a:t>Abstract Factory</a:t>
            </a:r>
          </a:p>
        </p:txBody>
      </p:sp>
      <p:sp>
        <p:nvSpPr>
          <p:cNvPr id="5" name="TextBox 4"/>
          <p:cNvSpPr txBox="1"/>
          <p:nvPr/>
        </p:nvSpPr>
        <p:spPr>
          <a:xfrm>
            <a:off x="548640" y="731520"/>
            <a:ext cx="10515600" cy="731520"/>
          </a:xfrm>
          <a:prstGeom prst="rect">
            <a:avLst/>
          </a:prstGeom>
          <a:noFill/>
        </p:spPr>
        <p:txBody>
          <a:bodyPr wrap="square"/>
          <a:lstStyle/>
          <a:p>
            <a:pPr algn="l">
              <a:spcBef>
                <a:spcPts val="0"/>
              </a:spcBef>
              <a:spcAft>
                <a:spcPts val="0"/>
              </a:spcAft>
              <a:defRPr sz="3000" b="1" i="0">
                <a:solidFill>
                  <a:srgbClr val="333333"/>
                </a:solidFill>
                <a:latin typeface="Calibri"/>
              </a:defRPr>
            </a:pPr>
            <a:r>
              <a:t>Abstract Factory: Java Implementation</a:t>
            </a:r>
          </a:p>
        </p:txBody>
      </p:sp>
      <p:sp>
        <p:nvSpPr>
          <p:cNvPr id="6" name="Rectangle 5"/>
          <p:cNvSpPr/>
          <p:nvPr/>
        </p:nvSpPr>
        <p:spPr>
          <a:xfrm>
            <a:off x="457200" y="1645920"/>
            <a:ext cx="5577840" cy="365760"/>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40080" y="1664208"/>
            <a:ext cx="5029200" cy="329184"/>
          </a:xfrm>
          <a:prstGeom prst="rect">
            <a:avLst/>
          </a:prstGeom>
          <a:noFill/>
        </p:spPr>
        <p:txBody>
          <a:bodyPr wrap="square"/>
          <a:lstStyle/>
          <a:p>
            <a:pPr algn="l">
              <a:spcBef>
                <a:spcPts val="0"/>
              </a:spcBef>
              <a:spcAft>
                <a:spcPts val="0"/>
              </a:spcAft>
              <a:defRPr sz="1200" b="1" i="0">
                <a:solidFill>
                  <a:srgbClr val="FFFFFF"/>
                </a:solidFill>
                <a:latin typeface="Calibri"/>
              </a:defRPr>
            </a:pPr>
            <a:r>
              <a:t>Abstract Products + Factory</a:t>
            </a:r>
          </a:p>
        </p:txBody>
      </p:sp>
      <p:sp>
        <p:nvSpPr>
          <p:cNvPr id="8" name="Rectangle 7"/>
          <p:cNvSpPr/>
          <p:nvPr/>
        </p:nvSpPr>
        <p:spPr>
          <a:xfrm>
            <a:off x="457200" y="2011680"/>
            <a:ext cx="5577840" cy="3840480"/>
          </a:xfrm>
          <a:prstGeom prst="rect">
            <a:avLst/>
          </a:prstGeom>
          <a:solidFill>
            <a:srgbClr val="282C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40080" y="2103120"/>
            <a:ext cx="5212080" cy="3657600"/>
          </a:xfrm>
          <a:prstGeom prst="rect">
            <a:avLst/>
          </a:prstGeom>
          <a:noFill/>
        </p:spPr>
        <p:txBody>
          <a:bodyPr wrap="square"/>
          <a:lstStyle/>
          <a:p>
            <a:pPr algn="l">
              <a:spcBef>
                <a:spcPts val="0"/>
              </a:spcBef>
              <a:spcAft>
                <a:spcPts val="0"/>
              </a:spcAft>
              <a:defRPr sz="900" b="0" i="0">
                <a:solidFill>
                  <a:srgbClr val="ABB2BF"/>
                </a:solidFill>
                <a:latin typeface="Consolas"/>
              </a:defRPr>
            </a:pPr>
            <a:r>
              <a:t>// Abstract products</a:t>
            </a:r>
            <a:br/>
            <a:r>
              <a:t>public interface Button {</a:t>
            </a:r>
            <a:br/>
            <a:r>
              <a:t>    void render();</a:t>
            </a:r>
            <a:br/>
            <a:r>
              <a:t>}</a:t>
            </a:r>
            <a:br/>
            <a:r>
              <a:t>public interface Table {</a:t>
            </a:r>
            <a:br/>
            <a:r>
              <a:t>    void display(List&lt;Row&gt; rows);</a:t>
            </a:r>
            <a:br/>
            <a:r>
              <a:t>}</a:t>
            </a:r>
            <a:br/>
            <a:br/>
            <a:r>
              <a:t>// Abstract factory</a:t>
            </a:r>
            <a:br/>
            <a:r>
              <a:t>public interface UIComponentFactory {</a:t>
            </a:r>
            <a:br/>
            <a:r>
              <a:t>    Button createButton();</a:t>
            </a:r>
            <a:br/>
            <a:r>
              <a:t>    Table createTable();</a:t>
            </a:r>
            <a:br/>
            <a:r>
              <a:t>}</a:t>
            </a:r>
            <a:br/>
            <a:br/>
            <a:r>
              <a:t>// Concrete factory: Dark theme</a:t>
            </a:r>
            <a:br/>
            <a:r>
              <a:t>public class DarkThemeFactory</a:t>
            </a:r>
            <a:br/>
            <a:r>
              <a:t>        implements UIComponentFactory {</a:t>
            </a:r>
            <a:br/>
            <a:r>
              <a:t>    @Override</a:t>
            </a:r>
            <a:br/>
            <a:r>
              <a:t>    public Button createButton() {</a:t>
            </a:r>
            <a:br/>
            <a:r>
              <a:t>        return new DarkButton();</a:t>
            </a:r>
            <a:br/>
            <a:r>
              <a:t>    }</a:t>
            </a:r>
            <a:br/>
            <a:r>
              <a:t>    @Override</a:t>
            </a:r>
            <a:br/>
            <a:r>
              <a:t>    public Table createTable() {</a:t>
            </a:r>
            <a:br/>
            <a:r>
              <a:t>        return new DarkTable();</a:t>
            </a:r>
            <a:br/>
            <a:r>
              <a:t>    }</a:t>
            </a:r>
            <a:br/>
            <a:r>
              <a:t>}</a:t>
            </a:r>
          </a:p>
        </p:txBody>
      </p:sp>
      <p:sp>
        <p:nvSpPr>
          <p:cNvPr id="10" name="Rectangle 9"/>
          <p:cNvSpPr/>
          <p:nvPr/>
        </p:nvSpPr>
        <p:spPr>
          <a:xfrm>
            <a:off x="6309360" y="1645920"/>
            <a:ext cx="5577840" cy="365760"/>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492240" y="1664208"/>
            <a:ext cx="5029200" cy="329184"/>
          </a:xfrm>
          <a:prstGeom prst="rect">
            <a:avLst/>
          </a:prstGeom>
          <a:noFill/>
        </p:spPr>
        <p:txBody>
          <a:bodyPr wrap="square"/>
          <a:lstStyle/>
          <a:p>
            <a:pPr algn="l">
              <a:spcBef>
                <a:spcPts val="0"/>
              </a:spcBef>
              <a:spcAft>
                <a:spcPts val="0"/>
              </a:spcAft>
              <a:defRPr sz="1200" b="1" i="0">
                <a:solidFill>
                  <a:srgbClr val="FFFFFF"/>
                </a:solidFill>
                <a:latin typeface="Calibri"/>
              </a:defRPr>
            </a:pPr>
            <a:r>
              <a:t>Client + Configuration</a:t>
            </a:r>
          </a:p>
        </p:txBody>
      </p:sp>
      <p:sp>
        <p:nvSpPr>
          <p:cNvPr id="12" name="Rectangle 11"/>
          <p:cNvSpPr/>
          <p:nvPr/>
        </p:nvSpPr>
        <p:spPr>
          <a:xfrm>
            <a:off x="6309360" y="2011680"/>
            <a:ext cx="5577840" cy="3840480"/>
          </a:xfrm>
          <a:prstGeom prst="rect">
            <a:avLst/>
          </a:prstGeom>
          <a:solidFill>
            <a:srgbClr val="282C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492240" y="2103120"/>
            <a:ext cx="5212080" cy="3657600"/>
          </a:xfrm>
          <a:prstGeom prst="rect">
            <a:avLst/>
          </a:prstGeom>
          <a:noFill/>
        </p:spPr>
        <p:txBody>
          <a:bodyPr wrap="square"/>
          <a:lstStyle/>
          <a:p>
            <a:pPr algn="l">
              <a:spcBef>
                <a:spcPts val="0"/>
              </a:spcBef>
              <a:spcAft>
                <a:spcPts val="0"/>
              </a:spcAft>
              <a:defRPr sz="900" b="0" i="0">
                <a:solidFill>
                  <a:srgbClr val="ABB2BF"/>
                </a:solidFill>
                <a:latin typeface="Consolas"/>
              </a:defRPr>
            </a:pPr>
            <a:r>
              <a:t>// Client code: completely decoupled</a:t>
            </a:r>
            <a:br/>
            <a:r>
              <a:t>@Service</a:t>
            </a:r>
            <a:br/>
            <a:r>
              <a:t>public class DashboardService {</a:t>
            </a:r>
            <a:br/>
            <a:br/>
            <a:r>
              <a:t>    private final UIComponentFactory factory;</a:t>
            </a:r>
            <a:br/>
            <a:br/>
            <a:r>
              <a:t>    // Spring injects the right factory</a:t>
            </a:r>
            <a:br/>
            <a:r>
              <a:t>    public DashboardService(</a:t>
            </a:r>
            <a:br/>
            <a:r>
              <a:t>            UIComponentFactory factory) {</a:t>
            </a:r>
            <a:br/>
            <a:r>
              <a:t>        this.factory = factory;</a:t>
            </a:r>
            <a:br/>
            <a:r>
              <a:t>    }</a:t>
            </a:r>
            <a:br/>
            <a:br/>
            <a:r>
              <a:t>    public Dashboard build() {</a:t>
            </a:r>
            <a:br/>
            <a:r>
              <a:t>        Button action = factory.createButton();</a:t>
            </a:r>
            <a:br/>
            <a:r>
              <a:t>        Table trades = factory.createTable();</a:t>
            </a:r>
            <a:br/>
            <a:r>
              <a:t>        // All components are from the</a:t>
            </a:r>
            <a:br/>
            <a:r>
              <a:t>        // same family - guaranteed</a:t>
            </a:r>
            <a:br/>
            <a:r>
              <a:t>        return new Dashboard(action, trades);</a:t>
            </a:r>
            <a:br/>
            <a:r>
              <a:t>    }</a:t>
            </a:r>
            <a:br/>
            <a:r>
              <a:t>}</a:t>
            </a:r>
            <a:br/>
            <a:br/>
            <a:r>
              <a:t>// Configuration</a:t>
            </a:r>
            <a:br/>
            <a:r>
              <a:t>@Bean</a:t>
            </a:r>
            <a:br/>
            <a:r>
              <a:t>UIComponentFactory uiFactory() {</a:t>
            </a:r>
            <a:br/>
            <a:r>
              <a:t>    return isDarkMode()</a:t>
            </a:r>
            <a:br/>
            <a:r>
              <a:t>        ? new DarkThemeFactory()</a:t>
            </a:r>
            <a:br/>
            <a:r>
              <a:t>        : new LightThemeFactory();</a:t>
            </a:r>
            <a:br/>
            <a:r>
              <a:t>}</a:t>
            </a:r>
          </a:p>
        </p:txBody>
      </p:sp>
      <p:sp>
        <p:nvSpPr>
          <p:cNvPr id="14" name="Rectangle 13"/>
          <p:cNvSpPr/>
          <p:nvPr/>
        </p:nvSpPr>
        <p:spPr>
          <a:xfrm>
            <a:off x="0" y="6492240"/>
            <a:ext cx="12192000" cy="365760"/>
          </a:xfrm>
          <a:prstGeom prst="rect">
            <a:avLst/>
          </a:prstGeom>
          <a:solidFill>
            <a:srgbClr val="BD27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57200" y="6528816"/>
            <a:ext cx="3657600" cy="274320"/>
          </a:xfrm>
          <a:prstGeom prst="rect">
            <a:avLst/>
          </a:prstGeom>
          <a:noFill/>
        </p:spPr>
        <p:txBody>
          <a:bodyPr wrap="square"/>
          <a:lstStyle/>
          <a:p>
            <a:pPr algn="l">
              <a:spcBef>
                <a:spcPts val="0"/>
              </a:spcBef>
              <a:spcAft>
                <a:spcPts val="0"/>
              </a:spcAft>
              <a:defRPr sz="900" b="0" i="0">
                <a:solidFill>
                  <a:srgbClr val="FFFFFF"/>
                </a:solidFill>
                <a:latin typeface="Calibri Light"/>
              </a:defRPr>
            </a:pPr>
            <a:r>
              <a:t>www.overnet.education</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54864"/>
          </a:xfrm>
          <a:prstGeom prst="rect">
            <a:avLst/>
          </a:prstGeom>
          <a:solidFill>
            <a:srgbClr val="BD27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182880"/>
            <a:ext cx="457200" cy="320040"/>
          </a:xfrm>
          <a:prstGeom prst="rect">
            <a:avLst/>
          </a:prstGeom>
          <a:noFill/>
        </p:spPr>
        <p:txBody>
          <a:bodyPr wrap="square"/>
          <a:lstStyle/>
          <a:p>
            <a:pPr algn="l">
              <a:spcBef>
                <a:spcPts val="0"/>
              </a:spcBef>
              <a:spcAft>
                <a:spcPts val="0"/>
              </a:spcAft>
              <a:defRPr sz="1300" b="1" i="0">
                <a:solidFill>
                  <a:srgbClr val="BD2716"/>
                </a:solidFill>
                <a:latin typeface="Calibri"/>
              </a:defRPr>
            </a:pPr>
            <a:r>
              <a:t>2.1</a:t>
            </a:r>
          </a:p>
        </p:txBody>
      </p:sp>
      <p:sp>
        <p:nvSpPr>
          <p:cNvPr id="4" name="TextBox 3"/>
          <p:cNvSpPr txBox="1"/>
          <p:nvPr/>
        </p:nvSpPr>
        <p:spPr>
          <a:xfrm>
            <a:off x="822960" y="182880"/>
            <a:ext cx="7315200" cy="320040"/>
          </a:xfrm>
          <a:prstGeom prst="rect">
            <a:avLst/>
          </a:prstGeom>
          <a:noFill/>
        </p:spPr>
        <p:txBody>
          <a:bodyPr wrap="square"/>
          <a:lstStyle/>
          <a:p>
            <a:pPr algn="l">
              <a:spcBef>
                <a:spcPts val="0"/>
              </a:spcBef>
              <a:spcAft>
                <a:spcPts val="0"/>
              </a:spcAft>
              <a:defRPr sz="1100" b="0" i="0">
                <a:solidFill>
                  <a:srgbClr val="666666"/>
                </a:solidFill>
                <a:latin typeface="Calibri Light"/>
              </a:defRPr>
            </a:pPr>
            <a:r>
              <a:t>Abstract Factory</a:t>
            </a:r>
          </a:p>
        </p:txBody>
      </p:sp>
      <p:sp>
        <p:nvSpPr>
          <p:cNvPr id="5" name="TextBox 4"/>
          <p:cNvSpPr txBox="1"/>
          <p:nvPr/>
        </p:nvSpPr>
        <p:spPr>
          <a:xfrm>
            <a:off x="548640" y="731520"/>
            <a:ext cx="10515600" cy="731520"/>
          </a:xfrm>
          <a:prstGeom prst="rect">
            <a:avLst/>
          </a:prstGeom>
          <a:noFill/>
        </p:spPr>
        <p:txBody>
          <a:bodyPr wrap="square"/>
          <a:lstStyle/>
          <a:p>
            <a:pPr algn="l">
              <a:spcBef>
                <a:spcPts val="0"/>
              </a:spcBef>
              <a:spcAft>
                <a:spcPts val="0"/>
              </a:spcAft>
              <a:defRPr sz="3000" b="1" i="0">
                <a:solidFill>
                  <a:srgbClr val="333333"/>
                </a:solidFill>
                <a:latin typeface="Calibri"/>
              </a:defRPr>
            </a:pPr>
            <a:r>
              <a:t>Abstract Factory: Critical Discussion</a:t>
            </a:r>
          </a:p>
        </p:txBody>
      </p:sp>
      <p:sp>
        <p:nvSpPr>
          <p:cNvPr id="6" name="Rectangle 5"/>
          <p:cNvSpPr/>
          <p:nvPr/>
        </p:nvSpPr>
        <p:spPr>
          <a:xfrm>
            <a:off x="457200" y="1645920"/>
            <a:ext cx="5394960" cy="1463040"/>
          </a:xfrm>
          <a:prstGeom prst="rect">
            <a:avLst/>
          </a:prstGeom>
          <a:solidFill>
            <a:srgbClr val="F0FF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457200" y="1645920"/>
            <a:ext cx="73152" cy="1463040"/>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31520" y="1691640"/>
            <a:ext cx="4846320" cy="274320"/>
          </a:xfrm>
          <a:prstGeom prst="rect">
            <a:avLst/>
          </a:prstGeom>
          <a:noFill/>
        </p:spPr>
        <p:txBody>
          <a:bodyPr wrap="square"/>
          <a:lstStyle/>
          <a:p>
            <a:pPr algn="l">
              <a:spcBef>
                <a:spcPts val="0"/>
              </a:spcBef>
              <a:spcAft>
                <a:spcPts val="0"/>
              </a:spcAft>
              <a:defRPr sz="1400" b="1" i="0">
                <a:solidFill>
                  <a:srgbClr val="2E7D32"/>
                </a:solidFill>
                <a:latin typeface="Calibri"/>
              </a:defRPr>
            </a:pPr>
            <a:r>
              <a:t>When to use</a:t>
            </a:r>
          </a:p>
        </p:txBody>
      </p:sp>
      <p:sp>
        <p:nvSpPr>
          <p:cNvPr id="9" name="TextBox 8"/>
          <p:cNvSpPr txBox="1"/>
          <p:nvPr/>
        </p:nvSpPr>
        <p:spPr>
          <a:xfrm>
            <a:off x="731520" y="2011680"/>
            <a:ext cx="4846320" cy="1005840"/>
          </a:xfrm>
          <a:prstGeom prst="rect">
            <a:avLst/>
          </a:prstGeom>
          <a:noFill/>
        </p:spPr>
        <p:txBody>
          <a:bodyPr wrap="square">
            <a:spAutoFit/>
          </a:bodyPr>
          <a:lstStyle/>
          <a:p>
            <a:pPr>
              <a:spcAft>
                <a:spcPts val="400"/>
              </a:spcAft>
              <a:defRPr sz="1100">
                <a:solidFill>
                  <a:srgbClr val="333333"/>
                </a:solidFill>
                <a:latin typeface="Calibri Light"/>
              </a:defRPr>
            </a:pPr>
            <a:r>
              <a:t>You need to ensure consistency across a family of related objects</a:t>
            </a:r>
          </a:p>
          <a:p>
            <a:pPr>
              <a:spcAft>
                <a:spcPts val="400"/>
              </a:spcAft>
              <a:defRPr sz="1100">
                <a:solidFill>
                  <a:srgbClr val="333333"/>
                </a:solidFill>
                <a:latin typeface="Calibri Light"/>
              </a:defRPr>
            </a:pPr>
            <a:r>
              <a:t>The system must support multiple variants (themes, platforms, regions)</a:t>
            </a:r>
          </a:p>
          <a:p>
            <a:pPr>
              <a:spcAft>
                <a:spcPts val="400"/>
              </a:spcAft>
              <a:defRPr sz="1100">
                <a:solidFill>
                  <a:srgbClr val="333333"/>
                </a:solidFill>
                <a:latin typeface="Calibri Light"/>
              </a:defRPr>
            </a:pPr>
            <a:r>
              <a:t>You want to swap entire families at configuration time</a:t>
            </a:r>
          </a:p>
        </p:txBody>
      </p:sp>
      <p:sp>
        <p:nvSpPr>
          <p:cNvPr id="10" name="Rectangle 9"/>
          <p:cNvSpPr/>
          <p:nvPr/>
        </p:nvSpPr>
        <p:spPr>
          <a:xfrm>
            <a:off x="6126480" y="1645920"/>
            <a:ext cx="5577840" cy="1463040"/>
          </a:xfrm>
          <a:prstGeom prst="rect">
            <a:avLst/>
          </a:prstGeom>
          <a:solidFill>
            <a:srgbClr val="FFF3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126480" y="1645920"/>
            <a:ext cx="73152" cy="1463040"/>
          </a:xfrm>
          <a:prstGeom prst="rect">
            <a:avLst/>
          </a:prstGeom>
          <a:solidFill>
            <a:srgbClr val="BD27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400800" y="1691640"/>
            <a:ext cx="5029200" cy="274320"/>
          </a:xfrm>
          <a:prstGeom prst="rect">
            <a:avLst/>
          </a:prstGeom>
          <a:noFill/>
        </p:spPr>
        <p:txBody>
          <a:bodyPr wrap="square"/>
          <a:lstStyle/>
          <a:p>
            <a:pPr algn="l">
              <a:spcBef>
                <a:spcPts val="0"/>
              </a:spcBef>
              <a:spcAft>
                <a:spcPts val="0"/>
              </a:spcAft>
              <a:defRPr sz="1400" b="1" i="0">
                <a:solidFill>
                  <a:srgbClr val="BD2716"/>
                </a:solidFill>
                <a:latin typeface="Calibri"/>
              </a:defRPr>
            </a:pPr>
            <a:r>
              <a:t>When to avoid</a:t>
            </a:r>
          </a:p>
        </p:txBody>
      </p:sp>
      <p:sp>
        <p:nvSpPr>
          <p:cNvPr id="13" name="TextBox 12"/>
          <p:cNvSpPr txBox="1"/>
          <p:nvPr/>
        </p:nvSpPr>
        <p:spPr>
          <a:xfrm>
            <a:off x="6400800" y="2011680"/>
            <a:ext cx="5029200" cy="1005840"/>
          </a:xfrm>
          <a:prstGeom prst="rect">
            <a:avLst/>
          </a:prstGeom>
          <a:noFill/>
        </p:spPr>
        <p:txBody>
          <a:bodyPr wrap="square">
            <a:spAutoFit/>
          </a:bodyPr>
          <a:lstStyle/>
          <a:p>
            <a:pPr>
              <a:spcAft>
                <a:spcPts val="400"/>
              </a:spcAft>
              <a:defRPr sz="1100">
                <a:solidFill>
                  <a:srgbClr val="333333"/>
                </a:solidFill>
                <a:latin typeface="Calibri Light"/>
              </a:defRPr>
            </a:pPr>
            <a:r>
              <a:t>You only have one product family — just use Factory Method</a:t>
            </a:r>
          </a:p>
          <a:p>
            <a:pPr>
              <a:spcAft>
                <a:spcPts val="400"/>
              </a:spcAft>
              <a:defRPr sz="1100">
                <a:solidFill>
                  <a:srgbClr val="333333"/>
                </a:solidFill>
                <a:latin typeface="Calibri Light"/>
              </a:defRPr>
            </a:pPr>
            <a:r>
              <a:t>The product set changes frequently (adding products forces all factories to change)</a:t>
            </a:r>
          </a:p>
          <a:p>
            <a:pPr>
              <a:spcAft>
                <a:spcPts val="400"/>
              </a:spcAft>
              <a:defRPr sz="1100">
                <a:solidFill>
                  <a:srgbClr val="333333"/>
                </a:solidFill>
                <a:latin typeface="Calibri Light"/>
              </a:defRPr>
            </a:pPr>
            <a:r>
              <a:t>The families are small (1-2 products) — the overhead is not justified</a:t>
            </a:r>
          </a:p>
        </p:txBody>
      </p:sp>
      <p:sp>
        <p:nvSpPr>
          <p:cNvPr id="14" name="Rectangle 13"/>
          <p:cNvSpPr/>
          <p:nvPr/>
        </p:nvSpPr>
        <p:spPr>
          <a:xfrm>
            <a:off x="457200" y="3383280"/>
            <a:ext cx="11247120" cy="1188720"/>
          </a:xfrm>
          <a:prstGeom prst="rect">
            <a:avLst/>
          </a:prstGeom>
          <a:solidFill>
            <a:srgbClr val="FFF8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457200" y="3383280"/>
            <a:ext cx="73152" cy="1188720"/>
          </a:xfrm>
          <a:prstGeom prst="rect">
            <a:avLst/>
          </a:prstGeom>
          <a:solidFill>
            <a:srgbClr val="E8A3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31520" y="3429000"/>
            <a:ext cx="10698480" cy="274320"/>
          </a:xfrm>
          <a:prstGeom prst="rect">
            <a:avLst/>
          </a:prstGeom>
          <a:noFill/>
        </p:spPr>
        <p:txBody>
          <a:bodyPr wrap="square"/>
          <a:lstStyle/>
          <a:p>
            <a:pPr algn="l">
              <a:spcBef>
                <a:spcPts val="0"/>
              </a:spcBef>
              <a:spcAft>
                <a:spcPts val="0"/>
              </a:spcAft>
              <a:defRPr sz="1400" b="1" i="0">
                <a:solidFill>
                  <a:srgbClr val="E8A317"/>
                </a:solidFill>
                <a:latin typeface="Calibri"/>
              </a:defRPr>
            </a:pPr>
            <a:r>
              <a:t>Modern Java perspective</a:t>
            </a:r>
          </a:p>
        </p:txBody>
      </p:sp>
      <p:sp>
        <p:nvSpPr>
          <p:cNvPr id="17" name="TextBox 16"/>
          <p:cNvSpPr txBox="1"/>
          <p:nvPr/>
        </p:nvSpPr>
        <p:spPr>
          <a:xfrm>
            <a:off x="731520" y="3749039"/>
            <a:ext cx="10698480" cy="731520"/>
          </a:xfrm>
          <a:prstGeom prst="rect">
            <a:avLst/>
          </a:prstGeom>
          <a:noFill/>
        </p:spPr>
        <p:txBody>
          <a:bodyPr wrap="square"/>
          <a:lstStyle/>
          <a:p>
            <a:pPr algn="l">
              <a:spcBef>
                <a:spcPts val="0"/>
              </a:spcBef>
              <a:spcAft>
                <a:spcPts val="0"/>
              </a:spcAft>
              <a:defRPr sz="1200" b="0" i="0">
                <a:solidFill>
                  <a:srgbClr val="333333"/>
                </a:solidFill>
                <a:latin typeface="Calibri Light"/>
              </a:defRPr>
            </a:pPr>
            <a:r>
              <a:t>In Spring, @Configuration classes with multiple @Bean methods act as Abstract Factories. Java generics and default methods can reduce boilerplate. Consider using a Map&lt;String, Supplier&lt;T&gt;&gt; when the factory logic is trivial.</a:t>
            </a:r>
          </a:p>
        </p:txBody>
      </p:sp>
      <p:sp>
        <p:nvSpPr>
          <p:cNvPr id="18" name="Rectangle 17"/>
          <p:cNvSpPr/>
          <p:nvPr/>
        </p:nvSpPr>
        <p:spPr>
          <a:xfrm>
            <a:off x="457200" y="4846320"/>
            <a:ext cx="11247120" cy="109728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31520" y="4892040"/>
            <a:ext cx="10698480" cy="274320"/>
          </a:xfrm>
          <a:prstGeom prst="rect">
            <a:avLst/>
          </a:prstGeom>
          <a:noFill/>
        </p:spPr>
        <p:txBody>
          <a:bodyPr wrap="square"/>
          <a:lstStyle/>
          <a:p>
            <a:pPr algn="l">
              <a:spcBef>
                <a:spcPts val="0"/>
              </a:spcBef>
              <a:spcAft>
                <a:spcPts val="0"/>
              </a:spcAft>
              <a:defRPr sz="1400" b="1" i="0">
                <a:solidFill>
                  <a:srgbClr val="1565C0"/>
                </a:solidFill>
                <a:latin typeface="Calibri"/>
              </a:defRPr>
            </a:pPr>
            <a:r>
              <a:t>Related Patterns</a:t>
            </a:r>
          </a:p>
        </p:txBody>
      </p:sp>
      <p:sp>
        <p:nvSpPr>
          <p:cNvPr id="20" name="TextBox 19"/>
          <p:cNvSpPr txBox="1"/>
          <p:nvPr/>
        </p:nvSpPr>
        <p:spPr>
          <a:xfrm>
            <a:off x="731520" y="5212080"/>
            <a:ext cx="10698480" cy="640080"/>
          </a:xfrm>
          <a:prstGeom prst="rect">
            <a:avLst/>
          </a:prstGeom>
          <a:noFill/>
        </p:spPr>
        <p:txBody>
          <a:bodyPr wrap="square"/>
          <a:lstStyle/>
          <a:p>
            <a:pPr algn="l">
              <a:spcBef>
                <a:spcPts val="0"/>
              </a:spcBef>
              <a:spcAft>
                <a:spcPts val="0"/>
              </a:spcAft>
              <a:defRPr sz="1200" b="0" i="0">
                <a:solidFill>
                  <a:srgbClr val="333333"/>
                </a:solidFill>
                <a:latin typeface="Calibri Light"/>
              </a:defRPr>
            </a:pPr>
            <a:r>
              <a:t>Factory Method – Abstract Factory is often implemented using Factory Methods. Builder – can be combined with AF to build complex products. Prototype – an alternative when families differ only in initial state.</a:t>
            </a:r>
          </a:p>
        </p:txBody>
      </p:sp>
      <p:sp>
        <p:nvSpPr>
          <p:cNvPr id="21" name="Rectangle 20"/>
          <p:cNvSpPr/>
          <p:nvPr/>
        </p:nvSpPr>
        <p:spPr>
          <a:xfrm>
            <a:off x="0" y="6492240"/>
            <a:ext cx="12192000" cy="365760"/>
          </a:xfrm>
          <a:prstGeom prst="rect">
            <a:avLst/>
          </a:prstGeom>
          <a:solidFill>
            <a:srgbClr val="BD27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57200" y="6528816"/>
            <a:ext cx="3657600" cy="274320"/>
          </a:xfrm>
          <a:prstGeom prst="rect">
            <a:avLst/>
          </a:prstGeom>
          <a:noFill/>
        </p:spPr>
        <p:txBody>
          <a:bodyPr wrap="square"/>
          <a:lstStyle/>
          <a:p>
            <a:pPr algn="l">
              <a:spcBef>
                <a:spcPts val="0"/>
              </a:spcBef>
              <a:spcAft>
                <a:spcPts val="0"/>
              </a:spcAft>
              <a:defRPr sz="900" b="0" i="0">
                <a:solidFill>
                  <a:srgbClr val="FFFFFF"/>
                </a:solidFill>
                <a:latin typeface="Calibri Light"/>
              </a:defRPr>
            </a:pPr>
            <a:r>
              <a:t>www.overnet.education</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1E1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2000" cy="73152"/>
          </a:xfrm>
          <a:prstGeom prst="rect">
            <a:avLst/>
          </a:prstGeom>
          <a:solidFill>
            <a:srgbClr val="BD27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1371600"/>
            <a:ext cx="10058400" cy="457200"/>
          </a:xfrm>
          <a:prstGeom prst="rect">
            <a:avLst/>
          </a:prstGeom>
          <a:noFill/>
        </p:spPr>
        <p:txBody>
          <a:bodyPr wrap="square"/>
          <a:lstStyle/>
          <a:p>
            <a:pPr algn="l">
              <a:spcBef>
                <a:spcPts val="0"/>
              </a:spcBef>
              <a:spcAft>
                <a:spcPts val="0"/>
              </a:spcAft>
              <a:defRPr sz="1600" b="0" i="0">
                <a:solidFill>
                  <a:srgbClr val="AAAABB"/>
                </a:solidFill>
                <a:latin typeface="Calibri Light"/>
              </a:defRPr>
            </a:pPr>
            <a:r>
              <a:t>Creational Pattern</a:t>
            </a:r>
          </a:p>
        </p:txBody>
      </p:sp>
      <p:sp>
        <p:nvSpPr>
          <p:cNvPr id="5" name="TextBox 4"/>
          <p:cNvSpPr txBox="1"/>
          <p:nvPr/>
        </p:nvSpPr>
        <p:spPr>
          <a:xfrm>
            <a:off x="548640" y="2011680"/>
            <a:ext cx="10058400" cy="914400"/>
          </a:xfrm>
          <a:prstGeom prst="rect">
            <a:avLst/>
          </a:prstGeom>
          <a:noFill/>
        </p:spPr>
        <p:txBody>
          <a:bodyPr wrap="square"/>
          <a:lstStyle/>
          <a:p>
            <a:pPr algn="l">
              <a:spcBef>
                <a:spcPts val="0"/>
              </a:spcBef>
              <a:spcAft>
                <a:spcPts val="0"/>
              </a:spcAft>
              <a:defRPr sz="4400" b="1" i="0">
                <a:solidFill>
                  <a:srgbClr val="FFFFFF"/>
                </a:solidFill>
                <a:latin typeface="Calibri"/>
              </a:defRPr>
            </a:pPr>
            <a:r>
              <a:t>Builder</a:t>
            </a:r>
          </a:p>
        </p:txBody>
      </p:sp>
      <p:sp>
        <p:nvSpPr>
          <p:cNvPr id="6" name="Rectangle 5"/>
          <p:cNvSpPr/>
          <p:nvPr/>
        </p:nvSpPr>
        <p:spPr>
          <a:xfrm>
            <a:off x="548640" y="3017520"/>
            <a:ext cx="2286000" cy="54864"/>
          </a:xfrm>
          <a:prstGeom prst="rect">
            <a:avLst/>
          </a:prstGeom>
          <a:solidFill>
            <a:srgbClr val="BD27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48640" y="3291840"/>
            <a:ext cx="10058400" cy="457200"/>
          </a:xfrm>
          <a:prstGeom prst="rect">
            <a:avLst/>
          </a:prstGeom>
          <a:noFill/>
        </p:spPr>
        <p:txBody>
          <a:bodyPr wrap="square"/>
          <a:lstStyle/>
          <a:p>
            <a:pPr algn="l">
              <a:spcBef>
                <a:spcPts val="0"/>
              </a:spcBef>
              <a:spcAft>
                <a:spcPts val="0"/>
              </a:spcAft>
              <a:defRPr sz="1800" b="0" i="0">
                <a:solidFill>
                  <a:srgbClr val="BD2716"/>
                </a:solidFill>
                <a:latin typeface="Calibri Light"/>
              </a:defRPr>
            </a:pPr>
            <a:r>
              <a:t>Complex objects, step by step</a:t>
            </a:r>
          </a:p>
        </p:txBody>
      </p:sp>
      <p:sp>
        <p:nvSpPr>
          <p:cNvPr id="8" name="Rectangle 7"/>
          <p:cNvSpPr/>
          <p:nvPr/>
        </p:nvSpPr>
        <p:spPr>
          <a:xfrm>
            <a:off x="548640" y="4114800"/>
            <a:ext cx="10515600" cy="1097280"/>
          </a:xfrm>
          <a:prstGeom prst="rect">
            <a:avLst/>
          </a:prstGeom>
          <a:solidFill>
            <a:srgbClr val="282C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548640" y="4114800"/>
            <a:ext cx="73152" cy="1097280"/>
          </a:xfrm>
          <a:prstGeom prst="rect">
            <a:avLst/>
          </a:prstGeom>
          <a:solidFill>
            <a:srgbClr val="BD27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68680" y="4206240"/>
            <a:ext cx="9966960" cy="914400"/>
          </a:xfrm>
          <a:prstGeom prst="rect">
            <a:avLst/>
          </a:prstGeom>
          <a:noFill/>
        </p:spPr>
        <p:txBody>
          <a:bodyPr wrap="square">
            <a:spAutoFit/>
          </a:bodyPr>
          <a:lstStyle/>
          <a:p>
            <a:pPr algn="l"/>
            <a:r>
              <a:rPr sz="1400" b="1" i="0">
                <a:solidFill>
                  <a:srgbClr val="BD2716"/>
                </a:solidFill>
                <a:latin typeface="Calibri"/>
              </a:rPr>
              <a:t>Intent: </a:t>
            </a:r>
            <a:r>
              <a:rPr sz="1400" b="0" i="0">
                <a:solidFill>
                  <a:srgbClr val="DDDDEE"/>
                </a:solidFill>
                <a:latin typeface="Calibri Light"/>
              </a:rPr>
              <a:t>Separate the construction of a complex object from its representation so that the same construction process can create different representations.</a:t>
            </a:r>
          </a:p>
        </p:txBody>
      </p:sp>
      <p:sp>
        <p:nvSpPr>
          <p:cNvPr id="11" name="Rectangle 10"/>
          <p:cNvSpPr/>
          <p:nvPr/>
        </p:nvSpPr>
        <p:spPr>
          <a:xfrm>
            <a:off x="0" y="6492240"/>
            <a:ext cx="12192000" cy="365760"/>
          </a:xfrm>
          <a:prstGeom prst="rect">
            <a:avLst/>
          </a:prstGeom>
          <a:solidFill>
            <a:srgbClr val="BD27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57200" y="6528816"/>
            <a:ext cx="3657600" cy="274320"/>
          </a:xfrm>
          <a:prstGeom prst="rect">
            <a:avLst/>
          </a:prstGeom>
          <a:noFill/>
        </p:spPr>
        <p:txBody>
          <a:bodyPr wrap="square"/>
          <a:lstStyle/>
          <a:p>
            <a:pPr algn="l">
              <a:spcBef>
                <a:spcPts val="0"/>
              </a:spcBef>
              <a:spcAft>
                <a:spcPts val="0"/>
              </a:spcAft>
              <a:defRPr sz="900" b="0" i="0">
                <a:solidFill>
                  <a:srgbClr val="FFFFFF"/>
                </a:solidFill>
                <a:latin typeface="Calibri Light"/>
              </a:defRPr>
            </a:pPr>
            <a:r>
              <a:t>www.overnet.education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54864"/>
          </a:xfrm>
          <a:prstGeom prst="rect">
            <a:avLst/>
          </a:prstGeom>
          <a:solidFill>
            <a:srgbClr val="BD27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182880"/>
            <a:ext cx="457200" cy="320040"/>
          </a:xfrm>
          <a:prstGeom prst="rect">
            <a:avLst/>
          </a:prstGeom>
          <a:noFill/>
        </p:spPr>
        <p:txBody>
          <a:bodyPr wrap="square"/>
          <a:lstStyle/>
          <a:p>
            <a:pPr algn="l">
              <a:spcBef>
                <a:spcPts val="0"/>
              </a:spcBef>
              <a:spcAft>
                <a:spcPts val="0"/>
              </a:spcAft>
              <a:defRPr sz="1300" b="1" i="0">
                <a:solidFill>
                  <a:srgbClr val="BD2716"/>
                </a:solidFill>
                <a:latin typeface="Calibri"/>
              </a:defRPr>
            </a:pPr>
            <a:r>
              <a:t>2.2</a:t>
            </a:r>
          </a:p>
        </p:txBody>
      </p:sp>
      <p:sp>
        <p:nvSpPr>
          <p:cNvPr id="4" name="TextBox 3"/>
          <p:cNvSpPr txBox="1"/>
          <p:nvPr/>
        </p:nvSpPr>
        <p:spPr>
          <a:xfrm>
            <a:off x="822960" y="182880"/>
            <a:ext cx="7315200" cy="320040"/>
          </a:xfrm>
          <a:prstGeom prst="rect">
            <a:avLst/>
          </a:prstGeom>
          <a:noFill/>
        </p:spPr>
        <p:txBody>
          <a:bodyPr wrap="square"/>
          <a:lstStyle/>
          <a:p>
            <a:pPr algn="l">
              <a:spcBef>
                <a:spcPts val="0"/>
              </a:spcBef>
              <a:spcAft>
                <a:spcPts val="0"/>
              </a:spcAft>
              <a:defRPr sz="1100" b="0" i="0">
                <a:solidFill>
                  <a:srgbClr val="666666"/>
                </a:solidFill>
                <a:latin typeface="Calibri Light"/>
              </a:defRPr>
            </a:pPr>
            <a:r>
              <a:t>Builder</a:t>
            </a:r>
          </a:p>
        </p:txBody>
      </p:sp>
      <p:sp>
        <p:nvSpPr>
          <p:cNvPr id="5" name="TextBox 4"/>
          <p:cNvSpPr txBox="1"/>
          <p:nvPr/>
        </p:nvSpPr>
        <p:spPr>
          <a:xfrm>
            <a:off x="548640" y="731520"/>
            <a:ext cx="10515600" cy="731520"/>
          </a:xfrm>
          <a:prstGeom prst="rect">
            <a:avLst/>
          </a:prstGeom>
          <a:noFill/>
        </p:spPr>
        <p:txBody>
          <a:bodyPr wrap="square"/>
          <a:lstStyle/>
          <a:p>
            <a:pPr algn="l">
              <a:spcBef>
                <a:spcPts val="0"/>
              </a:spcBef>
              <a:spcAft>
                <a:spcPts val="0"/>
              </a:spcAft>
              <a:defRPr sz="3200" b="1" i="0">
                <a:solidFill>
                  <a:srgbClr val="333333"/>
                </a:solidFill>
                <a:latin typeface="Calibri"/>
              </a:defRPr>
            </a:pPr>
            <a:r>
              <a:t>Builder: Structure &amp; Consequences</a:t>
            </a:r>
          </a:p>
        </p:txBody>
      </p:sp>
      <p:sp>
        <p:nvSpPr>
          <p:cNvPr id="6" name="Rectangle 5"/>
          <p:cNvSpPr/>
          <p:nvPr/>
        </p:nvSpPr>
        <p:spPr>
          <a:xfrm>
            <a:off x="457200" y="1645920"/>
            <a:ext cx="11247120" cy="109728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457200" y="1645920"/>
            <a:ext cx="73152" cy="1097280"/>
          </a:xfrm>
          <a:prstGeom prst="rect">
            <a:avLst/>
          </a:prstGeom>
          <a:solidFill>
            <a:srgbClr val="BD27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31520" y="1691640"/>
            <a:ext cx="1828800" cy="274320"/>
          </a:xfrm>
          <a:prstGeom prst="rect">
            <a:avLst/>
          </a:prstGeom>
          <a:noFill/>
        </p:spPr>
        <p:txBody>
          <a:bodyPr wrap="square"/>
          <a:lstStyle/>
          <a:p>
            <a:pPr algn="l">
              <a:spcBef>
                <a:spcPts val="0"/>
              </a:spcBef>
              <a:spcAft>
                <a:spcPts val="0"/>
              </a:spcAft>
              <a:defRPr sz="1300" b="1" i="0">
                <a:solidFill>
                  <a:srgbClr val="BD2716"/>
                </a:solidFill>
                <a:latin typeface="Calibri"/>
              </a:defRPr>
            </a:pPr>
            <a:r>
              <a:t>Motivation</a:t>
            </a:r>
          </a:p>
        </p:txBody>
      </p:sp>
      <p:sp>
        <p:nvSpPr>
          <p:cNvPr id="9" name="TextBox 8"/>
          <p:cNvSpPr txBox="1"/>
          <p:nvPr/>
        </p:nvSpPr>
        <p:spPr>
          <a:xfrm>
            <a:off x="731520" y="1965960"/>
            <a:ext cx="10698480" cy="685800"/>
          </a:xfrm>
          <a:prstGeom prst="rect">
            <a:avLst/>
          </a:prstGeom>
          <a:noFill/>
        </p:spPr>
        <p:txBody>
          <a:bodyPr wrap="square"/>
          <a:lstStyle/>
          <a:p>
            <a:pPr algn="l">
              <a:spcBef>
                <a:spcPts val="0"/>
              </a:spcBef>
              <a:spcAft>
                <a:spcPts val="0"/>
              </a:spcAft>
              <a:defRPr sz="1200" b="0" i="0">
                <a:solidFill>
                  <a:srgbClr val="333333"/>
                </a:solidFill>
                <a:latin typeface="Calibri Light"/>
              </a:defRPr>
            </a:pPr>
            <a:r>
              <a:t>A transaction processing system needs to create Order objects with many optional fields: client, instrument, quantity, price, stop-loss, take-profit, fees, execution venue, settlement date. A constructor with 15 parameters is unreadable and error-prone. Builder lets you construct the Order step by step, with clear names for each field, and validates the result before returning it.</a:t>
            </a:r>
          </a:p>
        </p:txBody>
      </p:sp>
      <p:sp>
        <p:nvSpPr>
          <p:cNvPr id="10" name="TextBox 9"/>
          <p:cNvSpPr txBox="1"/>
          <p:nvPr/>
        </p:nvSpPr>
        <p:spPr>
          <a:xfrm>
            <a:off x="457200" y="2926080"/>
            <a:ext cx="2743200" cy="274320"/>
          </a:xfrm>
          <a:prstGeom prst="rect">
            <a:avLst/>
          </a:prstGeom>
          <a:noFill/>
        </p:spPr>
        <p:txBody>
          <a:bodyPr wrap="square"/>
          <a:lstStyle/>
          <a:p>
            <a:pPr algn="l">
              <a:spcBef>
                <a:spcPts val="0"/>
              </a:spcBef>
              <a:spcAft>
                <a:spcPts val="0"/>
              </a:spcAft>
              <a:defRPr sz="1400" b="1" i="0">
                <a:solidFill>
                  <a:srgbClr val="1565C0"/>
                </a:solidFill>
                <a:latin typeface="Calibri"/>
              </a:defRPr>
            </a:pPr>
            <a:r>
              <a:t>Participants</a:t>
            </a:r>
          </a:p>
        </p:txBody>
      </p:sp>
      <p:sp>
        <p:nvSpPr>
          <p:cNvPr id="11" name="TextBox 10"/>
          <p:cNvSpPr txBox="1"/>
          <p:nvPr/>
        </p:nvSpPr>
        <p:spPr>
          <a:xfrm>
            <a:off x="640080" y="3246120"/>
            <a:ext cx="10972800" cy="1371600"/>
          </a:xfrm>
          <a:prstGeom prst="rect">
            <a:avLst/>
          </a:prstGeom>
          <a:noFill/>
        </p:spPr>
        <p:txBody>
          <a:bodyPr wrap="square">
            <a:spAutoFit/>
          </a:bodyPr>
          <a:lstStyle/>
          <a:p>
            <a:pPr>
              <a:spcAft>
                <a:spcPts val="400"/>
              </a:spcAft>
              <a:defRPr sz="1200">
                <a:solidFill>
                  <a:srgbClr val="333333"/>
                </a:solidFill>
                <a:latin typeface="Calibri Light"/>
              </a:defRPr>
            </a:pPr>
            <a:r>
              <a:t>Builder – interface declaring construction steps (withClient, withInstrument, ...)</a:t>
            </a:r>
          </a:p>
          <a:p>
            <a:pPr>
              <a:spcAft>
                <a:spcPts val="400"/>
              </a:spcAft>
              <a:defRPr sz="1200">
                <a:solidFill>
                  <a:srgbClr val="333333"/>
                </a:solidFill>
                <a:latin typeface="Calibri Light"/>
              </a:defRPr>
            </a:pPr>
            <a:r>
              <a:t>ConcreteBuilder – implements the steps and assembles the product</a:t>
            </a:r>
          </a:p>
          <a:p>
            <a:pPr>
              <a:spcAft>
                <a:spcPts val="400"/>
              </a:spcAft>
              <a:defRPr sz="1200">
                <a:solidFill>
                  <a:srgbClr val="333333"/>
                </a:solidFill>
                <a:latin typeface="Calibri Light"/>
              </a:defRPr>
            </a:pPr>
            <a:r>
              <a:t>Product – the complex object being built (e.g., Order)</a:t>
            </a:r>
          </a:p>
          <a:p>
            <a:pPr>
              <a:spcAft>
                <a:spcPts val="400"/>
              </a:spcAft>
              <a:defRPr sz="1200">
                <a:solidFill>
                  <a:srgbClr val="333333"/>
                </a:solidFill>
                <a:latin typeface="Calibri Light"/>
              </a:defRPr>
            </a:pPr>
            <a:r>
              <a:t>Director – (optional) defines the order of construction steps for common configurations</a:t>
            </a:r>
          </a:p>
        </p:txBody>
      </p:sp>
      <p:sp>
        <p:nvSpPr>
          <p:cNvPr id="12" name="Rectangle 11"/>
          <p:cNvSpPr/>
          <p:nvPr/>
        </p:nvSpPr>
        <p:spPr>
          <a:xfrm>
            <a:off x="457200" y="4754880"/>
            <a:ext cx="5394960" cy="1280160"/>
          </a:xfrm>
          <a:prstGeom prst="rect">
            <a:avLst/>
          </a:prstGeom>
          <a:solidFill>
            <a:srgbClr val="F0FF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40080" y="4800600"/>
            <a:ext cx="5029200" cy="274320"/>
          </a:xfrm>
          <a:prstGeom prst="rect">
            <a:avLst/>
          </a:prstGeom>
          <a:noFill/>
        </p:spPr>
        <p:txBody>
          <a:bodyPr wrap="square"/>
          <a:lstStyle/>
          <a:p>
            <a:pPr algn="l">
              <a:spcBef>
                <a:spcPts val="0"/>
              </a:spcBef>
              <a:spcAft>
                <a:spcPts val="0"/>
              </a:spcAft>
              <a:defRPr sz="1300" b="1" i="0">
                <a:solidFill>
                  <a:srgbClr val="2E7D32"/>
                </a:solidFill>
                <a:latin typeface="Calibri"/>
              </a:defRPr>
            </a:pPr>
            <a:r>
              <a:t>✓  Advantages</a:t>
            </a:r>
          </a:p>
        </p:txBody>
      </p:sp>
      <p:sp>
        <p:nvSpPr>
          <p:cNvPr id="14" name="TextBox 13"/>
          <p:cNvSpPr txBox="1"/>
          <p:nvPr/>
        </p:nvSpPr>
        <p:spPr>
          <a:xfrm>
            <a:off x="640080" y="5120640"/>
            <a:ext cx="5029200" cy="822960"/>
          </a:xfrm>
          <a:prstGeom prst="rect">
            <a:avLst/>
          </a:prstGeom>
          <a:noFill/>
        </p:spPr>
        <p:txBody>
          <a:bodyPr wrap="square">
            <a:spAutoFit/>
          </a:bodyPr>
          <a:lstStyle/>
          <a:p>
            <a:pPr>
              <a:spcAft>
                <a:spcPts val="400"/>
              </a:spcAft>
              <a:defRPr sz="1100">
                <a:solidFill>
                  <a:srgbClr val="333333"/>
                </a:solidFill>
                <a:latin typeface="Calibri Light"/>
              </a:defRPr>
            </a:pPr>
            <a:r>
              <a:t>Fluent, readable construction of complex objects</a:t>
            </a:r>
          </a:p>
          <a:p>
            <a:pPr>
              <a:spcAft>
                <a:spcPts val="400"/>
              </a:spcAft>
              <a:defRPr sz="1100">
                <a:solidFill>
                  <a:srgbClr val="333333"/>
                </a:solidFill>
                <a:latin typeface="Calibri Light"/>
              </a:defRPr>
            </a:pPr>
            <a:r>
              <a:t>Immutable products: validate-then-build ensures consistency</a:t>
            </a:r>
          </a:p>
          <a:p>
            <a:pPr>
              <a:spcAft>
                <a:spcPts val="400"/>
              </a:spcAft>
              <a:defRPr sz="1100">
                <a:solidFill>
                  <a:srgbClr val="333333"/>
                </a:solidFill>
                <a:latin typeface="Calibri Light"/>
              </a:defRPr>
            </a:pPr>
            <a:r>
              <a:t>Same process can produce different representations</a:t>
            </a:r>
          </a:p>
          <a:p>
            <a:pPr>
              <a:spcAft>
                <a:spcPts val="400"/>
              </a:spcAft>
              <a:defRPr sz="1100">
                <a:solidFill>
                  <a:srgbClr val="333333"/>
                </a:solidFill>
                <a:latin typeface="Calibri Light"/>
              </a:defRPr>
            </a:pPr>
            <a:r>
              <a:t>Avoids telescoping constructors and setter chains</a:t>
            </a:r>
          </a:p>
        </p:txBody>
      </p:sp>
      <p:sp>
        <p:nvSpPr>
          <p:cNvPr id="15" name="Rectangle 14"/>
          <p:cNvSpPr/>
          <p:nvPr/>
        </p:nvSpPr>
        <p:spPr>
          <a:xfrm>
            <a:off x="6126480" y="4754880"/>
            <a:ext cx="5577840" cy="1280160"/>
          </a:xfrm>
          <a:prstGeom prst="rect">
            <a:avLst/>
          </a:prstGeom>
          <a:solidFill>
            <a:srgbClr val="FFF3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309360" y="4800600"/>
            <a:ext cx="5212080" cy="274320"/>
          </a:xfrm>
          <a:prstGeom prst="rect">
            <a:avLst/>
          </a:prstGeom>
          <a:noFill/>
        </p:spPr>
        <p:txBody>
          <a:bodyPr wrap="square"/>
          <a:lstStyle/>
          <a:p>
            <a:pPr algn="l">
              <a:spcBef>
                <a:spcPts val="0"/>
              </a:spcBef>
              <a:spcAft>
                <a:spcPts val="0"/>
              </a:spcAft>
              <a:defRPr sz="1300" b="1" i="0">
                <a:solidFill>
                  <a:srgbClr val="BD2716"/>
                </a:solidFill>
                <a:latin typeface="Calibri"/>
              </a:defRPr>
            </a:pPr>
            <a:r>
              <a:t>✗  Drawbacks</a:t>
            </a:r>
          </a:p>
        </p:txBody>
      </p:sp>
      <p:sp>
        <p:nvSpPr>
          <p:cNvPr id="17" name="TextBox 16"/>
          <p:cNvSpPr txBox="1"/>
          <p:nvPr/>
        </p:nvSpPr>
        <p:spPr>
          <a:xfrm>
            <a:off x="6309360" y="5120640"/>
            <a:ext cx="5212080" cy="822960"/>
          </a:xfrm>
          <a:prstGeom prst="rect">
            <a:avLst/>
          </a:prstGeom>
          <a:noFill/>
        </p:spPr>
        <p:txBody>
          <a:bodyPr wrap="square">
            <a:spAutoFit/>
          </a:bodyPr>
          <a:lstStyle/>
          <a:p>
            <a:pPr>
              <a:spcAft>
                <a:spcPts val="400"/>
              </a:spcAft>
              <a:defRPr sz="1100">
                <a:solidFill>
                  <a:srgbClr val="333333"/>
                </a:solidFill>
                <a:latin typeface="Calibri Light"/>
              </a:defRPr>
            </a:pPr>
            <a:r>
              <a:t>Adds complexity for simple objects with few fields</a:t>
            </a:r>
          </a:p>
          <a:p>
            <a:pPr>
              <a:spcAft>
                <a:spcPts val="400"/>
              </a:spcAft>
              <a:defRPr sz="1100">
                <a:solidFill>
                  <a:srgbClr val="333333"/>
                </a:solidFill>
                <a:latin typeface="Calibri Light"/>
              </a:defRPr>
            </a:pPr>
            <a:r>
              <a:t>Duplicated field declarations (in Product and Builder)</a:t>
            </a:r>
          </a:p>
          <a:p>
            <a:pPr>
              <a:spcAft>
                <a:spcPts val="400"/>
              </a:spcAft>
              <a:defRPr sz="1100">
                <a:solidFill>
                  <a:srgbClr val="333333"/>
                </a:solidFill>
                <a:latin typeface="Calibri Light"/>
              </a:defRPr>
            </a:pPr>
            <a:r>
              <a:t>Director is often unnecessary in practice</a:t>
            </a:r>
          </a:p>
        </p:txBody>
      </p:sp>
      <p:sp>
        <p:nvSpPr>
          <p:cNvPr id="18" name="Rectangle 17"/>
          <p:cNvSpPr/>
          <p:nvPr/>
        </p:nvSpPr>
        <p:spPr>
          <a:xfrm>
            <a:off x="0" y="6492240"/>
            <a:ext cx="12192000" cy="365760"/>
          </a:xfrm>
          <a:prstGeom prst="rect">
            <a:avLst/>
          </a:prstGeom>
          <a:solidFill>
            <a:srgbClr val="BD27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57200" y="6528816"/>
            <a:ext cx="3657600" cy="274320"/>
          </a:xfrm>
          <a:prstGeom prst="rect">
            <a:avLst/>
          </a:prstGeom>
          <a:noFill/>
        </p:spPr>
        <p:txBody>
          <a:bodyPr wrap="square"/>
          <a:lstStyle/>
          <a:p>
            <a:pPr algn="l">
              <a:spcBef>
                <a:spcPts val="0"/>
              </a:spcBef>
              <a:spcAft>
                <a:spcPts val="0"/>
              </a:spcAft>
              <a:defRPr sz="900" b="0" i="0">
                <a:solidFill>
                  <a:srgbClr val="FFFFFF"/>
                </a:solidFill>
                <a:latin typeface="Calibri Light"/>
              </a:defRPr>
            </a:pPr>
            <a:r>
              <a:t>www.overnet.education</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54864"/>
          </a:xfrm>
          <a:prstGeom prst="rect">
            <a:avLst/>
          </a:prstGeom>
          <a:solidFill>
            <a:srgbClr val="BD27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182880"/>
            <a:ext cx="457200" cy="320040"/>
          </a:xfrm>
          <a:prstGeom prst="rect">
            <a:avLst/>
          </a:prstGeom>
          <a:noFill/>
        </p:spPr>
        <p:txBody>
          <a:bodyPr wrap="square"/>
          <a:lstStyle/>
          <a:p>
            <a:pPr algn="l">
              <a:spcBef>
                <a:spcPts val="0"/>
              </a:spcBef>
              <a:spcAft>
                <a:spcPts val="0"/>
              </a:spcAft>
              <a:defRPr sz="1300" b="1" i="0">
                <a:solidFill>
                  <a:srgbClr val="BD2716"/>
                </a:solidFill>
                <a:latin typeface="Calibri"/>
              </a:defRPr>
            </a:pPr>
            <a:r>
              <a:t>2.2</a:t>
            </a:r>
          </a:p>
        </p:txBody>
      </p:sp>
      <p:sp>
        <p:nvSpPr>
          <p:cNvPr id="4" name="TextBox 3"/>
          <p:cNvSpPr txBox="1"/>
          <p:nvPr/>
        </p:nvSpPr>
        <p:spPr>
          <a:xfrm>
            <a:off x="822960" y="182880"/>
            <a:ext cx="7315200" cy="320040"/>
          </a:xfrm>
          <a:prstGeom prst="rect">
            <a:avLst/>
          </a:prstGeom>
          <a:noFill/>
        </p:spPr>
        <p:txBody>
          <a:bodyPr wrap="square"/>
          <a:lstStyle/>
          <a:p>
            <a:pPr algn="l">
              <a:spcBef>
                <a:spcPts val="0"/>
              </a:spcBef>
              <a:spcAft>
                <a:spcPts val="0"/>
              </a:spcAft>
              <a:defRPr sz="1100" b="0" i="0">
                <a:solidFill>
                  <a:srgbClr val="666666"/>
                </a:solidFill>
                <a:latin typeface="Calibri Light"/>
              </a:defRPr>
            </a:pPr>
            <a:r>
              <a:t>Builder</a:t>
            </a:r>
          </a:p>
        </p:txBody>
      </p:sp>
      <p:sp>
        <p:nvSpPr>
          <p:cNvPr id="5" name="TextBox 4"/>
          <p:cNvSpPr txBox="1"/>
          <p:nvPr/>
        </p:nvSpPr>
        <p:spPr>
          <a:xfrm>
            <a:off x="548640" y="731520"/>
            <a:ext cx="10515600" cy="731520"/>
          </a:xfrm>
          <a:prstGeom prst="rect">
            <a:avLst/>
          </a:prstGeom>
          <a:noFill/>
        </p:spPr>
        <p:txBody>
          <a:bodyPr wrap="square"/>
          <a:lstStyle/>
          <a:p>
            <a:pPr algn="l">
              <a:spcBef>
                <a:spcPts val="0"/>
              </a:spcBef>
              <a:spcAft>
                <a:spcPts val="0"/>
              </a:spcAft>
              <a:defRPr sz="3000" b="1" i="0">
                <a:solidFill>
                  <a:srgbClr val="333333"/>
                </a:solidFill>
                <a:latin typeface="Calibri"/>
              </a:defRPr>
            </a:pPr>
            <a:r>
              <a:t>Builder: Java Implementation</a:t>
            </a:r>
          </a:p>
        </p:txBody>
      </p:sp>
      <p:sp>
        <p:nvSpPr>
          <p:cNvPr id="6" name="Rectangle 5"/>
          <p:cNvSpPr/>
          <p:nvPr/>
        </p:nvSpPr>
        <p:spPr>
          <a:xfrm>
            <a:off x="457200" y="1645920"/>
            <a:ext cx="5577840" cy="365760"/>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40080" y="1664208"/>
            <a:ext cx="5029200" cy="329184"/>
          </a:xfrm>
          <a:prstGeom prst="rect">
            <a:avLst/>
          </a:prstGeom>
          <a:noFill/>
        </p:spPr>
        <p:txBody>
          <a:bodyPr wrap="square"/>
          <a:lstStyle/>
          <a:p>
            <a:pPr algn="l">
              <a:spcBef>
                <a:spcPts val="0"/>
              </a:spcBef>
              <a:spcAft>
                <a:spcPts val="0"/>
              </a:spcAft>
              <a:defRPr sz="1200" b="1" i="0">
                <a:solidFill>
                  <a:srgbClr val="FFFFFF"/>
                </a:solidFill>
                <a:latin typeface="Calibri"/>
              </a:defRPr>
            </a:pPr>
            <a:r>
              <a:t>Product + Builder class</a:t>
            </a:r>
          </a:p>
        </p:txBody>
      </p:sp>
      <p:sp>
        <p:nvSpPr>
          <p:cNvPr id="8" name="Rectangle 7"/>
          <p:cNvSpPr/>
          <p:nvPr/>
        </p:nvSpPr>
        <p:spPr>
          <a:xfrm>
            <a:off x="457200" y="2011680"/>
            <a:ext cx="5577840" cy="3840480"/>
          </a:xfrm>
          <a:prstGeom prst="rect">
            <a:avLst/>
          </a:prstGeom>
          <a:solidFill>
            <a:srgbClr val="282C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40080" y="2103120"/>
            <a:ext cx="5212080" cy="3657600"/>
          </a:xfrm>
          <a:prstGeom prst="rect">
            <a:avLst/>
          </a:prstGeom>
          <a:noFill/>
        </p:spPr>
        <p:txBody>
          <a:bodyPr wrap="square"/>
          <a:lstStyle/>
          <a:p>
            <a:pPr algn="l">
              <a:spcBef>
                <a:spcPts val="0"/>
              </a:spcBef>
              <a:spcAft>
                <a:spcPts val="0"/>
              </a:spcAft>
              <a:defRPr sz="900" b="0" i="0">
                <a:solidFill>
                  <a:srgbClr val="ABB2BF"/>
                </a:solidFill>
                <a:latin typeface="Consolas"/>
              </a:defRPr>
            </a:pPr>
            <a:r>
              <a:t>// Product (immutable)</a:t>
            </a:r>
            <a:br/>
            <a:r>
              <a:t>public final class Order {</a:t>
            </a:r>
            <a:br/>
            <a:r>
              <a:t>    private final String client;</a:t>
            </a:r>
            <a:br/>
            <a:r>
              <a:t>    private final String instrument;</a:t>
            </a:r>
            <a:br/>
            <a:r>
              <a:t>    private final int quantity;</a:t>
            </a:r>
            <a:br/>
            <a:r>
              <a:t>    private final BigDecimal price;</a:t>
            </a:r>
            <a:br/>
            <a:r>
              <a:t>    private final BigDecimal stopLoss;</a:t>
            </a:r>
            <a:br/>
            <a:r>
              <a:t>    // ... more fields</a:t>
            </a:r>
            <a:br/>
            <a:br/>
            <a:r>
              <a:t>    private Order(Builder b) {</a:t>
            </a:r>
            <a:br/>
            <a:r>
              <a:t>        this.client = b.client;</a:t>
            </a:r>
            <a:br/>
            <a:r>
              <a:t>        this.instrument = b.instrument;</a:t>
            </a:r>
            <a:br/>
            <a:r>
              <a:t>        this.quantity = b.quantity;</a:t>
            </a:r>
            <a:br/>
            <a:r>
              <a:t>        this.price = b.price;</a:t>
            </a:r>
            <a:br/>
            <a:r>
              <a:t>        this.stopLoss = b.stopLoss;</a:t>
            </a:r>
            <a:br/>
            <a:r>
              <a:t>    }</a:t>
            </a:r>
            <a:br/>
            <a:br/>
            <a:r>
              <a:t>    public static Builder builder() {</a:t>
            </a:r>
            <a:br/>
            <a:r>
              <a:t>        return new Builder();</a:t>
            </a:r>
            <a:br/>
            <a:r>
              <a:t>    }</a:t>
            </a:r>
            <a:br/>
            <a:br/>
            <a:r>
              <a:t>    // static inner Builder class</a:t>
            </a:r>
            <a:br/>
            <a:r>
              <a:t>    public static class Builder {</a:t>
            </a:r>
            <a:br/>
            <a:r>
              <a:t>        private String client;</a:t>
            </a:r>
            <a:br/>
            <a:r>
              <a:t>        private String instrument;</a:t>
            </a:r>
            <a:br/>
            <a:r>
              <a:t>        private int quantity;</a:t>
            </a:r>
            <a:br/>
            <a:r>
              <a:t>        private BigDecimal price;</a:t>
            </a:r>
            <a:br/>
            <a:r>
              <a:t>        private BigDecimal stopLoss;</a:t>
            </a:r>
          </a:p>
        </p:txBody>
      </p:sp>
      <p:sp>
        <p:nvSpPr>
          <p:cNvPr id="10" name="Rectangle 9"/>
          <p:cNvSpPr/>
          <p:nvPr/>
        </p:nvSpPr>
        <p:spPr>
          <a:xfrm>
            <a:off x="6309360" y="1645920"/>
            <a:ext cx="5577840" cy="365760"/>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492240" y="1664208"/>
            <a:ext cx="5029200" cy="329184"/>
          </a:xfrm>
          <a:prstGeom prst="rect">
            <a:avLst/>
          </a:prstGeom>
          <a:noFill/>
        </p:spPr>
        <p:txBody>
          <a:bodyPr wrap="square"/>
          <a:lstStyle/>
          <a:p>
            <a:pPr algn="l">
              <a:spcBef>
                <a:spcPts val="0"/>
              </a:spcBef>
              <a:spcAft>
                <a:spcPts val="0"/>
              </a:spcAft>
              <a:defRPr sz="1200" b="1" i="0">
                <a:solidFill>
                  <a:srgbClr val="FFFFFF"/>
                </a:solidFill>
                <a:latin typeface="Calibri"/>
              </a:defRPr>
            </a:pPr>
            <a:r>
              <a:t>Fluent setters + Usage</a:t>
            </a:r>
          </a:p>
        </p:txBody>
      </p:sp>
      <p:sp>
        <p:nvSpPr>
          <p:cNvPr id="12" name="Rectangle 11"/>
          <p:cNvSpPr/>
          <p:nvPr/>
        </p:nvSpPr>
        <p:spPr>
          <a:xfrm>
            <a:off x="6309360" y="2011680"/>
            <a:ext cx="5577840" cy="3840480"/>
          </a:xfrm>
          <a:prstGeom prst="rect">
            <a:avLst/>
          </a:prstGeom>
          <a:solidFill>
            <a:srgbClr val="282C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492240" y="2103120"/>
            <a:ext cx="5212080" cy="3657600"/>
          </a:xfrm>
          <a:prstGeom prst="rect">
            <a:avLst/>
          </a:prstGeom>
          <a:noFill/>
        </p:spPr>
        <p:txBody>
          <a:bodyPr wrap="square"/>
          <a:lstStyle/>
          <a:p>
            <a:pPr algn="l">
              <a:spcBef>
                <a:spcPts val="0"/>
              </a:spcBef>
              <a:spcAft>
                <a:spcPts val="0"/>
              </a:spcAft>
              <a:defRPr sz="900" b="0" i="0">
                <a:solidFill>
                  <a:srgbClr val="ABB2BF"/>
                </a:solidFill>
                <a:latin typeface="Consolas"/>
              </a:defRPr>
            </a:pPr>
            <a:r>
              <a:t>        // continued...</a:t>
            </a:r>
            <a:br/>
            <a:r>
              <a:t>        public Builder client(String c) {</a:t>
            </a:r>
            <a:br/>
            <a:r>
              <a:t>            this.client = c;</a:t>
            </a:r>
            <a:br/>
            <a:r>
              <a:t>            return this;</a:t>
            </a:r>
            <a:br/>
            <a:r>
              <a:t>        }</a:t>
            </a:r>
            <a:br/>
            <a:r>
              <a:t>        public Builder instrument(String i) {</a:t>
            </a:r>
            <a:br/>
            <a:r>
              <a:t>            this.instrument = i;</a:t>
            </a:r>
            <a:br/>
            <a:r>
              <a:t>            return this;</a:t>
            </a:r>
            <a:br/>
            <a:r>
              <a:t>        }</a:t>
            </a:r>
            <a:br/>
            <a:r>
              <a:t>        public Builder quantity(int q) {</a:t>
            </a:r>
            <a:br/>
            <a:r>
              <a:t>            this.quantity = q;</a:t>
            </a:r>
            <a:br/>
            <a:r>
              <a:t>            return this;</a:t>
            </a:r>
            <a:br/>
            <a:r>
              <a:t>        }</a:t>
            </a:r>
            <a:br/>
            <a:r>
              <a:t>        // ... other fluent setters</a:t>
            </a:r>
            <a:br/>
            <a:br/>
            <a:r>
              <a:t>        public Order build() {</a:t>
            </a:r>
            <a:br/>
            <a:r>
              <a:t>            // Validate before constructing</a:t>
            </a:r>
            <a:br/>
            <a:r>
              <a:t>            Objects.requireNonNull(client);</a:t>
            </a:r>
            <a:br/>
            <a:r>
              <a:t>            Objects.requireNonNull(instrument);</a:t>
            </a:r>
            <a:br/>
            <a:r>
              <a:t>            if (quantity &lt;= 0)</a:t>
            </a:r>
            <a:br/>
            <a:r>
              <a:t>                throw new IllegalStateException(</a:t>
            </a:r>
            <a:br/>
            <a:r>
              <a:t>                    "Quantity must be positive");</a:t>
            </a:r>
            <a:br/>
            <a:r>
              <a:t>            return new Order(this);</a:t>
            </a:r>
            <a:br/>
            <a:r>
              <a:t>        }</a:t>
            </a:r>
            <a:br/>
            <a:r>
              <a:t>    }</a:t>
            </a:r>
            <a:br/>
            <a:r>
              <a:t>}</a:t>
            </a:r>
            <a:br/>
            <a:br/>
            <a:r>
              <a:t>// Usage</a:t>
            </a:r>
            <a:br/>
            <a:r>
              <a:t>Order order = Order.builder()</a:t>
            </a:r>
            <a:br/>
            <a:r>
              <a:t>    .client("UC-BUCHAREST-001")</a:t>
            </a:r>
            <a:br/>
            <a:r>
              <a:t>    .instrument("AAPL")</a:t>
            </a:r>
            <a:br/>
            <a:r>
              <a:t>    .quantity(100)</a:t>
            </a:r>
            <a:br/>
            <a:r>
              <a:t>    .price(new BigDecimal("182.50"))</a:t>
            </a:r>
            <a:br/>
            <a:r>
              <a:t>    .stopLoss(new BigDecimal("175.00"))</a:t>
            </a:r>
            <a:br/>
            <a:r>
              <a:t>    .build();</a:t>
            </a:r>
          </a:p>
        </p:txBody>
      </p:sp>
      <p:sp>
        <p:nvSpPr>
          <p:cNvPr id="14" name="Rectangle 13"/>
          <p:cNvSpPr/>
          <p:nvPr/>
        </p:nvSpPr>
        <p:spPr>
          <a:xfrm>
            <a:off x="0" y="6492240"/>
            <a:ext cx="12192000" cy="365760"/>
          </a:xfrm>
          <a:prstGeom prst="rect">
            <a:avLst/>
          </a:prstGeom>
          <a:solidFill>
            <a:srgbClr val="BD27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57200" y="6528816"/>
            <a:ext cx="3657600" cy="274320"/>
          </a:xfrm>
          <a:prstGeom prst="rect">
            <a:avLst/>
          </a:prstGeom>
          <a:noFill/>
        </p:spPr>
        <p:txBody>
          <a:bodyPr wrap="square"/>
          <a:lstStyle/>
          <a:p>
            <a:pPr algn="l">
              <a:spcBef>
                <a:spcPts val="0"/>
              </a:spcBef>
              <a:spcAft>
                <a:spcPts val="0"/>
              </a:spcAft>
              <a:defRPr sz="900" b="0" i="0">
                <a:solidFill>
                  <a:srgbClr val="FFFFFF"/>
                </a:solidFill>
                <a:latin typeface="Calibri Light"/>
              </a:defRPr>
            </a:pPr>
            <a:r>
              <a:t>www.overnet.education</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54864"/>
          </a:xfrm>
          <a:prstGeom prst="rect">
            <a:avLst/>
          </a:prstGeom>
          <a:solidFill>
            <a:srgbClr val="BD27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182880"/>
            <a:ext cx="457200" cy="320040"/>
          </a:xfrm>
          <a:prstGeom prst="rect">
            <a:avLst/>
          </a:prstGeom>
          <a:noFill/>
        </p:spPr>
        <p:txBody>
          <a:bodyPr wrap="square"/>
          <a:lstStyle/>
          <a:p>
            <a:pPr algn="l">
              <a:spcBef>
                <a:spcPts val="0"/>
              </a:spcBef>
              <a:spcAft>
                <a:spcPts val="0"/>
              </a:spcAft>
              <a:defRPr sz="1300" b="1" i="0">
                <a:solidFill>
                  <a:srgbClr val="BD2716"/>
                </a:solidFill>
                <a:latin typeface="Calibri"/>
              </a:defRPr>
            </a:pPr>
            <a:r>
              <a:t>2.2</a:t>
            </a:r>
          </a:p>
        </p:txBody>
      </p:sp>
      <p:sp>
        <p:nvSpPr>
          <p:cNvPr id="4" name="TextBox 3"/>
          <p:cNvSpPr txBox="1"/>
          <p:nvPr/>
        </p:nvSpPr>
        <p:spPr>
          <a:xfrm>
            <a:off x="822960" y="182880"/>
            <a:ext cx="7315200" cy="320040"/>
          </a:xfrm>
          <a:prstGeom prst="rect">
            <a:avLst/>
          </a:prstGeom>
          <a:noFill/>
        </p:spPr>
        <p:txBody>
          <a:bodyPr wrap="square"/>
          <a:lstStyle/>
          <a:p>
            <a:pPr algn="l">
              <a:spcBef>
                <a:spcPts val="0"/>
              </a:spcBef>
              <a:spcAft>
                <a:spcPts val="0"/>
              </a:spcAft>
              <a:defRPr sz="1100" b="0" i="0">
                <a:solidFill>
                  <a:srgbClr val="666666"/>
                </a:solidFill>
                <a:latin typeface="Calibri Light"/>
              </a:defRPr>
            </a:pPr>
            <a:r>
              <a:t>Builder</a:t>
            </a:r>
          </a:p>
        </p:txBody>
      </p:sp>
      <p:sp>
        <p:nvSpPr>
          <p:cNvPr id="5" name="TextBox 4"/>
          <p:cNvSpPr txBox="1"/>
          <p:nvPr/>
        </p:nvSpPr>
        <p:spPr>
          <a:xfrm>
            <a:off x="548640" y="731520"/>
            <a:ext cx="10515600" cy="731520"/>
          </a:xfrm>
          <a:prstGeom prst="rect">
            <a:avLst/>
          </a:prstGeom>
          <a:noFill/>
        </p:spPr>
        <p:txBody>
          <a:bodyPr wrap="square"/>
          <a:lstStyle/>
          <a:p>
            <a:pPr algn="l">
              <a:spcBef>
                <a:spcPts val="0"/>
              </a:spcBef>
              <a:spcAft>
                <a:spcPts val="0"/>
              </a:spcAft>
              <a:defRPr sz="3000" b="1" i="0">
                <a:solidFill>
                  <a:srgbClr val="333333"/>
                </a:solidFill>
                <a:latin typeface="Calibri"/>
              </a:defRPr>
            </a:pPr>
            <a:r>
              <a:t>Builder: Critical Discussion</a:t>
            </a:r>
          </a:p>
        </p:txBody>
      </p:sp>
      <p:sp>
        <p:nvSpPr>
          <p:cNvPr id="6" name="Rectangle 5"/>
          <p:cNvSpPr/>
          <p:nvPr/>
        </p:nvSpPr>
        <p:spPr>
          <a:xfrm>
            <a:off x="457200" y="1645920"/>
            <a:ext cx="5394960" cy="1463040"/>
          </a:xfrm>
          <a:prstGeom prst="rect">
            <a:avLst/>
          </a:prstGeom>
          <a:solidFill>
            <a:srgbClr val="F0FF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457200" y="1645920"/>
            <a:ext cx="73152" cy="1463040"/>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31520" y="1691640"/>
            <a:ext cx="4846320" cy="274320"/>
          </a:xfrm>
          <a:prstGeom prst="rect">
            <a:avLst/>
          </a:prstGeom>
          <a:noFill/>
        </p:spPr>
        <p:txBody>
          <a:bodyPr wrap="square"/>
          <a:lstStyle/>
          <a:p>
            <a:pPr algn="l">
              <a:spcBef>
                <a:spcPts val="0"/>
              </a:spcBef>
              <a:spcAft>
                <a:spcPts val="0"/>
              </a:spcAft>
              <a:defRPr sz="1400" b="1" i="0">
                <a:solidFill>
                  <a:srgbClr val="2E7D32"/>
                </a:solidFill>
                <a:latin typeface="Calibri"/>
              </a:defRPr>
            </a:pPr>
            <a:r>
              <a:t>When to use</a:t>
            </a:r>
          </a:p>
        </p:txBody>
      </p:sp>
      <p:sp>
        <p:nvSpPr>
          <p:cNvPr id="9" name="TextBox 8"/>
          <p:cNvSpPr txBox="1"/>
          <p:nvPr/>
        </p:nvSpPr>
        <p:spPr>
          <a:xfrm>
            <a:off x="731520" y="2011680"/>
            <a:ext cx="4846320" cy="1005840"/>
          </a:xfrm>
          <a:prstGeom prst="rect">
            <a:avLst/>
          </a:prstGeom>
          <a:noFill/>
        </p:spPr>
        <p:txBody>
          <a:bodyPr wrap="square">
            <a:spAutoFit/>
          </a:bodyPr>
          <a:lstStyle/>
          <a:p>
            <a:pPr>
              <a:spcAft>
                <a:spcPts val="400"/>
              </a:spcAft>
              <a:defRPr sz="1100">
                <a:solidFill>
                  <a:srgbClr val="333333"/>
                </a:solidFill>
                <a:latin typeface="Calibri Light"/>
              </a:defRPr>
            </a:pPr>
            <a:r>
              <a:t>Objects with many optional parameters (5+)</a:t>
            </a:r>
          </a:p>
          <a:p>
            <a:pPr>
              <a:spcAft>
                <a:spcPts val="400"/>
              </a:spcAft>
              <a:defRPr sz="1100">
                <a:solidFill>
                  <a:srgbClr val="333333"/>
                </a:solidFill>
                <a:latin typeface="Calibri Light"/>
              </a:defRPr>
            </a:pPr>
            <a:r>
              <a:t>You need immutable objects with validation</a:t>
            </a:r>
          </a:p>
          <a:p>
            <a:pPr>
              <a:spcAft>
                <a:spcPts val="400"/>
              </a:spcAft>
              <a:defRPr sz="1100">
                <a:solidFill>
                  <a:srgbClr val="333333"/>
                </a:solidFill>
                <a:latin typeface="Calibri Light"/>
              </a:defRPr>
            </a:pPr>
            <a:r>
              <a:t>The construction process itself has business logic</a:t>
            </a:r>
          </a:p>
          <a:p>
            <a:pPr>
              <a:spcAft>
                <a:spcPts val="400"/>
              </a:spcAft>
              <a:defRPr sz="1100">
                <a:solidFill>
                  <a:srgbClr val="333333"/>
                </a:solidFill>
                <a:latin typeface="Calibri Light"/>
              </a:defRPr>
            </a:pPr>
            <a:r>
              <a:t>You want a fluent, readable API for creating DTOs or config objects</a:t>
            </a:r>
          </a:p>
        </p:txBody>
      </p:sp>
      <p:sp>
        <p:nvSpPr>
          <p:cNvPr id="10" name="Rectangle 9"/>
          <p:cNvSpPr/>
          <p:nvPr/>
        </p:nvSpPr>
        <p:spPr>
          <a:xfrm>
            <a:off x="6126480" y="1645920"/>
            <a:ext cx="5577840" cy="1463040"/>
          </a:xfrm>
          <a:prstGeom prst="rect">
            <a:avLst/>
          </a:prstGeom>
          <a:solidFill>
            <a:srgbClr val="FFF3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126480" y="1645920"/>
            <a:ext cx="73152" cy="1463040"/>
          </a:xfrm>
          <a:prstGeom prst="rect">
            <a:avLst/>
          </a:prstGeom>
          <a:solidFill>
            <a:srgbClr val="BD27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400800" y="1691640"/>
            <a:ext cx="5029200" cy="274320"/>
          </a:xfrm>
          <a:prstGeom prst="rect">
            <a:avLst/>
          </a:prstGeom>
          <a:noFill/>
        </p:spPr>
        <p:txBody>
          <a:bodyPr wrap="square"/>
          <a:lstStyle/>
          <a:p>
            <a:pPr algn="l">
              <a:spcBef>
                <a:spcPts val="0"/>
              </a:spcBef>
              <a:spcAft>
                <a:spcPts val="0"/>
              </a:spcAft>
              <a:defRPr sz="1400" b="1" i="0">
                <a:solidFill>
                  <a:srgbClr val="BD2716"/>
                </a:solidFill>
                <a:latin typeface="Calibri"/>
              </a:defRPr>
            </a:pPr>
            <a:r>
              <a:t>When to avoid</a:t>
            </a:r>
          </a:p>
        </p:txBody>
      </p:sp>
      <p:sp>
        <p:nvSpPr>
          <p:cNvPr id="13" name="TextBox 12"/>
          <p:cNvSpPr txBox="1"/>
          <p:nvPr/>
        </p:nvSpPr>
        <p:spPr>
          <a:xfrm>
            <a:off x="6400800" y="2011680"/>
            <a:ext cx="5029200" cy="1005840"/>
          </a:xfrm>
          <a:prstGeom prst="rect">
            <a:avLst/>
          </a:prstGeom>
          <a:noFill/>
        </p:spPr>
        <p:txBody>
          <a:bodyPr wrap="square">
            <a:spAutoFit/>
          </a:bodyPr>
          <a:lstStyle/>
          <a:p>
            <a:pPr>
              <a:spcAft>
                <a:spcPts val="400"/>
              </a:spcAft>
              <a:defRPr sz="1100">
                <a:solidFill>
                  <a:srgbClr val="333333"/>
                </a:solidFill>
                <a:latin typeface="Calibri Light"/>
              </a:defRPr>
            </a:pPr>
            <a:r>
              <a:t>Simple objects with 2-3 required fields — a constructor is fine</a:t>
            </a:r>
          </a:p>
          <a:p>
            <a:pPr>
              <a:spcAft>
                <a:spcPts val="400"/>
              </a:spcAft>
              <a:defRPr sz="1100">
                <a:solidFill>
                  <a:srgbClr val="333333"/>
                </a:solidFill>
                <a:latin typeface="Calibri Light"/>
              </a:defRPr>
            </a:pPr>
            <a:r>
              <a:t>All fields are always required — Builder adds no clarity</a:t>
            </a:r>
          </a:p>
          <a:p>
            <a:pPr>
              <a:spcAft>
                <a:spcPts val="400"/>
              </a:spcAft>
              <a:defRPr sz="1100">
                <a:solidFill>
                  <a:srgbClr val="333333"/>
                </a:solidFill>
                <a:latin typeface="Calibri Light"/>
              </a:defRPr>
            </a:pPr>
            <a:r>
              <a:t>The team uses Lombok @Builder everywhere without thinking about it</a:t>
            </a:r>
          </a:p>
        </p:txBody>
      </p:sp>
      <p:sp>
        <p:nvSpPr>
          <p:cNvPr id="14" name="Rectangle 13"/>
          <p:cNvSpPr/>
          <p:nvPr/>
        </p:nvSpPr>
        <p:spPr>
          <a:xfrm>
            <a:off x="457200" y="3383280"/>
            <a:ext cx="11247120" cy="1188720"/>
          </a:xfrm>
          <a:prstGeom prst="rect">
            <a:avLst/>
          </a:prstGeom>
          <a:solidFill>
            <a:srgbClr val="FFF8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457200" y="3383280"/>
            <a:ext cx="73152" cy="1188720"/>
          </a:xfrm>
          <a:prstGeom prst="rect">
            <a:avLst/>
          </a:prstGeom>
          <a:solidFill>
            <a:srgbClr val="E8A3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31520" y="3429000"/>
            <a:ext cx="10698480" cy="274320"/>
          </a:xfrm>
          <a:prstGeom prst="rect">
            <a:avLst/>
          </a:prstGeom>
          <a:noFill/>
        </p:spPr>
        <p:txBody>
          <a:bodyPr wrap="square"/>
          <a:lstStyle/>
          <a:p>
            <a:pPr algn="l">
              <a:spcBef>
                <a:spcPts val="0"/>
              </a:spcBef>
              <a:spcAft>
                <a:spcPts val="0"/>
              </a:spcAft>
              <a:defRPr sz="1400" b="1" i="0">
                <a:solidFill>
                  <a:srgbClr val="E8A317"/>
                </a:solidFill>
                <a:latin typeface="Calibri"/>
              </a:defRPr>
            </a:pPr>
            <a:r>
              <a:t>Modern Java perspective</a:t>
            </a:r>
          </a:p>
        </p:txBody>
      </p:sp>
      <p:sp>
        <p:nvSpPr>
          <p:cNvPr id="17" name="TextBox 16"/>
          <p:cNvSpPr txBox="1"/>
          <p:nvPr/>
        </p:nvSpPr>
        <p:spPr>
          <a:xfrm>
            <a:off x="731520" y="3749039"/>
            <a:ext cx="10698480" cy="731520"/>
          </a:xfrm>
          <a:prstGeom prst="rect">
            <a:avLst/>
          </a:prstGeom>
          <a:noFill/>
        </p:spPr>
        <p:txBody>
          <a:bodyPr wrap="square"/>
          <a:lstStyle/>
          <a:p>
            <a:pPr algn="l">
              <a:spcBef>
                <a:spcPts val="0"/>
              </a:spcBef>
              <a:spcAft>
                <a:spcPts val="0"/>
              </a:spcAft>
              <a:defRPr sz="1200" b="0" i="0">
                <a:solidFill>
                  <a:srgbClr val="333333"/>
                </a:solidFill>
                <a:latin typeface="Calibri Light"/>
              </a:defRPr>
            </a:pPr>
            <a:r>
              <a:t>Lombok @Builder and Java records reduce boilerplate dramatically. Records work well for simple value objects, but Builder remains valuable when you need validation logic, optional fields, or a fluent DSL. Consider records + a static factory method for simpler cases.</a:t>
            </a:r>
          </a:p>
        </p:txBody>
      </p:sp>
      <p:sp>
        <p:nvSpPr>
          <p:cNvPr id="18" name="Rectangle 17"/>
          <p:cNvSpPr/>
          <p:nvPr/>
        </p:nvSpPr>
        <p:spPr>
          <a:xfrm>
            <a:off x="457200" y="4846320"/>
            <a:ext cx="11247120" cy="109728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31520" y="4892040"/>
            <a:ext cx="10698480" cy="274320"/>
          </a:xfrm>
          <a:prstGeom prst="rect">
            <a:avLst/>
          </a:prstGeom>
          <a:noFill/>
        </p:spPr>
        <p:txBody>
          <a:bodyPr wrap="square"/>
          <a:lstStyle/>
          <a:p>
            <a:pPr algn="l">
              <a:spcBef>
                <a:spcPts val="0"/>
              </a:spcBef>
              <a:spcAft>
                <a:spcPts val="0"/>
              </a:spcAft>
              <a:defRPr sz="1400" b="1" i="0">
                <a:solidFill>
                  <a:srgbClr val="1565C0"/>
                </a:solidFill>
                <a:latin typeface="Calibri"/>
              </a:defRPr>
            </a:pPr>
            <a:r>
              <a:t>Related Patterns</a:t>
            </a:r>
          </a:p>
        </p:txBody>
      </p:sp>
      <p:sp>
        <p:nvSpPr>
          <p:cNvPr id="20" name="TextBox 19"/>
          <p:cNvSpPr txBox="1"/>
          <p:nvPr/>
        </p:nvSpPr>
        <p:spPr>
          <a:xfrm>
            <a:off x="731520" y="5212080"/>
            <a:ext cx="10698480" cy="640080"/>
          </a:xfrm>
          <a:prstGeom prst="rect">
            <a:avLst/>
          </a:prstGeom>
          <a:noFill/>
        </p:spPr>
        <p:txBody>
          <a:bodyPr wrap="square"/>
          <a:lstStyle/>
          <a:p>
            <a:pPr algn="l">
              <a:spcBef>
                <a:spcPts val="0"/>
              </a:spcBef>
              <a:spcAft>
                <a:spcPts val="0"/>
              </a:spcAft>
              <a:defRPr sz="1200" b="0" i="0">
                <a:solidFill>
                  <a:srgbClr val="333333"/>
                </a:solidFill>
                <a:latin typeface="Calibri Light"/>
              </a:defRPr>
            </a:pPr>
            <a:r>
              <a:t>Abstract Factory – AF can use Builder internally. Prototype – Builder constructs, Prototype copies. Composite – Builder is often used to assemble Composite trees step by step.</a:t>
            </a:r>
          </a:p>
        </p:txBody>
      </p:sp>
      <p:sp>
        <p:nvSpPr>
          <p:cNvPr id="21" name="Rectangle 20"/>
          <p:cNvSpPr/>
          <p:nvPr/>
        </p:nvSpPr>
        <p:spPr>
          <a:xfrm>
            <a:off x="0" y="6492240"/>
            <a:ext cx="12192000" cy="365760"/>
          </a:xfrm>
          <a:prstGeom prst="rect">
            <a:avLst/>
          </a:prstGeom>
          <a:solidFill>
            <a:srgbClr val="BD27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57200" y="6528816"/>
            <a:ext cx="3657600" cy="274320"/>
          </a:xfrm>
          <a:prstGeom prst="rect">
            <a:avLst/>
          </a:prstGeom>
          <a:noFill/>
        </p:spPr>
        <p:txBody>
          <a:bodyPr wrap="square"/>
          <a:lstStyle/>
          <a:p>
            <a:pPr algn="l">
              <a:spcBef>
                <a:spcPts val="0"/>
              </a:spcBef>
              <a:spcAft>
                <a:spcPts val="0"/>
              </a:spcAft>
              <a:defRPr sz="900" b="0" i="0">
                <a:solidFill>
                  <a:srgbClr val="FFFFFF"/>
                </a:solidFill>
                <a:latin typeface="Calibri Light"/>
              </a:defRPr>
            </a:pPr>
            <a:r>
              <a:t>www.overnet.education</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1E1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2000" cy="73152"/>
          </a:xfrm>
          <a:prstGeom prst="rect">
            <a:avLst/>
          </a:prstGeom>
          <a:solidFill>
            <a:srgbClr val="BD27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1371600"/>
            <a:ext cx="10058400" cy="457200"/>
          </a:xfrm>
          <a:prstGeom prst="rect">
            <a:avLst/>
          </a:prstGeom>
          <a:noFill/>
        </p:spPr>
        <p:txBody>
          <a:bodyPr wrap="square"/>
          <a:lstStyle/>
          <a:p>
            <a:pPr algn="l">
              <a:spcBef>
                <a:spcPts val="0"/>
              </a:spcBef>
              <a:spcAft>
                <a:spcPts val="0"/>
              </a:spcAft>
              <a:defRPr sz="1600" b="0" i="0">
                <a:solidFill>
                  <a:srgbClr val="AAAABB"/>
                </a:solidFill>
                <a:latin typeface="Calibri Light"/>
              </a:defRPr>
            </a:pPr>
            <a:r>
              <a:t>Creational Pattern</a:t>
            </a:r>
          </a:p>
        </p:txBody>
      </p:sp>
      <p:sp>
        <p:nvSpPr>
          <p:cNvPr id="5" name="TextBox 4"/>
          <p:cNvSpPr txBox="1"/>
          <p:nvPr/>
        </p:nvSpPr>
        <p:spPr>
          <a:xfrm>
            <a:off x="548640" y="2011680"/>
            <a:ext cx="10058400" cy="914400"/>
          </a:xfrm>
          <a:prstGeom prst="rect">
            <a:avLst/>
          </a:prstGeom>
          <a:noFill/>
        </p:spPr>
        <p:txBody>
          <a:bodyPr wrap="square"/>
          <a:lstStyle/>
          <a:p>
            <a:pPr algn="l">
              <a:spcBef>
                <a:spcPts val="0"/>
              </a:spcBef>
              <a:spcAft>
                <a:spcPts val="0"/>
              </a:spcAft>
              <a:defRPr sz="4400" b="1" i="0">
                <a:solidFill>
                  <a:srgbClr val="FFFFFF"/>
                </a:solidFill>
                <a:latin typeface="Calibri"/>
              </a:defRPr>
            </a:pPr>
            <a:r>
              <a:t>Factory Method</a:t>
            </a:r>
          </a:p>
        </p:txBody>
      </p:sp>
      <p:sp>
        <p:nvSpPr>
          <p:cNvPr id="6" name="Rectangle 5"/>
          <p:cNvSpPr/>
          <p:nvPr/>
        </p:nvSpPr>
        <p:spPr>
          <a:xfrm>
            <a:off x="548640" y="3017520"/>
            <a:ext cx="2286000" cy="54864"/>
          </a:xfrm>
          <a:prstGeom prst="rect">
            <a:avLst/>
          </a:prstGeom>
          <a:solidFill>
            <a:srgbClr val="BD27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48640" y="3291840"/>
            <a:ext cx="10058400" cy="457200"/>
          </a:xfrm>
          <a:prstGeom prst="rect">
            <a:avLst/>
          </a:prstGeom>
          <a:noFill/>
        </p:spPr>
        <p:txBody>
          <a:bodyPr wrap="square"/>
          <a:lstStyle/>
          <a:p>
            <a:pPr algn="l">
              <a:spcBef>
                <a:spcPts val="0"/>
              </a:spcBef>
              <a:spcAft>
                <a:spcPts val="0"/>
              </a:spcAft>
              <a:defRPr sz="1800" b="0" i="0">
                <a:solidFill>
                  <a:srgbClr val="BD2716"/>
                </a:solidFill>
                <a:latin typeface="Calibri Light"/>
              </a:defRPr>
            </a:pPr>
            <a:r>
              <a:t>Let subclasses decide</a:t>
            </a:r>
          </a:p>
        </p:txBody>
      </p:sp>
      <p:sp>
        <p:nvSpPr>
          <p:cNvPr id="8" name="Rectangle 7"/>
          <p:cNvSpPr/>
          <p:nvPr/>
        </p:nvSpPr>
        <p:spPr>
          <a:xfrm>
            <a:off x="548640" y="4114800"/>
            <a:ext cx="10515600" cy="1097280"/>
          </a:xfrm>
          <a:prstGeom prst="rect">
            <a:avLst/>
          </a:prstGeom>
          <a:solidFill>
            <a:srgbClr val="282C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548640" y="4114800"/>
            <a:ext cx="73152" cy="1097280"/>
          </a:xfrm>
          <a:prstGeom prst="rect">
            <a:avLst/>
          </a:prstGeom>
          <a:solidFill>
            <a:srgbClr val="BD27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68680" y="4206240"/>
            <a:ext cx="9966960" cy="914400"/>
          </a:xfrm>
          <a:prstGeom prst="rect">
            <a:avLst/>
          </a:prstGeom>
          <a:noFill/>
        </p:spPr>
        <p:txBody>
          <a:bodyPr wrap="square">
            <a:spAutoFit/>
          </a:bodyPr>
          <a:lstStyle/>
          <a:p>
            <a:pPr algn="l"/>
            <a:r>
              <a:rPr sz="1400" b="1" i="0">
                <a:solidFill>
                  <a:srgbClr val="BD2716"/>
                </a:solidFill>
                <a:latin typeface="Calibri"/>
              </a:rPr>
              <a:t>Intent: </a:t>
            </a:r>
            <a:r>
              <a:rPr sz="1400" b="0" i="0">
                <a:solidFill>
                  <a:srgbClr val="DDDDEE"/>
                </a:solidFill>
                <a:latin typeface="Calibri Light"/>
              </a:rPr>
              <a:t>Define an interface for creating an object, but let subclasses decide which class to instantiate. Factory Method lets a class defer instantiation to subclasses.</a:t>
            </a:r>
          </a:p>
        </p:txBody>
      </p:sp>
      <p:sp>
        <p:nvSpPr>
          <p:cNvPr id="11" name="Rectangle 10"/>
          <p:cNvSpPr/>
          <p:nvPr/>
        </p:nvSpPr>
        <p:spPr>
          <a:xfrm>
            <a:off x="0" y="6492240"/>
            <a:ext cx="12192000" cy="365760"/>
          </a:xfrm>
          <a:prstGeom prst="rect">
            <a:avLst/>
          </a:prstGeom>
          <a:solidFill>
            <a:srgbClr val="BD27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57200" y="6528816"/>
            <a:ext cx="3657600" cy="274320"/>
          </a:xfrm>
          <a:prstGeom prst="rect">
            <a:avLst/>
          </a:prstGeom>
          <a:noFill/>
        </p:spPr>
        <p:txBody>
          <a:bodyPr wrap="square"/>
          <a:lstStyle/>
          <a:p>
            <a:pPr algn="l">
              <a:spcBef>
                <a:spcPts val="0"/>
              </a:spcBef>
              <a:spcAft>
                <a:spcPts val="0"/>
              </a:spcAft>
              <a:defRPr sz="900" b="0" i="0">
                <a:solidFill>
                  <a:srgbClr val="FFFFFF"/>
                </a:solidFill>
                <a:latin typeface="Calibri Light"/>
              </a:defRPr>
            </a:pPr>
            <a:r>
              <a:t>www.overnet.education</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54864"/>
          </a:xfrm>
          <a:prstGeom prst="rect">
            <a:avLst/>
          </a:prstGeom>
          <a:solidFill>
            <a:srgbClr val="BD27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182880"/>
            <a:ext cx="457200" cy="320040"/>
          </a:xfrm>
          <a:prstGeom prst="rect">
            <a:avLst/>
          </a:prstGeom>
          <a:noFill/>
        </p:spPr>
        <p:txBody>
          <a:bodyPr wrap="square"/>
          <a:lstStyle/>
          <a:p>
            <a:pPr algn="l">
              <a:spcBef>
                <a:spcPts val="0"/>
              </a:spcBef>
              <a:spcAft>
                <a:spcPts val="0"/>
              </a:spcAft>
              <a:defRPr sz="1300" b="1" i="0">
                <a:solidFill>
                  <a:srgbClr val="BD2716"/>
                </a:solidFill>
                <a:latin typeface="Calibri"/>
              </a:defRPr>
            </a:pPr>
            <a:r>
              <a:t>2.3</a:t>
            </a:r>
          </a:p>
        </p:txBody>
      </p:sp>
      <p:sp>
        <p:nvSpPr>
          <p:cNvPr id="4" name="TextBox 3"/>
          <p:cNvSpPr txBox="1"/>
          <p:nvPr/>
        </p:nvSpPr>
        <p:spPr>
          <a:xfrm>
            <a:off x="822960" y="182880"/>
            <a:ext cx="7315200" cy="320040"/>
          </a:xfrm>
          <a:prstGeom prst="rect">
            <a:avLst/>
          </a:prstGeom>
          <a:noFill/>
        </p:spPr>
        <p:txBody>
          <a:bodyPr wrap="square"/>
          <a:lstStyle/>
          <a:p>
            <a:pPr algn="l">
              <a:spcBef>
                <a:spcPts val="0"/>
              </a:spcBef>
              <a:spcAft>
                <a:spcPts val="0"/>
              </a:spcAft>
              <a:defRPr sz="1100" b="0" i="0">
                <a:solidFill>
                  <a:srgbClr val="666666"/>
                </a:solidFill>
                <a:latin typeface="Calibri Light"/>
              </a:defRPr>
            </a:pPr>
            <a:r>
              <a:t>Factory Method</a:t>
            </a:r>
          </a:p>
        </p:txBody>
      </p:sp>
      <p:sp>
        <p:nvSpPr>
          <p:cNvPr id="5" name="TextBox 4"/>
          <p:cNvSpPr txBox="1"/>
          <p:nvPr/>
        </p:nvSpPr>
        <p:spPr>
          <a:xfrm>
            <a:off x="548640" y="731520"/>
            <a:ext cx="10515600" cy="731520"/>
          </a:xfrm>
          <a:prstGeom prst="rect">
            <a:avLst/>
          </a:prstGeom>
          <a:noFill/>
        </p:spPr>
        <p:txBody>
          <a:bodyPr wrap="square"/>
          <a:lstStyle/>
          <a:p>
            <a:pPr algn="l">
              <a:spcBef>
                <a:spcPts val="0"/>
              </a:spcBef>
              <a:spcAft>
                <a:spcPts val="0"/>
              </a:spcAft>
              <a:defRPr sz="3200" b="1" i="0">
                <a:solidFill>
                  <a:srgbClr val="333333"/>
                </a:solidFill>
                <a:latin typeface="Calibri"/>
              </a:defRPr>
            </a:pPr>
            <a:r>
              <a:t>Factory Method: Structure &amp; Consequences</a:t>
            </a:r>
          </a:p>
        </p:txBody>
      </p:sp>
      <p:sp>
        <p:nvSpPr>
          <p:cNvPr id="6" name="Rectangle 5"/>
          <p:cNvSpPr/>
          <p:nvPr/>
        </p:nvSpPr>
        <p:spPr>
          <a:xfrm>
            <a:off x="457200" y="1645920"/>
            <a:ext cx="11247120" cy="109728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457200" y="1645920"/>
            <a:ext cx="73152" cy="1097280"/>
          </a:xfrm>
          <a:prstGeom prst="rect">
            <a:avLst/>
          </a:prstGeom>
          <a:solidFill>
            <a:srgbClr val="BD27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31520" y="1691640"/>
            <a:ext cx="1828800" cy="274320"/>
          </a:xfrm>
          <a:prstGeom prst="rect">
            <a:avLst/>
          </a:prstGeom>
          <a:noFill/>
        </p:spPr>
        <p:txBody>
          <a:bodyPr wrap="square"/>
          <a:lstStyle/>
          <a:p>
            <a:pPr algn="l">
              <a:spcBef>
                <a:spcPts val="0"/>
              </a:spcBef>
              <a:spcAft>
                <a:spcPts val="0"/>
              </a:spcAft>
              <a:defRPr sz="1300" b="1" i="0">
                <a:solidFill>
                  <a:srgbClr val="BD2716"/>
                </a:solidFill>
                <a:latin typeface="Calibri"/>
              </a:defRPr>
            </a:pPr>
            <a:r>
              <a:t>Motivation</a:t>
            </a:r>
          </a:p>
        </p:txBody>
      </p:sp>
      <p:sp>
        <p:nvSpPr>
          <p:cNvPr id="9" name="TextBox 8"/>
          <p:cNvSpPr txBox="1"/>
          <p:nvPr/>
        </p:nvSpPr>
        <p:spPr>
          <a:xfrm>
            <a:off x="731520" y="1965960"/>
            <a:ext cx="10698480" cy="685800"/>
          </a:xfrm>
          <a:prstGeom prst="rect">
            <a:avLst/>
          </a:prstGeom>
          <a:noFill/>
        </p:spPr>
        <p:txBody>
          <a:bodyPr wrap="square"/>
          <a:lstStyle/>
          <a:p>
            <a:pPr algn="l">
              <a:spcBef>
                <a:spcPts val="0"/>
              </a:spcBef>
              <a:spcAft>
                <a:spcPts val="0"/>
              </a:spcAft>
              <a:defRPr sz="1200" b="0" i="0">
                <a:solidFill>
                  <a:srgbClr val="333333"/>
                </a:solidFill>
                <a:latin typeface="Calibri Light"/>
              </a:defRPr>
            </a:pPr>
            <a:r>
              <a:t>A notification service needs to send messages via different channels: email, SMS, push notification. The core sending logic (retry, logging, auditing) is identical, but the actual message creation differs per channel. Factory Method lets each channel subclass create its own message type while the base class handles the common workflow.</a:t>
            </a:r>
          </a:p>
        </p:txBody>
      </p:sp>
      <p:sp>
        <p:nvSpPr>
          <p:cNvPr id="10" name="TextBox 9"/>
          <p:cNvSpPr txBox="1"/>
          <p:nvPr/>
        </p:nvSpPr>
        <p:spPr>
          <a:xfrm>
            <a:off x="457200" y="2926080"/>
            <a:ext cx="2743200" cy="274320"/>
          </a:xfrm>
          <a:prstGeom prst="rect">
            <a:avLst/>
          </a:prstGeom>
          <a:noFill/>
        </p:spPr>
        <p:txBody>
          <a:bodyPr wrap="square"/>
          <a:lstStyle/>
          <a:p>
            <a:pPr algn="l">
              <a:spcBef>
                <a:spcPts val="0"/>
              </a:spcBef>
              <a:spcAft>
                <a:spcPts val="0"/>
              </a:spcAft>
              <a:defRPr sz="1400" b="1" i="0">
                <a:solidFill>
                  <a:srgbClr val="1565C0"/>
                </a:solidFill>
                <a:latin typeface="Calibri"/>
              </a:defRPr>
            </a:pPr>
            <a:r>
              <a:t>Participants</a:t>
            </a:r>
          </a:p>
        </p:txBody>
      </p:sp>
      <p:sp>
        <p:nvSpPr>
          <p:cNvPr id="11" name="TextBox 10"/>
          <p:cNvSpPr txBox="1"/>
          <p:nvPr/>
        </p:nvSpPr>
        <p:spPr>
          <a:xfrm>
            <a:off x="640080" y="3246120"/>
            <a:ext cx="10972800" cy="1371600"/>
          </a:xfrm>
          <a:prstGeom prst="rect">
            <a:avLst/>
          </a:prstGeom>
          <a:noFill/>
        </p:spPr>
        <p:txBody>
          <a:bodyPr wrap="square">
            <a:spAutoFit/>
          </a:bodyPr>
          <a:lstStyle/>
          <a:p>
            <a:pPr>
              <a:spcAft>
                <a:spcPts val="400"/>
              </a:spcAft>
              <a:defRPr sz="1200">
                <a:solidFill>
                  <a:srgbClr val="333333"/>
                </a:solidFill>
                <a:latin typeface="Calibri Light"/>
              </a:defRPr>
            </a:pPr>
            <a:r>
              <a:t>Creator – abstract class that declares the factory method and may provide default implementation</a:t>
            </a:r>
          </a:p>
          <a:p>
            <a:pPr>
              <a:spcAft>
                <a:spcPts val="400"/>
              </a:spcAft>
              <a:defRPr sz="1200">
                <a:solidFill>
                  <a:srgbClr val="333333"/>
                </a:solidFill>
                <a:latin typeface="Calibri Light"/>
              </a:defRPr>
            </a:pPr>
            <a:r>
              <a:t>ConcreteCreator – overrides the factory method to return a specific product (e.g., EmailNotificationSender)</a:t>
            </a:r>
          </a:p>
          <a:p>
            <a:pPr>
              <a:spcAft>
                <a:spcPts val="400"/>
              </a:spcAft>
              <a:defRPr sz="1200">
                <a:solidFill>
                  <a:srgbClr val="333333"/>
                </a:solidFill>
                <a:latin typeface="Calibri Light"/>
              </a:defRPr>
            </a:pPr>
            <a:r>
              <a:t>Product – interface for the object being created (e.g., Notification)</a:t>
            </a:r>
          </a:p>
          <a:p>
            <a:pPr>
              <a:spcAft>
                <a:spcPts val="400"/>
              </a:spcAft>
              <a:defRPr sz="1200">
                <a:solidFill>
                  <a:srgbClr val="333333"/>
                </a:solidFill>
                <a:latin typeface="Calibri Light"/>
              </a:defRPr>
            </a:pPr>
            <a:r>
              <a:t>ConcreteProduct – specific implementation (e.g., EmailNotification)</a:t>
            </a:r>
          </a:p>
        </p:txBody>
      </p:sp>
      <p:sp>
        <p:nvSpPr>
          <p:cNvPr id="12" name="Rectangle 11"/>
          <p:cNvSpPr/>
          <p:nvPr/>
        </p:nvSpPr>
        <p:spPr>
          <a:xfrm>
            <a:off x="457200" y="4754880"/>
            <a:ext cx="5394960" cy="1280160"/>
          </a:xfrm>
          <a:prstGeom prst="rect">
            <a:avLst/>
          </a:prstGeom>
          <a:solidFill>
            <a:srgbClr val="F0FF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40080" y="4800600"/>
            <a:ext cx="5029200" cy="274320"/>
          </a:xfrm>
          <a:prstGeom prst="rect">
            <a:avLst/>
          </a:prstGeom>
          <a:noFill/>
        </p:spPr>
        <p:txBody>
          <a:bodyPr wrap="square"/>
          <a:lstStyle/>
          <a:p>
            <a:pPr algn="l">
              <a:spcBef>
                <a:spcPts val="0"/>
              </a:spcBef>
              <a:spcAft>
                <a:spcPts val="0"/>
              </a:spcAft>
              <a:defRPr sz="1300" b="1" i="0">
                <a:solidFill>
                  <a:srgbClr val="2E7D32"/>
                </a:solidFill>
                <a:latin typeface="Calibri"/>
              </a:defRPr>
            </a:pPr>
            <a:r>
              <a:t>✓  Advantages</a:t>
            </a:r>
          </a:p>
        </p:txBody>
      </p:sp>
      <p:sp>
        <p:nvSpPr>
          <p:cNvPr id="14" name="TextBox 13"/>
          <p:cNvSpPr txBox="1"/>
          <p:nvPr/>
        </p:nvSpPr>
        <p:spPr>
          <a:xfrm>
            <a:off x="640080" y="5120640"/>
            <a:ext cx="5029200" cy="822960"/>
          </a:xfrm>
          <a:prstGeom prst="rect">
            <a:avLst/>
          </a:prstGeom>
          <a:noFill/>
        </p:spPr>
        <p:txBody>
          <a:bodyPr wrap="square">
            <a:spAutoFit/>
          </a:bodyPr>
          <a:lstStyle/>
          <a:p>
            <a:pPr>
              <a:spcAft>
                <a:spcPts val="400"/>
              </a:spcAft>
              <a:defRPr sz="1100">
                <a:solidFill>
                  <a:srgbClr val="333333"/>
                </a:solidFill>
                <a:latin typeface="Calibri Light"/>
              </a:defRPr>
            </a:pPr>
            <a:r>
              <a:t>Decouples creation from usage — clients code to the Product interface</a:t>
            </a:r>
          </a:p>
          <a:p>
            <a:pPr>
              <a:spcAft>
                <a:spcPts val="400"/>
              </a:spcAft>
              <a:defRPr sz="1100">
                <a:solidFill>
                  <a:srgbClr val="333333"/>
                </a:solidFill>
                <a:latin typeface="Calibri Light"/>
              </a:defRPr>
            </a:pPr>
            <a:r>
              <a:t>Follows OCP: new products require new creators, no editing existing code</a:t>
            </a:r>
          </a:p>
          <a:p>
            <a:pPr>
              <a:spcAft>
                <a:spcPts val="400"/>
              </a:spcAft>
              <a:defRPr sz="1100">
                <a:solidFill>
                  <a:srgbClr val="333333"/>
                </a:solidFill>
                <a:latin typeface="Calibri Light"/>
              </a:defRPr>
            </a:pPr>
            <a:r>
              <a:t>The Creator can provide useful default behaviour around the factory method</a:t>
            </a:r>
          </a:p>
        </p:txBody>
      </p:sp>
      <p:sp>
        <p:nvSpPr>
          <p:cNvPr id="15" name="Rectangle 14"/>
          <p:cNvSpPr/>
          <p:nvPr/>
        </p:nvSpPr>
        <p:spPr>
          <a:xfrm>
            <a:off x="6126480" y="4754880"/>
            <a:ext cx="5577840" cy="1280160"/>
          </a:xfrm>
          <a:prstGeom prst="rect">
            <a:avLst/>
          </a:prstGeom>
          <a:solidFill>
            <a:srgbClr val="FFF3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309360" y="4800600"/>
            <a:ext cx="5212080" cy="274320"/>
          </a:xfrm>
          <a:prstGeom prst="rect">
            <a:avLst/>
          </a:prstGeom>
          <a:noFill/>
        </p:spPr>
        <p:txBody>
          <a:bodyPr wrap="square"/>
          <a:lstStyle/>
          <a:p>
            <a:pPr algn="l">
              <a:spcBef>
                <a:spcPts val="0"/>
              </a:spcBef>
              <a:spcAft>
                <a:spcPts val="0"/>
              </a:spcAft>
              <a:defRPr sz="1300" b="1" i="0">
                <a:solidFill>
                  <a:srgbClr val="BD2716"/>
                </a:solidFill>
                <a:latin typeface="Calibri"/>
              </a:defRPr>
            </a:pPr>
            <a:r>
              <a:t>✗  Drawbacks</a:t>
            </a:r>
          </a:p>
        </p:txBody>
      </p:sp>
      <p:sp>
        <p:nvSpPr>
          <p:cNvPr id="17" name="TextBox 16"/>
          <p:cNvSpPr txBox="1"/>
          <p:nvPr/>
        </p:nvSpPr>
        <p:spPr>
          <a:xfrm>
            <a:off x="6309360" y="5120640"/>
            <a:ext cx="5212080" cy="822960"/>
          </a:xfrm>
          <a:prstGeom prst="rect">
            <a:avLst/>
          </a:prstGeom>
          <a:noFill/>
        </p:spPr>
        <p:txBody>
          <a:bodyPr wrap="square">
            <a:spAutoFit/>
          </a:bodyPr>
          <a:lstStyle/>
          <a:p>
            <a:pPr>
              <a:spcAft>
                <a:spcPts val="400"/>
              </a:spcAft>
              <a:defRPr sz="1100">
                <a:solidFill>
                  <a:srgbClr val="333333"/>
                </a:solidFill>
                <a:latin typeface="Calibri Light"/>
              </a:defRPr>
            </a:pPr>
            <a:r>
              <a:t>Class hierarchy can grow quickly with many product types</a:t>
            </a:r>
          </a:p>
          <a:p>
            <a:pPr>
              <a:spcAft>
                <a:spcPts val="400"/>
              </a:spcAft>
              <a:defRPr sz="1100">
                <a:solidFill>
                  <a:srgbClr val="333333"/>
                </a:solidFill>
                <a:latin typeface="Calibri Light"/>
              </a:defRPr>
            </a:pPr>
            <a:r>
              <a:t>Requires subclassing, which can be overkill for simple cases</a:t>
            </a:r>
          </a:p>
          <a:p>
            <a:pPr>
              <a:spcAft>
                <a:spcPts val="400"/>
              </a:spcAft>
              <a:defRPr sz="1100">
                <a:solidFill>
                  <a:srgbClr val="333333"/>
                </a:solidFill>
                <a:latin typeface="Calibri Light"/>
              </a:defRPr>
            </a:pPr>
            <a:r>
              <a:t>If all you need is a switch, a static factory or Supplier&lt;T&gt; may suffice</a:t>
            </a:r>
          </a:p>
        </p:txBody>
      </p:sp>
      <p:sp>
        <p:nvSpPr>
          <p:cNvPr id="18" name="Rectangle 17"/>
          <p:cNvSpPr/>
          <p:nvPr/>
        </p:nvSpPr>
        <p:spPr>
          <a:xfrm>
            <a:off x="0" y="6492240"/>
            <a:ext cx="12192000" cy="365760"/>
          </a:xfrm>
          <a:prstGeom prst="rect">
            <a:avLst/>
          </a:prstGeom>
          <a:solidFill>
            <a:srgbClr val="BD27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57200" y="6528816"/>
            <a:ext cx="3657600" cy="274320"/>
          </a:xfrm>
          <a:prstGeom prst="rect">
            <a:avLst/>
          </a:prstGeom>
          <a:noFill/>
        </p:spPr>
        <p:txBody>
          <a:bodyPr wrap="square"/>
          <a:lstStyle/>
          <a:p>
            <a:pPr algn="l">
              <a:spcBef>
                <a:spcPts val="0"/>
              </a:spcBef>
              <a:spcAft>
                <a:spcPts val="0"/>
              </a:spcAft>
              <a:defRPr sz="900" b="0" i="0">
                <a:solidFill>
                  <a:srgbClr val="FFFFFF"/>
                </a:solidFill>
                <a:latin typeface="Calibri Light"/>
              </a:defRPr>
            </a:pPr>
            <a:r>
              <a:t>www.overnet.education</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54864"/>
          </a:xfrm>
          <a:prstGeom prst="rect">
            <a:avLst/>
          </a:prstGeom>
          <a:solidFill>
            <a:srgbClr val="BD27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182880"/>
            <a:ext cx="457200" cy="320040"/>
          </a:xfrm>
          <a:prstGeom prst="rect">
            <a:avLst/>
          </a:prstGeom>
          <a:noFill/>
        </p:spPr>
        <p:txBody>
          <a:bodyPr wrap="square"/>
          <a:lstStyle/>
          <a:p>
            <a:pPr algn="l">
              <a:spcBef>
                <a:spcPts val="0"/>
              </a:spcBef>
              <a:spcAft>
                <a:spcPts val="0"/>
              </a:spcAft>
              <a:defRPr sz="1300" b="1" i="0">
                <a:solidFill>
                  <a:srgbClr val="BD2716"/>
                </a:solidFill>
                <a:latin typeface="Calibri"/>
              </a:defRPr>
            </a:pPr>
            <a:r>
              <a:t>2.3</a:t>
            </a:r>
          </a:p>
        </p:txBody>
      </p:sp>
      <p:sp>
        <p:nvSpPr>
          <p:cNvPr id="4" name="TextBox 3"/>
          <p:cNvSpPr txBox="1"/>
          <p:nvPr/>
        </p:nvSpPr>
        <p:spPr>
          <a:xfrm>
            <a:off x="822960" y="182880"/>
            <a:ext cx="7315200" cy="320040"/>
          </a:xfrm>
          <a:prstGeom prst="rect">
            <a:avLst/>
          </a:prstGeom>
          <a:noFill/>
        </p:spPr>
        <p:txBody>
          <a:bodyPr wrap="square"/>
          <a:lstStyle/>
          <a:p>
            <a:pPr algn="l">
              <a:spcBef>
                <a:spcPts val="0"/>
              </a:spcBef>
              <a:spcAft>
                <a:spcPts val="0"/>
              </a:spcAft>
              <a:defRPr sz="1100" b="0" i="0">
                <a:solidFill>
                  <a:srgbClr val="666666"/>
                </a:solidFill>
                <a:latin typeface="Calibri Light"/>
              </a:defRPr>
            </a:pPr>
            <a:r>
              <a:t>Factory Method</a:t>
            </a:r>
          </a:p>
        </p:txBody>
      </p:sp>
      <p:sp>
        <p:nvSpPr>
          <p:cNvPr id="5" name="TextBox 4"/>
          <p:cNvSpPr txBox="1"/>
          <p:nvPr/>
        </p:nvSpPr>
        <p:spPr>
          <a:xfrm>
            <a:off x="548640" y="731520"/>
            <a:ext cx="10515600" cy="731520"/>
          </a:xfrm>
          <a:prstGeom prst="rect">
            <a:avLst/>
          </a:prstGeom>
          <a:noFill/>
        </p:spPr>
        <p:txBody>
          <a:bodyPr wrap="square"/>
          <a:lstStyle/>
          <a:p>
            <a:pPr algn="l">
              <a:spcBef>
                <a:spcPts val="0"/>
              </a:spcBef>
              <a:spcAft>
                <a:spcPts val="0"/>
              </a:spcAft>
              <a:defRPr sz="3000" b="1" i="0">
                <a:solidFill>
                  <a:srgbClr val="333333"/>
                </a:solidFill>
                <a:latin typeface="Calibri"/>
              </a:defRPr>
            </a:pPr>
            <a:r>
              <a:t>Factory Method: Java Implementation</a:t>
            </a:r>
          </a:p>
        </p:txBody>
      </p:sp>
      <p:sp>
        <p:nvSpPr>
          <p:cNvPr id="6" name="Rectangle 5"/>
          <p:cNvSpPr/>
          <p:nvPr/>
        </p:nvSpPr>
        <p:spPr>
          <a:xfrm>
            <a:off x="457200" y="1645920"/>
            <a:ext cx="5577840" cy="365760"/>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40080" y="1664208"/>
            <a:ext cx="5029200" cy="329184"/>
          </a:xfrm>
          <a:prstGeom prst="rect">
            <a:avLst/>
          </a:prstGeom>
          <a:noFill/>
        </p:spPr>
        <p:txBody>
          <a:bodyPr wrap="square"/>
          <a:lstStyle/>
          <a:p>
            <a:pPr algn="l">
              <a:spcBef>
                <a:spcPts val="0"/>
              </a:spcBef>
              <a:spcAft>
                <a:spcPts val="0"/>
              </a:spcAft>
              <a:defRPr sz="1200" b="1" i="0">
                <a:solidFill>
                  <a:srgbClr val="FFFFFF"/>
                </a:solidFill>
                <a:latin typeface="Calibri"/>
              </a:defRPr>
            </a:pPr>
            <a:r>
              <a:t>Product + Creator</a:t>
            </a:r>
          </a:p>
        </p:txBody>
      </p:sp>
      <p:sp>
        <p:nvSpPr>
          <p:cNvPr id="8" name="Rectangle 7"/>
          <p:cNvSpPr/>
          <p:nvPr/>
        </p:nvSpPr>
        <p:spPr>
          <a:xfrm>
            <a:off x="457200" y="2011680"/>
            <a:ext cx="5577840" cy="3840480"/>
          </a:xfrm>
          <a:prstGeom prst="rect">
            <a:avLst/>
          </a:prstGeom>
          <a:solidFill>
            <a:srgbClr val="282C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40080" y="2103120"/>
            <a:ext cx="5212080" cy="3657600"/>
          </a:xfrm>
          <a:prstGeom prst="rect">
            <a:avLst/>
          </a:prstGeom>
          <a:noFill/>
        </p:spPr>
        <p:txBody>
          <a:bodyPr wrap="square"/>
          <a:lstStyle/>
          <a:p>
            <a:pPr algn="l">
              <a:spcBef>
                <a:spcPts val="0"/>
              </a:spcBef>
              <a:spcAft>
                <a:spcPts val="0"/>
              </a:spcAft>
              <a:defRPr sz="900" b="0" i="0">
                <a:solidFill>
                  <a:srgbClr val="ABB2BF"/>
                </a:solidFill>
                <a:latin typeface="Consolas"/>
              </a:defRPr>
            </a:pPr>
            <a:r>
              <a:t>// Product interface</a:t>
            </a:r>
            <a:br/>
            <a:r>
              <a:t>public interface Notification {</a:t>
            </a:r>
            <a:br/>
            <a:r>
              <a:t>    void send(String recipient, String body);</a:t>
            </a:r>
            <a:br/>
            <a:r>
              <a:t>}</a:t>
            </a:r>
            <a:br/>
            <a:br/>
            <a:r>
              <a:t>// Creator (abstract base)</a:t>
            </a:r>
            <a:br/>
            <a:r>
              <a:t>public abstract class NotificationSender {</a:t>
            </a:r>
            <a:br/>
            <a:br/>
            <a:r>
              <a:t>    // The factory method</a:t>
            </a:r>
            <a:br/>
            <a:r>
              <a:t>    protected abstract Notification</a:t>
            </a:r>
            <a:br/>
            <a:r>
              <a:t>        createNotification();</a:t>
            </a:r>
            <a:br/>
            <a:br/>
            <a:r>
              <a:t>    // Template method using the factory</a:t>
            </a:r>
            <a:br/>
            <a:r>
              <a:t>    public void notify(String recipient,</a:t>
            </a:r>
            <a:br/>
            <a:r>
              <a:t>                       String body) {</a:t>
            </a:r>
            <a:br/>
            <a:r>
              <a:t>        Notification n = createNotification();</a:t>
            </a:r>
            <a:br/>
            <a:r>
              <a:t>        log.info("Sending via {}", </a:t>
            </a:r>
            <a:br/>
            <a:r>
              <a:t>                 n.getClass().getSimpleName());</a:t>
            </a:r>
            <a:br/>
            <a:r>
              <a:t>        n.send(recipient, body);</a:t>
            </a:r>
            <a:br/>
            <a:r>
              <a:t>        audit(recipient, n);</a:t>
            </a:r>
            <a:br/>
            <a:r>
              <a:t>    }</a:t>
            </a:r>
            <a:br/>
            <a:br/>
            <a:r>
              <a:t>    private void audit(String recipient,</a:t>
            </a:r>
            <a:br/>
            <a:r>
              <a:t>                       Notification n) {</a:t>
            </a:r>
            <a:br/>
            <a:r>
              <a:t>        // common auditing logic</a:t>
            </a:r>
            <a:br/>
            <a:r>
              <a:t>    }</a:t>
            </a:r>
            <a:br/>
            <a:r>
              <a:t>}</a:t>
            </a:r>
          </a:p>
        </p:txBody>
      </p:sp>
      <p:sp>
        <p:nvSpPr>
          <p:cNvPr id="10" name="Rectangle 9"/>
          <p:cNvSpPr/>
          <p:nvPr/>
        </p:nvSpPr>
        <p:spPr>
          <a:xfrm>
            <a:off x="6309360" y="1645920"/>
            <a:ext cx="5577840" cy="365760"/>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492240" y="1664208"/>
            <a:ext cx="5029200" cy="329184"/>
          </a:xfrm>
          <a:prstGeom prst="rect">
            <a:avLst/>
          </a:prstGeom>
          <a:noFill/>
        </p:spPr>
        <p:txBody>
          <a:bodyPr wrap="square"/>
          <a:lstStyle/>
          <a:p>
            <a:pPr algn="l">
              <a:spcBef>
                <a:spcPts val="0"/>
              </a:spcBef>
              <a:spcAft>
                <a:spcPts val="0"/>
              </a:spcAft>
              <a:defRPr sz="1200" b="1" i="0">
                <a:solidFill>
                  <a:srgbClr val="FFFFFF"/>
                </a:solidFill>
                <a:latin typeface="Calibri"/>
              </a:defRPr>
            </a:pPr>
            <a:r>
              <a:t>Concrete Creators + Spring</a:t>
            </a:r>
          </a:p>
        </p:txBody>
      </p:sp>
      <p:sp>
        <p:nvSpPr>
          <p:cNvPr id="12" name="Rectangle 11"/>
          <p:cNvSpPr/>
          <p:nvPr/>
        </p:nvSpPr>
        <p:spPr>
          <a:xfrm>
            <a:off x="6309360" y="2011680"/>
            <a:ext cx="5577840" cy="3840480"/>
          </a:xfrm>
          <a:prstGeom prst="rect">
            <a:avLst/>
          </a:prstGeom>
          <a:solidFill>
            <a:srgbClr val="282C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492240" y="2103120"/>
            <a:ext cx="5212080" cy="3657600"/>
          </a:xfrm>
          <a:prstGeom prst="rect">
            <a:avLst/>
          </a:prstGeom>
          <a:noFill/>
        </p:spPr>
        <p:txBody>
          <a:bodyPr wrap="square"/>
          <a:lstStyle/>
          <a:p>
            <a:pPr algn="l">
              <a:spcBef>
                <a:spcPts val="0"/>
              </a:spcBef>
              <a:spcAft>
                <a:spcPts val="0"/>
              </a:spcAft>
              <a:defRPr sz="900" b="0" i="0">
                <a:solidFill>
                  <a:srgbClr val="ABB2BF"/>
                </a:solidFill>
                <a:latin typeface="Consolas"/>
              </a:defRPr>
            </a:pPr>
            <a:r>
              <a:t>// Concrete creators</a:t>
            </a:r>
            <a:br/>
            <a:r>
              <a:t>public class EmailNotificationSender</a:t>
            </a:r>
            <a:br/>
            <a:r>
              <a:t>        extends NotificationSender {</a:t>
            </a:r>
            <a:br/>
            <a:r>
              <a:t>    @Override</a:t>
            </a:r>
            <a:br/>
            <a:r>
              <a:t>    protected Notification</a:t>
            </a:r>
            <a:br/>
            <a:r>
              <a:t>            createNotification() {</a:t>
            </a:r>
            <a:br/>
            <a:r>
              <a:t>        return new EmailNotification(</a:t>
            </a:r>
            <a:br/>
            <a:r>
              <a:t>            smtpConfig);</a:t>
            </a:r>
            <a:br/>
            <a:r>
              <a:t>    }</a:t>
            </a:r>
            <a:br/>
            <a:r>
              <a:t>}</a:t>
            </a:r>
            <a:br/>
            <a:br/>
            <a:r>
              <a:t>public class SmsNotificationSender</a:t>
            </a:r>
            <a:br/>
            <a:r>
              <a:t>        extends NotificationSender {</a:t>
            </a:r>
            <a:br/>
            <a:r>
              <a:t>    @Override</a:t>
            </a:r>
            <a:br/>
            <a:r>
              <a:t>    protected Notification</a:t>
            </a:r>
            <a:br/>
            <a:r>
              <a:t>            createNotification() {</a:t>
            </a:r>
            <a:br/>
            <a:r>
              <a:t>        return new SmsNotification(</a:t>
            </a:r>
            <a:br/>
            <a:r>
              <a:t>            smsGateway);</a:t>
            </a:r>
            <a:br/>
            <a:r>
              <a:t>    }</a:t>
            </a:r>
            <a:br/>
            <a:r>
              <a:t>}</a:t>
            </a:r>
            <a:br/>
            <a:br/>
            <a:r>
              <a:t>// In Spring: register as beans</a:t>
            </a:r>
            <a:br/>
            <a:r>
              <a:t>@Bean</a:t>
            </a:r>
            <a:br/>
            <a:r>
              <a:t>NotificationSender emailSender() {</a:t>
            </a:r>
            <a:br/>
            <a:r>
              <a:t>    return new EmailNotificationSender();</a:t>
            </a:r>
            <a:br/>
            <a:r>
              <a:t>}</a:t>
            </a:r>
            <a:br/>
            <a:br/>
            <a:r>
              <a:t>// Or use a factory method with a switch</a:t>
            </a:r>
            <a:br/>
            <a:r>
              <a:t>@Bean</a:t>
            </a:r>
            <a:br/>
            <a:r>
              <a:t>NotificationSender sender(</a:t>
            </a:r>
            <a:br/>
            <a:r>
              <a:t>        @Value("${channel}") String ch) {</a:t>
            </a:r>
            <a:br/>
            <a:r>
              <a:t>    return switch (ch) {</a:t>
            </a:r>
            <a:br/>
            <a:r>
              <a:t>        case "email" -&gt; new EmailSender();</a:t>
            </a:r>
            <a:br/>
            <a:r>
              <a:t>        case "sms"   -&gt; new SmsSender();</a:t>
            </a:r>
            <a:br/>
            <a:r>
              <a:t>        default -&gt; throw new IllegalArg...</a:t>
            </a:r>
            <a:br/>
            <a:r>
              <a:t>    };</a:t>
            </a:r>
            <a:br/>
            <a:r>
              <a:t>}</a:t>
            </a:r>
          </a:p>
        </p:txBody>
      </p:sp>
      <p:sp>
        <p:nvSpPr>
          <p:cNvPr id="14" name="Rectangle 13"/>
          <p:cNvSpPr/>
          <p:nvPr/>
        </p:nvSpPr>
        <p:spPr>
          <a:xfrm>
            <a:off x="0" y="6492240"/>
            <a:ext cx="12192000" cy="365760"/>
          </a:xfrm>
          <a:prstGeom prst="rect">
            <a:avLst/>
          </a:prstGeom>
          <a:solidFill>
            <a:srgbClr val="BD27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57200" y="6528816"/>
            <a:ext cx="3657600" cy="274320"/>
          </a:xfrm>
          <a:prstGeom prst="rect">
            <a:avLst/>
          </a:prstGeom>
          <a:noFill/>
        </p:spPr>
        <p:txBody>
          <a:bodyPr wrap="square"/>
          <a:lstStyle/>
          <a:p>
            <a:pPr algn="l">
              <a:spcBef>
                <a:spcPts val="0"/>
              </a:spcBef>
              <a:spcAft>
                <a:spcPts val="0"/>
              </a:spcAft>
              <a:defRPr sz="900" b="0" i="0">
                <a:solidFill>
                  <a:srgbClr val="FFFFFF"/>
                </a:solidFill>
                <a:latin typeface="Calibri Light"/>
              </a:defRPr>
            </a:pPr>
            <a:r>
              <a:t>www.overnet.education</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54864"/>
          </a:xfrm>
          <a:prstGeom prst="rect">
            <a:avLst/>
          </a:prstGeom>
          <a:solidFill>
            <a:srgbClr val="BD27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182880"/>
            <a:ext cx="457200" cy="320040"/>
          </a:xfrm>
          <a:prstGeom prst="rect">
            <a:avLst/>
          </a:prstGeom>
          <a:noFill/>
        </p:spPr>
        <p:txBody>
          <a:bodyPr wrap="square"/>
          <a:lstStyle/>
          <a:p>
            <a:pPr algn="l">
              <a:spcBef>
                <a:spcPts val="0"/>
              </a:spcBef>
              <a:spcAft>
                <a:spcPts val="0"/>
              </a:spcAft>
              <a:defRPr sz="1300" b="1" i="0">
                <a:solidFill>
                  <a:srgbClr val="BD2716"/>
                </a:solidFill>
                <a:latin typeface="Calibri"/>
              </a:defRPr>
            </a:pPr>
            <a:r>
              <a:t>2.3</a:t>
            </a:r>
          </a:p>
        </p:txBody>
      </p:sp>
      <p:sp>
        <p:nvSpPr>
          <p:cNvPr id="4" name="TextBox 3"/>
          <p:cNvSpPr txBox="1"/>
          <p:nvPr/>
        </p:nvSpPr>
        <p:spPr>
          <a:xfrm>
            <a:off x="822960" y="182880"/>
            <a:ext cx="7315200" cy="320040"/>
          </a:xfrm>
          <a:prstGeom prst="rect">
            <a:avLst/>
          </a:prstGeom>
          <a:noFill/>
        </p:spPr>
        <p:txBody>
          <a:bodyPr wrap="square"/>
          <a:lstStyle/>
          <a:p>
            <a:pPr algn="l">
              <a:spcBef>
                <a:spcPts val="0"/>
              </a:spcBef>
              <a:spcAft>
                <a:spcPts val="0"/>
              </a:spcAft>
              <a:defRPr sz="1100" b="0" i="0">
                <a:solidFill>
                  <a:srgbClr val="666666"/>
                </a:solidFill>
                <a:latin typeface="Calibri Light"/>
              </a:defRPr>
            </a:pPr>
            <a:r>
              <a:t>Factory Method</a:t>
            </a:r>
          </a:p>
        </p:txBody>
      </p:sp>
      <p:sp>
        <p:nvSpPr>
          <p:cNvPr id="5" name="TextBox 4"/>
          <p:cNvSpPr txBox="1"/>
          <p:nvPr/>
        </p:nvSpPr>
        <p:spPr>
          <a:xfrm>
            <a:off x="548640" y="731520"/>
            <a:ext cx="10515600" cy="731520"/>
          </a:xfrm>
          <a:prstGeom prst="rect">
            <a:avLst/>
          </a:prstGeom>
          <a:noFill/>
        </p:spPr>
        <p:txBody>
          <a:bodyPr wrap="square"/>
          <a:lstStyle/>
          <a:p>
            <a:pPr algn="l">
              <a:spcBef>
                <a:spcPts val="0"/>
              </a:spcBef>
              <a:spcAft>
                <a:spcPts val="0"/>
              </a:spcAft>
              <a:defRPr sz="3000" b="1" i="0">
                <a:solidFill>
                  <a:srgbClr val="333333"/>
                </a:solidFill>
                <a:latin typeface="Calibri"/>
              </a:defRPr>
            </a:pPr>
            <a:r>
              <a:t>Factory Method: Critical Discussion</a:t>
            </a:r>
          </a:p>
        </p:txBody>
      </p:sp>
      <p:sp>
        <p:nvSpPr>
          <p:cNvPr id="6" name="Rectangle 5"/>
          <p:cNvSpPr/>
          <p:nvPr/>
        </p:nvSpPr>
        <p:spPr>
          <a:xfrm>
            <a:off x="457200" y="1645920"/>
            <a:ext cx="5394960" cy="1463040"/>
          </a:xfrm>
          <a:prstGeom prst="rect">
            <a:avLst/>
          </a:prstGeom>
          <a:solidFill>
            <a:srgbClr val="F0FF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457200" y="1645920"/>
            <a:ext cx="73152" cy="1463040"/>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31520" y="1691640"/>
            <a:ext cx="4846320" cy="274320"/>
          </a:xfrm>
          <a:prstGeom prst="rect">
            <a:avLst/>
          </a:prstGeom>
          <a:noFill/>
        </p:spPr>
        <p:txBody>
          <a:bodyPr wrap="square"/>
          <a:lstStyle/>
          <a:p>
            <a:pPr algn="l">
              <a:spcBef>
                <a:spcPts val="0"/>
              </a:spcBef>
              <a:spcAft>
                <a:spcPts val="0"/>
              </a:spcAft>
              <a:defRPr sz="1400" b="1" i="0">
                <a:solidFill>
                  <a:srgbClr val="2E7D32"/>
                </a:solidFill>
                <a:latin typeface="Calibri"/>
              </a:defRPr>
            </a:pPr>
            <a:r>
              <a:t>When to use</a:t>
            </a:r>
          </a:p>
        </p:txBody>
      </p:sp>
      <p:sp>
        <p:nvSpPr>
          <p:cNvPr id="9" name="TextBox 8"/>
          <p:cNvSpPr txBox="1"/>
          <p:nvPr/>
        </p:nvSpPr>
        <p:spPr>
          <a:xfrm>
            <a:off x="731520" y="2011680"/>
            <a:ext cx="4846320" cy="1005840"/>
          </a:xfrm>
          <a:prstGeom prst="rect">
            <a:avLst/>
          </a:prstGeom>
          <a:noFill/>
        </p:spPr>
        <p:txBody>
          <a:bodyPr wrap="square">
            <a:spAutoFit/>
          </a:bodyPr>
          <a:lstStyle/>
          <a:p>
            <a:pPr>
              <a:spcAft>
                <a:spcPts val="400"/>
              </a:spcAft>
              <a:defRPr sz="1100">
                <a:solidFill>
                  <a:srgbClr val="333333"/>
                </a:solidFill>
                <a:latin typeface="Calibri Light"/>
              </a:defRPr>
            </a:pPr>
            <a:r>
              <a:t>A class cannot anticipate the type of objects it needs to create</a:t>
            </a:r>
          </a:p>
          <a:p>
            <a:pPr>
              <a:spcAft>
                <a:spcPts val="400"/>
              </a:spcAft>
              <a:defRPr sz="1100">
                <a:solidFill>
                  <a:srgbClr val="333333"/>
                </a:solidFill>
                <a:latin typeface="Calibri Light"/>
              </a:defRPr>
            </a:pPr>
            <a:r>
              <a:t>You want to provide a hook for subclasses to supply custom implementations</a:t>
            </a:r>
          </a:p>
          <a:p>
            <a:pPr>
              <a:spcAft>
                <a:spcPts val="400"/>
              </a:spcAft>
              <a:defRPr sz="1100">
                <a:solidFill>
                  <a:srgbClr val="333333"/>
                </a:solidFill>
                <a:latin typeface="Calibri Light"/>
              </a:defRPr>
            </a:pPr>
            <a:r>
              <a:t>The creation logic needs to be combined with a workflow (e.g., Template Method)</a:t>
            </a:r>
          </a:p>
        </p:txBody>
      </p:sp>
      <p:sp>
        <p:nvSpPr>
          <p:cNvPr id="10" name="Rectangle 9"/>
          <p:cNvSpPr/>
          <p:nvPr/>
        </p:nvSpPr>
        <p:spPr>
          <a:xfrm>
            <a:off x="6126480" y="1645920"/>
            <a:ext cx="5577840" cy="1463040"/>
          </a:xfrm>
          <a:prstGeom prst="rect">
            <a:avLst/>
          </a:prstGeom>
          <a:solidFill>
            <a:srgbClr val="FFF3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126480" y="1645920"/>
            <a:ext cx="73152" cy="1463040"/>
          </a:xfrm>
          <a:prstGeom prst="rect">
            <a:avLst/>
          </a:prstGeom>
          <a:solidFill>
            <a:srgbClr val="BD27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400800" y="1691640"/>
            <a:ext cx="5029200" cy="274320"/>
          </a:xfrm>
          <a:prstGeom prst="rect">
            <a:avLst/>
          </a:prstGeom>
          <a:noFill/>
        </p:spPr>
        <p:txBody>
          <a:bodyPr wrap="square"/>
          <a:lstStyle/>
          <a:p>
            <a:pPr algn="l">
              <a:spcBef>
                <a:spcPts val="0"/>
              </a:spcBef>
              <a:spcAft>
                <a:spcPts val="0"/>
              </a:spcAft>
              <a:defRPr sz="1400" b="1" i="0">
                <a:solidFill>
                  <a:srgbClr val="BD2716"/>
                </a:solidFill>
                <a:latin typeface="Calibri"/>
              </a:defRPr>
            </a:pPr>
            <a:r>
              <a:t>When to avoid</a:t>
            </a:r>
          </a:p>
        </p:txBody>
      </p:sp>
      <p:sp>
        <p:nvSpPr>
          <p:cNvPr id="13" name="TextBox 12"/>
          <p:cNvSpPr txBox="1"/>
          <p:nvPr/>
        </p:nvSpPr>
        <p:spPr>
          <a:xfrm>
            <a:off x="6400800" y="2011680"/>
            <a:ext cx="5029200" cy="1005840"/>
          </a:xfrm>
          <a:prstGeom prst="rect">
            <a:avLst/>
          </a:prstGeom>
          <a:noFill/>
        </p:spPr>
        <p:txBody>
          <a:bodyPr wrap="square">
            <a:spAutoFit/>
          </a:bodyPr>
          <a:lstStyle/>
          <a:p>
            <a:pPr>
              <a:spcAft>
                <a:spcPts val="400"/>
              </a:spcAft>
              <a:defRPr sz="1100">
                <a:solidFill>
                  <a:srgbClr val="333333"/>
                </a:solidFill>
                <a:latin typeface="Calibri Light"/>
              </a:defRPr>
            </a:pPr>
            <a:r>
              <a:t>There are only 1-2 product types and they will not change</a:t>
            </a:r>
          </a:p>
          <a:p>
            <a:pPr>
              <a:spcAft>
                <a:spcPts val="400"/>
              </a:spcAft>
              <a:defRPr sz="1100">
                <a:solidFill>
                  <a:srgbClr val="333333"/>
                </a:solidFill>
                <a:latin typeface="Calibri Light"/>
              </a:defRPr>
            </a:pPr>
            <a:r>
              <a:t>You are using DI (Spring) — the container already is a factory</a:t>
            </a:r>
          </a:p>
          <a:p>
            <a:pPr>
              <a:spcAft>
                <a:spcPts val="400"/>
              </a:spcAft>
              <a:defRPr sz="1100">
                <a:solidFill>
                  <a:srgbClr val="333333"/>
                </a:solidFill>
                <a:latin typeface="Calibri Light"/>
              </a:defRPr>
            </a:pPr>
            <a:r>
              <a:t>A simple static method or Supplier&lt;T&gt; would be clearer</a:t>
            </a:r>
          </a:p>
        </p:txBody>
      </p:sp>
      <p:sp>
        <p:nvSpPr>
          <p:cNvPr id="14" name="Rectangle 13"/>
          <p:cNvSpPr/>
          <p:nvPr/>
        </p:nvSpPr>
        <p:spPr>
          <a:xfrm>
            <a:off x="457200" y="3383280"/>
            <a:ext cx="11247120" cy="1188720"/>
          </a:xfrm>
          <a:prstGeom prst="rect">
            <a:avLst/>
          </a:prstGeom>
          <a:solidFill>
            <a:srgbClr val="FFF8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457200" y="3383280"/>
            <a:ext cx="73152" cy="1188720"/>
          </a:xfrm>
          <a:prstGeom prst="rect">
            <a:avLst/>
          </a:prstGeom>
          <a:solidFill>
            <a:srgbClr val="E8A3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31520" y="3429000"/>
            <a:ext cx="10698480" cy="274320"/>
          </a:xfrm>
          <a:prstGeom prst="rect">
            <a:avLst/>
          </a:prstGeom>
          <a:noFill/>
        </p:spPr>
        <p:txBody>
          <a:bodyPr wrap="square"/>
          <a:lstStyle/>
          <a:p>
            <a:pPr algn="l">
              <a:spcBef>
                <a:spcPts val="0"/>
              </a:spcBef>
              <a:spcAft>
                <a:spcPts val="0"/>
              </a:spcAft>
              <a:defRPr sz="1400" b="1" i="0">
                <a:solidFill>
                  <a:srgbClr val="E8A317"/>
                </a:solidFill>
                <a:latin typeface="Calibri"/>
              </a:defRPr>
            </a:pPr>
            <a:r>
              <a:t>Modern Java perspective</a:t>
            </a:r>
          </a:p>
        </p:txBody>
      </p:sp>
      <p:sp>
        <p:nvSpPr>
          <p:cNvPr id="17" name="TextBox 16"/>
          <p:cNvSpPr txBox="1"/>
          <p:nvPr/>
        </p:nvSpPr>
        <p:spPr>
          <a:xfrm>
            <a:off x="731520" y="3749039"/>
            <a:ext cx="10698480" cy="731520"/>
          </a:xfrm>
          <a:prstGeom prst="rect">
            <a:avLst/>
          </a:prstGeom>
          <a:noFill/>
        </p:spPr>
        <p:txBody>
          <a:bodyPr wrap="square"/>
          <a:lstStyle/>
          <a:p>
            <a:pPr algn="l">
              <a:spcBef>
                <a:spcPts val="0"/>
              </a:spcBef>
              <a:spcAft>
                <a:spcPts val="0"/>
              </a:spcAft>
              <a:defRPr sz="1200" b="0" i="0">
                <a:solidFill>
                  <a:srgbClr val="333333"/>
                </a:solidFill>
                <a:latin typeface="Calibri Light"/>
              </a:defRPr>
            </a:pPr>
            <a:r>
              <a:t>In Spring, every @Bean method is essentially a factory method. The traditional GoF inheritance-based approach is less common; instead, Spring uses configuration-based factory methods. Java interfaces with static factory methods (e.g., List.of(), Map.entry()) show the pattern in a modern, lightweight form.</a:t>
            </a:r>
          </a:p>
        </p:txBody>
      </p:sp>
      <p:sp>
        <p:nvSpPr>
          <p:cNvPr id="18" name="Rectangle 17"/>
          <p:cNvSpPr/>
          <p:nvPr/>
        </p:nvSpPr>
        <p:spPr>
          <a:xfrm>
            <a:off x="457200" y="4846320"/>
            <a:ext cx="11247120" cy="109728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31520" y="4892040"/>
            <a:ext cx="10698480" cy="274320"/>
          </a:xfrm>
          <a:prstGeom prst="rect">
            <a:avLst/>
          </a:prstGeom>
          <a:noFill/>
        </p:spPr>
        <p:txBody>
          <a:bodyPr wrap="square"/>
          <a:lstStyle/>
          <a:p>
            <a:pPr algn="l">
              <a:spcBef>
                <a:spcPts val="0"/>
              </a:spcBef>
              <a:spcAft>
                <a:spcPts val="0"/>
              </a:spcAft>
              <a:defRPr sz="1400" b="1" i="0">
                <a:solidFill>
                  <a:srgbClr val="1565C0"/>
                </a:solidFill>
                <a:latin typeface="Calibri"/>
              </a:defRPr>
            </a:pPr>
            <a:r>
              <a:t>Related Patterns</a:t>
            </a:r>
          </a:p>
        </p:txBody>
      </p:sp>
      <p:sp>
        <p:nvSpPr>
          <p:cNvPr id="20" name="TextBox 19"/>
          <p:cNvSpPr txBox="1"/>
          <p:nvPr/>
        </p:nvSpPr>
        <p:spPr>
          <a:xfrm>
            <a:off x="731520" y="5212080"/>
            <a:ext cx="10698480" cy="640080"/>
          </a:xfrm>
          <a:prstGeom prst="rect">
            <a:avLst/>
          </a:prstGeom>
          <a:noFill/>
        </p:spPr>
        <p:txBody>
          <a:bodyPr wrap="square"/>
          <a:lstStyle/>
          <a:p>
            <a:pPr algn="l">
              <a:spcBef>
                <a:spcPts val="0"/>
              </a:spcBef>
              <a:spcAft>
                <a:spcPts val="0"/>
              </a:spcAft>
              <a:defRPr sz="1200" b="0" i="0">
                <a:solidFill>
                  <a:srgbClr val="333333"/>
                </a:solidFill>
                <a:latin typeface="Calibri Light"/>
              </a:defRPr>
            </a:pPr>
            <a:r>
              <a:t>Abstract Factory – often implemented with Factory Methods. Template Method – Factory Method is often called inside a Template Method. Prototype – an alternative that avoids subclassing entirely.</a:t>
            </a:r>
          </a:p>
        </p:txBody>
      </p:sp>
      <p:sp>
        <p:nvSpPr>
          <p:cNvPr id="21" name="Rectangle 20"/>
          <p:cNvSpPr/>
          <p:nvPr/>
        </p:nvSpPr>
        <p:spPr>
          <a:xfrm>
            <a:off x="0" y="6492240"/>
            <a:ext cx="12192000" cy="365760"/>
          </a:xfrm>
          <a:prstGeom prst="rect">
            <a:avLst/>
          </a:prstGeom>
          <a:solidFill>
            <a:srgbClr val="BD27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57200" y="6528816"/>
            <a:ext cx="3657600" cy="274320"/>
          </a:xfrm>
          <a:prstGeom prst="rect">
            <a:avLst/>
          </a:prstGeom>
          <a:noFill/>
        </p:spPr>
        <p:txBody>
          <a:bodyPr wrap="square"/>
          <a:lstStyle/>
          <a:p>
            <a:pPr algn="l">
              <a:spcBef>
                <a:spcPts val="0"/>
              </a:spcBef>
              <a:spcAft>
                <a:spcPts val="0"/>
              </a:spcAft>
              <a:defRPr sz="900" b="0" i="0">
                <a:solidFill>
                  <a:srgbClr val="FFFFFF"/>
                </a:solidFill>
                <a:latin typeface="Calibri Light"/>
              </a:defRPr>
            </a:pPr>
            <a:r>
              <a:t>www.overnet.education</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1E1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2000" cy="73152"/>
          </a:xfrm>
          <a:prstGeom prst="rect">
            <a:avLst/>
          </a:prstGeom>
          <a:solidFill>
            <a:srgbClr val="BD27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1371600"/>
            <a:ext cx="10058400" cy="457200"/>
          </a:xfrm>
          <a:prstGeom prst="rect">
            <a:avLst/>
          </a:prstGeom>
          <a:noFill/>
        </p:spPr>
        <p:txBody>
          <a:bodyPr wrap="square"/>
          <a:lstStyle/>
          <a:p>
            <a:pPr algn="l">
              <a:spcBef>
                <a:spcPts val="0"/>
              </a:spcBef>
              <a:spcAft>
                <a:spcPts val="0"/>
              </a:spcAft>
              <a:defRPr sz="1600" b="0" i="0">
                <a:solidFill>
                  <a:srgbClr val="AAAABB"/>
                </a:solidFill>
                <a:latin typeface="Calibri Light"/>
              </a:defRPr>
            </a:pPr>
            <a:r>
              <a:t>Creational Pattern</a:t>
            </a:r>
          </a:p>
        </p:txBody>
      </p:sp>
      <p:sp>
        <p:nvSpPr>
          <p:cNvPr id="5" name="TextBox 4"/>
          <p:cNvSpPr txBox="1"/>
          <p:nvPr/>
        </p:nvSpPr>
        <p:spPr>
          <a:xfrm>
            <a:off x="548640" y="2011680"/>
            <a:ext cx="10058400" cy="914400"/>
          </a:xfrm>
          <a:prstGeom prst="rect">
            <a:avLst/>
          </a:prstGeom>
          <a:noFill/>
        </p:spPr>
        <p:txBody>
          <a:bodyPr wrap="square"/>
          <a:lstStyle/>
          <a:p>
            <a:pPr algn="l">
              <a:spcBef>
                <a:spcPts val="0"/>
              </a:spcBef>
              <a:spcAft>
                <a:spcPts val="0"/>
              </a:spcAft>
              <a:defRPr sz="4400" b="1" i="0">
                <a:solidFill>
                  <a:srgbClr val="FFFFFF"/>
                </a:solidFill>
                <a:latin typeface="Calibri"/>
              </a:defRPr>
            </a:pPr>
            <a:r>
              <a:t>Prototype</a:t>
            </a:r>
          </a:p>
        </p:txBody>
      </p:sp>
      <p:sp>
        <p:nvSpPr>
          <p:cNvPr id="6" name="Rectangle 5"/>
          <p:cNvSpPr/>
          <p:nvPr/>
        </p:nvSpPr>
        <p:spPr>
          <a:xfrm>
            <a:off x="548640" y="3017520"/>
            <a:ext cx="2286000" cy="54864"/>
          </a:xfrm>
          <a:prstGeom prst="rect">
            <a:avLst/>
          </a:prstGeom>
          <a:solidFill>
            <a:srgbClr val="BD27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48640" y="3291840"/>
            <a:ext cx="10058400" cy="457200"/>
          </a:xfrm>
          <a:prstGeom prst="rect">
            <a:avLst/>
          </a:prstGeom>
          <a:noFill/>
        </p:spPr>
        <p:txBody>
          <a:bodyPr wrap="square"/>
          <a:lstStyle/>
          <a:p>
            <a:pPr algn="l">
              <a:spcBef>
                <a:spcPts val="0"/>
              </a:spcBef>
              <a:spcAft>
                <a:spcPts val="0"/>
              </a:spcAft>
              <a:defRPr sz="1800" b="0" i="0">
                <a:solidFill>
                  <a:srgbClr val="BD2716"/>
                </a:solidFill>
                <a:latin typeface="Calibri Light"/>
              </a:defRPr>
            </a:pPr>
            <a:r>
              <a:t>Create by cloning</a:t>
            </a:r>
          </a:p>
        </p:txBody>
      </p:sp>
      <p:sp>
        <p:nvSpPr>
          <p:cNvPr id="8" name="Rectangle 7"/>
          <p:cNvSpPr/>
          <p:nvPr/>
        </p:nvSpPr>
        <p:spPr>
          <a:xfrm>
            <a:off x="548640" y="4114800"/>
            <a:ext cx="10515600" cy="1097280"/>
          </a:xfrm>
          <a:prstGeom prst="rect">
            <a:avLst/>
          </a:prstGeom>
          <a:solidFill>
            <a:srgbClr val="282C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548640" y="4114800"/>
            <a:ext cx="73152" cy="1097280"/>
          </a:xfrm>
          <a:prstGeom prst="rect">
            <a:avLst/>
          </a:prstGeom>
          <a:solidFill>
            <a:srgbClr val="BD27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68680" y="4206240"/>
            <a:ext cx="9966960" cy="914400"/>
          </a:xfrm>
          <a:prstGeom prst="rect">
            <a:avLst/>
          </a:prstGeom>
          <a:noFill/>
        </p:spPr>
        <p:txBody>
          <a:bodyPr wrap="square">
            <a:spAutoFit/>
          </a:bodyPr>
          <a:lstStyle/>
          <a:p>
            <a:pPr algn="l"/>
            <a:r>
              <a:rPr sz="1400" b="1" i="0">
                <a:solidFill>
                  <a:srgbClr val="BD2716"/>
                </a:solidFill>
                <a:latin typeface="Calibri"/>
              </a:rPr>
              <a:t>Intent: </a:t>
            </a:r>
            <a:r>
              <a:rPr sz="1400" b="0" i="0">
                <a:solidFill>
                  <a:srgbClr val="DDDDEE"/>
                </a:solidFill>
                <a:latin typeface="Calibri Light"/>
              </a:rPr>
              <a:t>Specify the kinds of objects to create using a prototypical instance, and create new objects by copying this prototype.</a:t>
            </a:r>
          </a:p>
        </p:txBody>
      </p:sp>
      <p:sp>
        <p:nvSpPr>
          <p:cNvPr id="11" name="Rectangle 10"/>
          <p:cNvSpPr/>
          <p:nvPr/>
        </p:nvSpPr>
        <p:spPr>
          <a:xfrm>
            <a:off x="0" y="6492240"/>
            <a:ext cx="12192000" cy="365760"/>
          </a:xfrm>
          <a:prstGeom prst="rect">
            <a:avLst/>
          </a:prstGeom>
          <a:solidFill>
            <a:srgbClr val="BD27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57200" y="6528816"/>
            <a:ext cx="3657600" cy="274320"/>
          </a:xfrm>
          <a:prstGeom prst="rect">
            <a:avLst/>
          </a:prstGeom>
          <a:noFill/>
        </p:spPr>
        <p:txBody>
          <a:bodyPr wrap="square"/>
          <a:lstStyle/>
          <a:p>
            <a:pPr algn="l">
              <a:spcBef>
                <a:spcPts val="0"/>
              </a:spcBef>
              <a:spcAft>
                <a:spcPts val="0"/>
              </a:spcAft>
              <a:defRPr sz="900" b="0" i="0">
                <a:solidFill>
                  <a:srgbClr val="FFFFFF"/>
                </a:solidFill>
                <a:latin typeface="Calibri Light"/>
              </a:defRPr>
            </a:pPr>
            <a:r>
              <a:t>www.overnet.education</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54864"/>
          </a:xfrm>
          <a:prstGeom prst="rect">
            <a:avLst/>
          </a:prstGeom>
          <a:solidFill>
            <a:srgbClr val="BD27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182880"/>
            <a:ext cx="457200" cy="320040"/>
          </a:xfrm>
          <a:prstGeom prst="rect">
            <a:avLst/>
          </a:prstGeom>
          <a:noFill/>
        </p:spPr>
        <p:txBody>
          <a:bodyPr wrap="square"/>
          <a:lstStyle/>
          <a:p>
            <a:pPr algn="l">
              <a:spcBef>
                <a:spcPts val="0"/>
              </a:spcBef>
              <a:spcAft>
                <a:spcPts val="0"/>
              </a:spcAft>
              <a:defRPr sz="1300" b="1" i="0">
                <a:solidFill>
                  <a:srgbClr val="BD2716"/>
                </a:solidFill>
                <a:latin typeface="Calibri"/>
              </a:defRPr>
            </a:pPr>
            <a:r>
              <a:t>2.4</a:t>
            </a:r>
          </a:p>
        </p:txBody>
      </p:sp>
      <p:sp>
        <p:nvSpPr>
          <p:cNvPr id="4" name="TextBox 3"/>
          <p:cNvSpPr txBox="1"/>
          <p:nvPr/>
        </p:nvSpPr>
        <p:spPr>
          <a:xfrm>
            <a:off x="822960" y="182880"/>
            <a:ext cx="7315200" cy="320040"/>
          </a:xfrm>
          <a:prstGeom prst="rect">
            <a:avLst/>
          </a:prstGeom>
          <a:noFill/>
        </p:spPr>
        <p:txBody>
          <a:bodyPr wrap="square"/>
          <a:lstStyle/>
          <a:p>
            <a:pPr algn="l">
              <a:spcBef>
                <a:spcPts val="0"/>
              </a:spcBef>
              <a:spcAft>
                <a:spcPts val="0"/>
              </a:spcAft>
              <a:defRPr sz="1100" b="0" i="0">
                <a:solidFill>
                  <a:srgbClr val="666666"/>
                </a:solidFill>
                <a:latin typeface="Calibri Light"/>
              </a:defRPr>
            </a:pPr>
            <a:r>
              <a:t>Prototype</a:t>
            </a:r>
          </a:p>
        </p:txBody>
      </p:sp>
      <p:sp>
        <p:nvSpPr>
          <p:cNvPr id="5" name="TextBox 4"/>
          <p:cNvSpPr txBox="1"/>
          <p:nvPr/>
        </p:nvSpPr>
        <p:spPr>
          <a:xfrm>
            <a:off x="548640" y="731520"/>
            <a:ext cx="10515600" cy="731520"/>
          </a:xfrm>
          <a:prstGeom prst="rect">
            <a:avLst/>
          </a:prstGeom>
          <a:noFill/>
        </p:spPr>
        <p:txBody>
          <a:bodyPr wrap="square"/>
          <a:lstStyle/>
          <a:p>
            <a:pPr algn="l">
              <a:spcBef>
                <a:spcPts val="0"/>
              </a:spcBef>
              <a:spcAft>
                <a:spcPts val="0"/>
              </a:spcAft>
              <a:defRPr sz="3200" b="1" i="0">
                <a:solidFill>
                  <a:srgbClr val="333333"/>
                </a:solidFill>
                <a:latin typeface="Calibri"/>
              </a:defRPr>
            </a:pPr>
            <a:r>
              <a:t>Prototype: Structure &amp; Consequences</a:t>
            </a:r>
          </a:p>
        </p:txBody>
      </p:sp>
      <p:sp>
        <p:nvSpPr>
          <p:cNvPr id="6" name="Rectangle 5"/>
          <p:cNvSpPr/>
          <p:nvPr/>
        </p:nvSpPr>
        <p:spPr>
          <a:xfrm>
            <a:off x="457200" y="1645920"/>
            <a:ext cx="11247120" cy="109728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457200" y="1645920"/>
            <a:ext cx="73152" cy="1097280"/>
          </a:xfrm>
          <a:prstGeom prst="rect">
            <a:avLst/>
          </a:prstGeom>
          <a:solidFill>
            <a:srgbClr val="BD27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31520" y="1691640"/>
            <a:ext cx="1828800" cy="274320"/>
          </a:xfrm>
          <a:prstGeom prst="rect">
            <a:avLst/>
          </a:prstGeom>
          <a:noFill/>
        </p:spPr>
        <p:txBody>
          <a:bodyPr wrap="square"/>
          <a:lstStyle/>
          <a:p>
            <a:pPr algn="l">
              <a:spcBef>
                <a:spcPts val="0"/>
              </a:spcBef>
              <a:spcAft>
                <a:spcPts val="0"/>
              </a:spcAft>
              <a:defRPr sz="1300" b="1" i="0">
                <a:solidFill>
                  <a:srgbClr val="BD2716"/>
                </a:solidFill>
                <a:latin typeface="Calibri"/>
              </a:defRPr>
            </a:pPr>
            <a:r>
              <a:t>Motivation</a:t>
            </a:r>
          </a:p>
        </p:txBody>
      </p:sp>
      <p:sp>
        <p:nvSpPr>
          <p:cNvPr id="9" name="TextBox 8"/>
          <p:cNvSpPr txBox="1"/>
          <p:nvPr/>
        </p:nvSpPr>
        <p:spPr>
          <a:xfrm>
            <a:off x="731520" y="1965960"/>
            <a:ext cx="10698480" cy="685800"/>
          </a:xfrm>
          <a:prstGeom prst="rect">
            <a:avLst/>
          </a:prstGeom>
          <a:noFill/>
        </p:spPr>
        <p:txBody>
          <a:bodyPr wrap="square"/>
          <a:lstStyle/>
          <a:p>
            <a:pPr algn="l">
              <a:spcBef>
                <a:spcPts val="0"/>
              </a:spcBef>
              <a:spcAft>
                <a:spcPts val="0"/>
              </a:spcAft>
              <a:defRPr sz="1200" b="0" i="0">
                <a:solidFill>
                  <a:srgbClr val="333333"/>
                </a:solidFill>
                <a:latin typeface="Calibri Light"/>
              </a:defRPr>
            </a:pPr>
            <a:r>
              <a:t>A risk calculation engine needs to run thousands of simulations, each starting from a base portfolio configuration. Creating each portfolio from scratch (loading from DB, validating, computing derived fields) takes 200ms. By cloning a fully-initialized prototype, each simulation starts in under 1ms. Prototype is about performance and convenience when object creation is expensive.</a:t>
            </a:r>
          </a:p>
        </p:txBody>
      </p:sp>
      <p:sp>
        <p:nvSpPr>
          <p:cNvPr id="10" name="TextBox 9"/>
          <p:cNvSpPr txBox="1"/>
          <p:nvPr/>
        </p:nvSpPr>
        <p:spPr>
          <a:xfrm>
            <a:off x="457200" y="2926080"/>
            <a:ext cx="2743200" cy="274320"/>
          </a:xfrm>
          <a:prstGeom prst="rect">
            <a:avLst/>
          </a:prstGeom>
          <a:noFill/>
        </p:spPr>
        <p:txBody>
          <a:bodyPr wrap="square"/>
          <a:lstStyle/>
          <a:p>
            <a:pPr algn="l">
              <a:spcBef>
                <a:spcPts val="0"/>
              </a:spcBef>
              <a:spcAft>
                <a:spcPts val="0"/>
              </a:spcAft>
              <a:defRPr sz="1400" b="1" i="0">
                <a:solidFill>
                  <a:srgbClr val="1565C0"/>
                </a:solidFill>
                <a:latin typeface="Calibri"/>
              </a:defRPr>
            </a:pPr>
            <a:r>
              <a:t>Participants</a:t>
            </a:r>
          </a:p>
        </p:txBody>
      </p:sp>
      <p:sp>
        <p:nvSpPr>
          <p:cNvPr id="11" name="TextBox 10"/>
          <p:cNvSpPr txBox="1"/>
          <p:nvPr/>
        </p:nvSpPr>
        <p:spPr>
          <a:xfrm>
            <a:off x="640080" y="3246120"/>
            <a:ext cx="10972800" cy="1371600"/>
          </a:xfrm>
          <a:prstGeom prst="rect">
            <a:avLst/>
          </a:prstGeom>
          <a:noFill/>
        </p:spPr>
        <p:txBody>
          <a:bodyPr wrap="square">
            <a:spAutoFit/>
          </a:bodyPr>
          <a:lstStyle/>
          <a:p>
            <a:pPr>
              <a:spcAft>
                <a:spcPts val="400"/>
              </a:spcAft>
              <a:defRPr sz="1200">
                <a:solidFill>
                  <a:srgbClr val="333333"/>
                </a:solidFill>
                <a:latin typeface="Calibri Light"/>
              </a:defRPr>
            </a:pPr>
            <a:r>
              <a:t>Prototype – interface declaring the clone() method</a:t>
            </a:r>
          </a:p>
          <a:p>
            <a:pPr>
              <a:spcAft>
                <a:spcPts val="400"/>
              </a:spcAft>
              <a:defRPr sz="1200">
                <a:solidFill>
                  <a:srgbClr val="333333"/>
                </a:solidFill>
                <a:latin typeface="Calibri Light"/>
              </a:defRPr>
            </a:pPr>
            <a:r>
              <a:t>ConcretePrototype – implements cloning (e.g., PortfolioConfig)</a:t>
            </a:r>
          </a:p>
          <a:p>
            <a:pPr>
              <a:spcAft>
                <a:spcPts val="400"/>
              </a:spcAft>
              <a:defRPr sz="1200">
                <a:solidFill>
                  <a:srgbClr val="333333"/>
                </a:solidFill>
                <a:latin typeface="Calibri Light"/>
              </a:defRPr>
            </a:pPr>
            <a:r>
              <a:t>Client – creates new objects by asking the prototype to clone itself</a:t>
            </a:r>
          </a:p>
          <a:p>
            <a:pPr>
              <a:spcAft>
                <a:spcPts val="400"/>
              </a:spcAft>
              <a:defRPr sz="1200">
                <a:solidFill>
                  <a:srgbClr val="333333"/>
                </a:solidFill>
                <a:latin typeface="Calibri Light"/>
              </a:defRPr>
            </a:pPr>
            <a:r>
              <a:t>Registry (optional) – a map of named prototypes for lookup</a:t>
            </a:r>
          </a:p>
        </p:txBody>
      </p:sp>
      <p:sp>
        <p:nvSpPr>
          <p:cNvPr id="12" name="Rectangle 11"/>
          <p:cNvSpPr/>
          <p:nvPr/>
        </p:nvSpPr>
        <p:spPr>
          <a:xfrm>
            <a:off x="457200" y="4754880"/>
            <a:ext cx="5394960" cy="1280160"/>
          </a:xfrm>
          <a:prstGeom prst="rect">
            <a:avLst/>
          </a:prstGeom>
          <a:solidFill>
            <a:srgbClr val="F0FF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40080" y="4800600"/>
            <a:ext cx="5029200" cy="274320"/>
          </a:xfrm>
          <a:prstGeom prst="rect">
            <a:avLst/>
          </a:prstGeom>
          <a:noFill/>
        </p:spPr>
        <p:txBody>
          <a:bodyPr wrap="square"/>
          <a:lstStyle/>
          <a:p>
            <a:pPr algn="l">
              <a:spcBef>
                <a:spcPts val="0"/>
              </a:spcBef>
              <a:spcAft>
                <a:spcPts val="0"/>
              </a:spcAft>
              <a:defRPr sz="1300" b="1" i="0">
                <a:solidFill>
                  <a:srgbClr val="2E7D32"/>
                </a:solidFill>
                <a:latin typeface="Calibri"/>
              </a:defRPr>
            </a:pPr>
            <a:r>
              <a:t>✓  Advantages</a:t>
            </a:r>
          </a:p>
        </p:txBody>
      </p:sp>
      <p:sp>
        <p:nvSpPr>
          <p:cNvPr id="14" name="TextBox 13"/>
          <p:cNvSpPr txBox="1"/>
          <p:nvPr/>
        </p:nvSpPr>
        <p:spPr>
          <a:xfrm>
            <a:off x="640080" y="5120640"/>
            <a:ext cx="5029200" cy="822960"/>
          </a:xfrm>
          <a:prstGeom prst="rect">
            <a:avLst/>
          </a:prstGeom>
          <a:noFill/>
        </p:spPr>
        <p:txBody>
          <a:bodyPr wrap="square">
            <a:spAutoFit/>
          </a:bodyPr>
          <a:lstStyle/>
          <a:p>
            <a:pPr>
              <a:spcAft>
                <a:spcPts val="400"/>
              </a:spcAft>
              <a:defRPr sz="1100">
                <a:solidFill>
                  <a:srgbClr val="333333"/>
                </a:solidFill>
                <a:latin typeface="Calibri Light"/>
              </a:defRPr>
            </a:pPr>
            <a:r>
              <a:t>Avoids expensive initialization for each new object</a:t>
            </a:r>
          </a:p>
          <a:p>
            <a:pPr>
              <a:spcAft>
                <a:spcPts val="400"/>
              </a:spcAft>
              <a:defRPr sz="1100">
                <a:solidFill>
                  <a:srgbClr val="333333"/>
                </a:solidFill>
                <a:latin typeface="Calibri Light"/>
              </a:defRPr>
            </a:pPr>
            <a:r>
              <a:t>Hides concrete classes from the client</a:t>
            </a:r>
          </a:p>
          <a:p>
            <a:pPr>
              <a:spcAft>
                <a:spcPts val="400"/>
              </a:spcAft>
              <a:defRPr sz="1100">
                <a:solidFill>
                  <a:srgbClr val="333333"/>
                </a:solidFill>
                <a:latin typeface="Calibri Light"/>
              </a:defRPr>
            </a:pPr>
            <a:r>
              <a:t>Add/remove products at runtime via a prototype registry</a:t>
            </a:r>
          </a:p>
          <a:p>
            <a:pPr>
              <a:spcAft>
                <a:spcPts val="400"/>
              </a:spcAft>
              <a:defRPr sz="1100">
                <a:solidFill>
                  <a:srgbClr val="333333"/>
                </a:solidFill>
                <a:latin typeface="Calibri Light"/>
              </a:defRPr>
            </a:pPr>
            <a:r>
              <a:t>Reduces the need for subclassing compared to Factory Method</a:t>
            </a:r>
          </a:p>
        </p:txBody>
      </p:sp>
      <p:sp>
        <p:nvSpPr>
          <p:cNvPr id="15" name="Rectangle 14"/>
          <p:cNvSpPr/>
          <p:nvPr/>
        </p:nvSpPr>
        <p:spPr>
          <a:xfrm>
            <a:off x="6126480" y="4754880"/>
            <a:ext cx="5577840" cy="1280160"/>
          </a:xfrm>
          <a:prstGeom prst="rect">
            <a:avLst/>
          </a:prstGeom>
          <a:solidFill>
            <a:srgbClr val="FFF3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309360" y="4800600"/>
            <a:ext cx="5212080" cy="274320"/>
          </a:xfrm>
          <a:prstGeom prst="rect">
            <a:avLst/>
          </a:prstGeom>
          <a:noFill/>
        </p:spPr>
        <p:txBody>
          <a:bodyPr wrap="square"/>
          <a:lstStyle/>
          <a:p>
            <a:pPr algn="l">
              <a:spcBef>
                <a:spcPts val="0"/>
              </a:spcBef>
              <a:spcAft>
                <a:spcPts val="0"/>
              </a:spcAft>
              <a:defRPr sz="1300" b="1" i="0">
                <a:solidFill>
                  <a:srgbClr val="BD2716"/>
                </a:solidFill>
                <a:latin typeface="Calibri"/>
              </a:defRPr>
            </a:pPr>
            <a:r>
              <a:t>✗  Drawbacks</a:t>
            </a:r>
          </a:p>
        </p:txBody>
      </p:sp>
      <p:sp>
        <p:nvSpPr>
          <p:cNvPr id="17" name="TextBox 16"/>
          <p:cNvSpPr txBox="1"/>
          <p:nvPr/>
        </p:nvSpPr>
        <p:spPr>
          <a:xfrm>
            <a:off x="6309360" y="5120640"/>
            <a:ext cx="5212080" cy="822960"/>
          </a:xfrm>
          <a:prstGeom prst="rect">
            <a:avLst/>
          </a:prstGeom>
          <a:noFill/>
        </p:spPr>
        <p:txBody>
          <a:bodyPr wrap="square">
            <a:spAutoFit/>
          </a:bodyPr>
          <a:lstStyle/>
          <a:p>
            <a:pPr>
              <a:spcAft>
                <a:spcPts val="400"/>
              </a:spcAft>
              <a:defRPr sz="1100">
                <a:solidFill>
                  <a:srgbClr val="333333"/>
                </a:solidFill>
                <a:latin typeface="Calibri Light"/>
              </a:defRPr>
            </a:pPr>
            <a:r>
              <a:t>Deep clone vs shallow clone is error-prone and must be handled carefully</a:t>
            </a:r>
          </a:p>
          <a:p>
            <a:pPr>
              <a:spcAft>
                <a:spcPts val="400"/>
              </a:spcAft>
              <a:defRPr sz="1100">
                <a:solidFill>
                  <a:srgbClr val="333333"/>
                </a:solidFill>
                <a:latin typeface="Calibri Light"/>
              </a:defRPr>
            </a:pPr>
            <a:r>
              <a:t>Objects with circular references are difficult to clone</a:t>
            </a:r>
          </a:p>
          <a:p>
            <a:pPr>
              <a:spcAft>
                <a:spcPts val="400"/>
              </a:spcAft>
              <a:defRPr sz="1100">
                <a:solidFill>
                  <a:srgbClr val="333333"/>
                </a:solidFill>
                <a:latin typeface="Calibri Light"/>
              </a:defRPr>
            </a:pPr>
            <a:r>
              <a:t>Java’s Cloneable is widely considered a broken API</a:t>
            </a:r>
          </a:p>
        </p:txBody>
      </p:sp>
      <p:sp>
        <p:nvSpPr>
          <p:cNvPr id="18" name="Rectangle 17"/>
          <p:cNvSpPr/>
          <p:nvPr/>
        </p:nvSpPr>
        <p:spPr>
          <a:xfrm>
            <a:off x="0" y="6492240"/>
            <a:ext cx="12192000" cy="365760"/>
          </a:xfrm>
          <a:prstGeom prst="rect">
            <a:avLst/>
          </a:prstGeom>
          <a:solidFill>
            <a:srgbClr val="BD27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57200" y="6528816"/>
            <a:ext cx="3657600" cy="274320"/>
          </a:xfrm>
          <a:prstGeom prst="rect">
            <a:avLst/>
          </a:prstGeom>
          <a:noFill/>
        </p:spPr>
        <p:txBody>
          <a:bodyPr wrap="square"/>
          <a:lstStyle/>
          <a:p>
            <a:pPr algn="l">
              <a:spcBef>
                <a:spcPts val="0"/>
              </a:spcBef>
              <a:spcAft>
                <a:spcPts val="0"/>
              </a:spcAft>
              <a:defRPr sz="900" b="0" i="0">
                <a:solidFill>
                  <a:srgbClr val="FFFFFF"/>
                </a:solidFill>
                <a:latin typeface="Calibri Light"/>
              </a:defRPr>
            </a:pPr>
            <a:r>
              <a:t>www.overnet.education</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54864"/>
          </a:xfrm>
          <a:prstGeom prst="rect">
            <a:avLst/>
          </a:prstGeom>
          <a:solidFill>
            <a:srgbClr val="BD27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182880"/>
            <a:ext cx="457200" cy="320040"/>
          </a:xfrm>
          <a:prstGeom prst="rect">
            <a:avLst/>
          </a:prstGeom>
          <a:noFill/>
        </p:spPr>
        <p:txBody>
          <a:bodyPr wrap="square"/>
          <a:lstStyle/>
          <a:p>
            <a:pPr algn="l">
              <a:spcBef>
                <a:spcPts val="0"/>
              </a:spcBef>
              <a:spcAft>
                <a:spcPts val="0"/>
              </a:spcAft>
              <a:defRPr sz="1300" b="1" i="0">
                <a:solidFill>
                  <a:srgbClr val="BD2716"/>
                </a:solidFill>
                <a:latin typeface="Calibri"/>
              </a:defRPr>
            </a:pPr>
            <a:r>
              <a:t>2.4</a:t>
            </a:r>
          </a:p>
        </p:txBody>
      </p:sp>
      <p:sp>
        <p:nvSpPr>
          <p:cNvPr id="4" name="TextBox 3"/>
          <p:cNvSpPr txBox="1"/>
          <p:nvPr/>
        </p:nvSpPr>
        <p:spPr>
          <a:xfrm>
            <a:off x="822960" y="182880"/>
            <a:ext cx="7315200" cy="320040"/>
          </a:xfrm>
          <a:prstGeom prst="rect">
            <a:avLst/>
          </a:prstGeom>
          <a:noFill/>
        </p:spPr>
        <p:txBody>
          <a:bodyPr wrap="square"/>
          <a:lstStyle/>
          <a:p>
            <a:pPr algn="l">
              <a:spcBef>
                <a:spcPts val="0"/>
              </a:spcBef>
              <a:spcAft>
                <a:spcPts val="0"/>
              </a:spcAft>
              <a:defRPr sz="1100" b="0" i="0">
                <a:solidFill>
                  <a:srgbClr val="666666"/>
                </a:solidFill>
                <a:latin typeface="Calibri Light"/>
              </a:defRPr>
            </a:pPr>
            <a:r>
              <a:t>Prototype</a:t>
            </a:r>
          </a:p>
        </p:txBody>
      </p:sp>
      <p:sp>
        <p:nvSpPr>
          <p:cNvPr id="5" name="TextBox 4"/>
          <p:cNvSpPr txBox="1"/>
          <p:nvPr/>
        </p:nvSpPr>
        <p:spPr>
          <a:xfrm>
            <a:off x="548640" y="731520"/>
            <a:ext cx="10515600" cy="731520"/>
          </a:xfrm>
          <a:prstGeom prst="rect">
            <a:avLst/>
          </a:prstGeom>
          <a:noFill/>
        </p:spPr>
        <p:txBody>
          <a:bodyPr wrap="square"/>
          <a:lstStyle/>
          <a:p>
            <a:pPr algn="l">
              <a:spcBef>
                <a:spcPts val="0"/>
              </a:spcBef>
              <a:spcAft>
                <a:spcPts val="0"/>
              </a:spcAft>
              <a:defRPr sz="3000" b="1" i="0">
                <a:solidFill>
                  <a:srgbClr val="333333"/>
                </a:solidFill>
                <a:latin typeface="Calibri"/>
              </a:defRPr>
            </a:pPr>
            <a:r>
              <a:t>Prototype: Java Implementation</a:t>
            </a:r>
          </a:p>
        </p:txBody>
      </p:sp>
      <p:sp>
        <p:nvSpPr>
          <p:cNvPr id="6" name="Rectangle 5"/>
          <p:cNvSpPr/>
          <p:nvPr/>
        </p:nvSpPr>
        <p:spPr>
          <a:xfrm>
            <a:off x="457200" y="1645920"/>
            <a:ext cx="5577840" cy="365760"/>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40080" y="1664208"/>
            <a:ext cx="5029200" cy="329184"/>
          </a:xfrm>
          <a:prstGeom prst="rect">
            <a:avLst/>
          </a:prstGeom>
          <a:noFill/>
        </p:spPr>
        <p:txBody>
          <a:bodyPr wrap="square"/>
          <a:lstStyle/>
          <a:p>
            <a:pPr algn="l">
              <a:spcBef>
                <a:spcPts val="0"/>
              </a:spcBef>
              <a:spcAft>
                <a:spcPts val="0"/>
              </a:spcAft>
              <a:defRPr sz="1200" b="1" i="0">
                <a:solidFill>
                  <a:srgbClr val="FFFFFF"/>
                </a:solidFill>
                <a:latin typeface="Calibri"/>
              </a:defRPr>
            </a:pPr>
            <a:r>
              <a:t>Prototype + Deep copy</a:t>
            </a:r>
          </a:p>
        </p:txBody>
      </p:sp>
      <p:sp>
        <p:nvSpPr>
          <p:cNvPr id="8" name="Rectangle 7"/>
          <p:cNvSpPr/>
          <p:nvPr/>
        </p:nvSpPr>
        <p:spPr>
          <a:xfrm>
            <a:off x="457200" y="2011680"/>
            <a:ext cx="5577840" cy="3840480"/>
          </a:xfrm>
          <a:prstGeom prst="rect">
            <a:avLst/>
          </a:prstGeom>
          <a:solidFill>
            <a:srgbClr val="282C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40080" y="2103120"/>
            <a:ext cx="5212080" cy="3657600"/>
          </a:xfrm>
          <a:prstGeom prst="rect">
            <a:avLst/>
          </a:prstGeom>
          <a:noFill/>
        </p:spPr>
        <p:txBody>
          <a:bodyPr wrap="square"/>
          <a:lstStyle/>
          <a:p>
            <a:pPr algn="l">
              <a:spcBef>
                <a:spcPts val="0"/>
              </a:spcBef>
              <a:spcAft>
                <a:spcPts val="0"/>
              </a:spcAft>
              <a:defRPr sz="900" b="0" i="0">
                <a:solidFill>
                  <a:srgbClr val="ABB2BF"/>
                </a:solidFill>
                <a:latin typeface="Consolas"/>
              </a:defRPr>
            </a:pPr>
            <a:r>
              <a:t>// Prototype interface</a:t>
            </a:r>
            <a:br/>
            <a:r>
              <a:t>public interface Prototype&lt;T&gt; {</a:t>
            </a:r>
            <a:br/>
            <a:r>
              <a:t>    T deepCopy();</a:t>
            </a:r>
            <a:br/>
            <a:r>
              <a:t>}</a:t>
            </a:r>
            <a:br/>
            <a:br/>
            <a:r>
              <a:t>// Concrete prototype</a:t>
            </a:r>
            <a:br/>
            <a:r>
              <a:t>public class PortfolioConfig</a:t>
            </a:r>
            <a:br/>
            <a:r>
              <a:t>        implements Prototype&lt;PortfolioConfig&gt; {</a:t>
            </a:r>
            <a:br/>
            <a:br/>
            <a:r>
              <a:t>    private String name;</a:t>
            </a:r>
            <a:br/>
            <a:r>
              <a:t>    private List&lt;Position&gt; positions;</a:t>
            </a:r>
            <a:br/>
            <a:r>
              <a:t>    private RiskParameters riskParams;</a:t>
            </a:r>
            <a:br/>
            <a:r>
              <a:t>    private Map&lt;String, BigDecimal&gt; limits;</a:t>
            </a:r>
            <a:br/>
            <a:br/>
            <a:r>
              <a:t>    // Deep copy via copy constructor</a:t>
            </a:r>
            <a:br/>
            <a:r>
              <a:t>    public PortfolioConfig(</a:t>
            </a:r>
            <a:br/>
            <a:r>
              <a:t>            PortfolioConfig source) {</a:t>
            </a:r>
            <a:br/>
            <a:r>
              <a:t>        this.name = source.name;</a:t>
            </a:r>
            <a:br/>
            <a:r>
              <a:t>        this.positions = source.positions</a:t>
            </a:r>
            <a:br/>
            <a:r>
              <a:t>            .stream()</a:t>
            </a:r>
            <a:br/>
            <a:r>
              <a:t>            .map(Position::new) // copy each</a:t>
            </a:r>
            <a:br/>
            <a:r>
              <a:t>            .collect(toList());</a:t>
            </a:r>
            <a:br/>
            <a:r>
              <a:t>        this.riskParams =</a:t>
            </a:r>
            <a:br/>
            <a:r>
              <a:t>            new RiskParameters(source.riskParams);</a:t>
            </a:r>
            <a:br/>
            <a:r>
              <a:t>        this.limits =</a:t>
            </a:r>
            <a:br/>
            <a:r>
              <a:t>            new HashMap&lt;&gt;(source.limits);</a:t>
            </a:r>
            <a:br/>
            <a:r>
              <a:t>    }</a:t>
            </a:r>
            <a:br/>
            <a:br/>
            <a:r>
              <a:t>    @Override</a:t>
            </a:r>
            <a:br/>
            <a:r>
              <a:t>    public PortfolioConfig deepCopy() {</a:t>
            </a:r>
            <a:br/>
            <a:r>
              <a:t>        return new PortfolioConfig(this);</a:t>
            </a:r>
            <a:br/>
            <a:r>
              <a:t>    }</a:t>
            </a:r>
            <a:br/>
            <a:r>
              <a:t>}</a:t>
            </a:r>
          </a:p>
        </p:txBody>
      </p:sp>
      <p:sp>
        <p:nvSpPr>
          <p:cNvPr id="10" name="Rectangle 9"/>
          <p:cNvSpPr/>
          <p:nvPr/>
        </p:nvSpPr>
        <p:spPr>
          <a:xfrm>
            <a:off x="6309360" y="1645920"/>
            <a:ext cx="5577840" cy="365760"/>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492240" y="1664208"/>
            <a:ext cx="5029200" cy="329184"/>
          </a:xfrm>
          <a:prstGeom prst="rect">
            <a:avLst/>
          </a:prstGeom>
          <a:noFill/>
        </p:spPr>
        <p:txBody>
          <a:bodyPr wrap="square"/>
          <a:lstStyle/>
          <a:p>
            <a:pPr algn="l">
              <a:spcBef>
                <a:spcPts val="0"/>
              </a:spcBef>
              <a:spcAft>
                <a:spcPts val="0"/>
              </a:spcAft>
              <a:defRPr sz="1200" b="1" i="0">
                <a:solidFill>
                  <a:srgbClr val="FFFFFF"/>
                </a:solidFill>
                <a:latin typeface="Calibri"/>
              </a:defRPr>
            </a:pPr>
            <a:r>
              <a:t>Registry + Usage</a:t>
            </a:r>
          </a:p>
        </p:txBody>
      </p:sp>
      <p:sp>
        <p:nvSpPr>
          <p:cNvPr id="12" name="Rectangle 11"/>
          <p:cNvSpPr/>
          <p:nvPr/>
        </p:nvSpPr>
        <p:spPr>
          <a:xfrm>
            <a:off x="6309360" y="2011680"/>
            <a:ext cx="5577840" cy="3840480"/>
          </a:xfrm>
          <a:prstGeom prst="rect">
            <a:avLst/>
          </a:prstGeom>
          <a:solidFill>
            <a:srgbClr val="282C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492240" y="2103120"/>
            <a:ext cx="5212080" cy="3657600"/>
          </a:xfrm>
          <a:prstGeom prst="rect">
            <a:avLst/>
          </a:prstGeom>
          <a:noFill/>
        </p:spPr>
        <p:txBody>
          <a:bodyPr wrap="square"/>
          <a:lstStyle/>
          <a:p>
            <a:pPr algn="l">
              <a:spcBef>
                <a:spcPts val="0"/>
              </a:spcBef>
              <a:spcAft>
                <a:spcPts val="0"/>
              </a:spcAft>
              <a:defRPr sz="900" b="0" i="0">
                <a:solidFill>
                  <a:srgbClr val="ABB2BF"/>
                </a:solidFill>
                <a:latin typeface="Consolas"/>
              </a:defRPr>
            </a:pPr>
            <a:r>
              <a:t>// Prototype registry</a:t>
            </a:r>
            <a:br/>
            <a:r>
              <a:t>@Component</a:t>
            </a:r>
            <a:br/>
            <a:r>
              <a:t>public class PrototypeRegistry {</a:t>
            </a:r>
            <a:br/>
            <a:r>
              <a:t>    private final Map&lt;String,</a:t>
            </a:r>
            <a:br/>
            <a:r>
              <a:t>        PortfolioConfig&gt; prototypes =</a:t>
            </a:r>
            <a:br/>
            <a:r>
              <a:t>            new ConcurrentHashMap&lt;&gt;();</a:t>
            </a:r>
            <a:br/>
            <a:br/>
            <a:r>
              <a:t>    public void register(String key,</a:t>
            </a:r>
            <a:br/>
            <a:r>
              <a:t>            PortfolioConfig proto) {</a:t>
            </a:r>
            <a:br/>
            <a:r>
              <a:t>        prototypes.put(key, proto);</a:t>
            </a:r>
            <a:br/>
            <a:r>
              <a:t>    }</a:t>
            </a:r>
            <a:br/>
            <a:br/>
            <a:r>
              <a:t>    public PortfolioConfig create(String key) {</a:t>
            </a:r>
            <a:br/>
            <a:r>
              <a:t>        PortfolioConfig proto =</a:t>
            </a:r>
            <a:br/>
            <a:r>
              <a:t>            prototypes.get(key);</a:t>
            </a:r>
            <a:br/>
            <a:r>
              <a:t>        if (proto == null)</a:t>
            </a:r>
            <a:br/>
            <a:r>
              <a:t>            throw new IllegalArgumentException(</a:t>
            </a:r>
            <a:br/>
            <a:r>
              <a:t>                "Unknown prototype: " + key);</a:t>
            </a:r>
            <a:br/>
            <a:r>
              <a:t>        return proto.deepCopy();</a:t>
            </a:r>
            <a:br/>
            <a:r>
              <a:t>    }</a:t>
            </a:r>
            <a:br/>
            <a:r>
              <a:t>}</a:t>
            </a:r>
            <a:br/>
            <a:br/>
            <a:r>
              <a:t>// Usage in simulation engine</a:t>
            </a:r>
            <a:br/>
            <a:r>
              <a:t>PortfolioConfig base = registry</a:t>
            </a:r>
            <a:br/>
            <a:r>
              <a:t>    .create("standard-equity");</a:t>
            </a:r>
            <a:br/>
            <a:br/>
            <a:r>
              <a:t>for (Scenario scenario : scenarios) {</a:t>
            </a:r>
            <a:br/>
            <a:r>
              <a:t>    PortfolioConfig sim = base.deepCopy();</a:t>
            </a:r>
            <a:br/>
            <a:r>
              <a:t>    sim.applyScenario(scenario);</a:t>
            </a:r>
            <a:br/>
            <a:r>
              <a:t>    results.add(engine.run(sim));</a:t>
            </a:r>
            <a:br/>
            <a:r>
              <a:t>}</a:t>
            </a:r>
            <a:br/>
            <a:r>
              <a:t>// Each sim starts from a clean copy</a:t>
            </a:r>
          </a:p>
        </p:txBody>
      </p:sp>
      <p:sp>
        <p:nvSpPr>
          <p:cNvPr id="14" name="Rectangle 13"/>
          <p:cNvSpPr/>
          <p:nvPr/>
        </p:nvSpPr>
        <p:spPr>
          <a:xfrm>
            <a:off x="0" y="6492240"/>
            <a:ext cx="12192000" cy="365760"/>
          </a:xfrm>
          <a:prstGeom prst="rect">
            <a:avLst/>
          </a:prstGeom>
          <a:solidFill>
            <a:srgbClr val="BD27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57200" y="6528816"/>
            <a:ext cx="3657600" cy="274320"/>
          </a:xfrm>
          <a:prstGeom prst="rect">
            <a:avLst/>
          </a:prstGeom>
          <a:noFill/>
        </p:spPr>
        <p:txBody>
          <a:bodyPr wrap="square"/>
          <a:lstStyle/>
          <a:p>
            <a:pPr algn="l">
              <a:spcBef>
                <a:spcPts val="0"/>
              </a:spcBef>
              <a:spcAft>
                <a:spcPts val="0"/>
              </a:spcAft>
              <a:defRPr sz="900" b="0" i="0">
                <a:solidFill>
                  <a:srgbClr val="FFFFFF"/>
                </a:solidFill>
                <a:latin typeface="Calibri Light"/>
              </a:defRPr>
            </a:pPr>
            <a:r>
              <a:t>www.overnet.education</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54864"/>
          </a:xfrm>
          <a:prstGeom prst="rect">
            <a:avLst/>
          </a:prstGeom>
          <a:solidFill>
            <a:srgbClr val="BD27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182880"/>
            <a:ext cx="457200" cy="320040"/>
          </a:xfrm>
          <a:prstGeom prst="rect">
            <a:avLst/>
          </a:prstGeom>
          <a:noFill/>
        </p:spPr>
        <p:txBody>
          <a:bodyPr wrap="square"/>
          <a:lstStyle/>
          <a:p>
            <a:pPr algn="l">
              <a:spcBef>
                <a:spcPts val="0"/>
              </a:spcBef>
              <a:spcAft>
                <a:spcPts val="0"/>
              </a:spcAft>
              <a:defRPr sz="1300" b="1" i="0">
                <a:solidFill>
                  <a:srgbClr val="BD2716"/>
                </a:solidFill>
                <a:latin typeface="Calibri"/>
              </a:defRPr>
            </a:pPr>
            <a:r>
              <a:t>2.4</a:t>
            </a:r>
          </a:p>
        </p:txBody>
      </p:sp>
      <p:sp>
        <p:nvSpPr>
          <p:cNvPr id="4" name="TextBox 3"/>
          <p:cNvSpPr txBox="1"/>
          <p:nvPr/>
        </p:nvSpPr>
        <p:spPr>
          <a:xfrm>
            <a:off x="822960" y="182880"/>
            <a:ext cx="7315200" cy="320040"/>
          </a:xfrm>
          <a:prstGeom prst="rect">
            <a:avLst/>
          </a:prstGeom>
          <a:noFill/>
        </p:spPr>
        <p:txBody>
          <a:bodyPr wrap="square"/>
          <a:lstStyle/>
          <a:p>
            <a:pPr algn="l">
              <a:spcBef>
                <a:spcPts val="0"/>
              </a:spcBef>
              <a:spcAft>
                <a:spcPts val="0"/>
              </a:spcAft>
              <a:defRPr sz="1100" b="0" i="0">
                <a:solidFill>
                  <a:srgbClr val="666666"/>
                </a:solidFill>
                <a:latin typeface="Calibri Light"/>
              </a:defRPr>
            </a:pPr>
            <a:r>
              <a:t>Prototype</a:t>
            </a:r>
          </a:p>
        </p:txBody>
      </p:sp>
      <p:sp>
        <p:nvSpPr>
          <p:cNvPr id="5" name="TextBox 4"/>
          <p:cNvSpPr txBox="1"/>
          <p:nvPr/>
        </p:nvSpPr>
        <p:spPr>
          <a:xfrm>
            <a:off x="548640" y="731520"/>
            <a:ext cx="10515600" cy="731520"/>
          </a:xfrm>
          <a:prstGeom prst="rect">
            <a:avLst/>
          </a:prstGeom>
          <a:noFill/>
        </p:spPr>
        <p:txBody>
          <a:bodyPr wrap="square"/>
          <a:lstStyle/>
          <a:p>
            <a:pPr algn="l">
              <a:spcBef>
                <a:spcPts val="0"/>
              </a:spcBef>
              <a:spcAft>
                <a:spcPts val="0"/>
              </a:spcAft>
              <a:defRPr sz="3000" b="1" i="0">
                <a:solidFill>
                  <a:srgbClr val="333333"/>
                </a:solidFill>
                <a:latin typeface="Calibri"/>
              </a:defRPr>
            </a:pPr>
            <a:r>
              <a:t>Prototype: Critical Discussion</a:t>
            </a:r>
          </a:p>
        </p:txBody>
      </p:sp>
      <p:sp>
        <p:nvSpPr>
          <p:cNvPr id="6" name="Rectangle 5"/>
          <p:cNvSpPr/>
          <p:nvPr/>
        </p:nvSpPr>
        <p:spPr>
          <a:xfrm>
            <a:off x="457200" y="1645920"/>
            <a:ext cx="5394960" cy="1463040"/>
          </a:xfrm>
          <a:prstGeom prst="rect">
            <a:avLst/>
          </a:prstGeom>
          <a:solidFill>
            <a:srgbClr val="F0FF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457200" y="1645920"/>
            <a:ext cx="73152" cy="1463040"/>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31520" y="1691640"/>
            <a:ext cx="4846320" cy="274320"/>
          </a:xfrm>
          <a:prstGeom prst="rect">
            <a:avLst/>
          </a:prstGeom>
          <a:noFill/>
        </p:spPr>
        <p:txBody>
          <a:bodyPr wrap="square"/>
          <a:lstStyle/>
          <a:p>
            <a:pPr algn="l">
              <a:spcBef>
                <a:spcPts val="0"/>
              </a:spcBef>
              <a:spcAft>
                <a:spcPts val="0"/>
              </a:spcAft>
              <a:defRPr sz="1400" b="1" i="0">
                <a:solidFill>
                  <a:srgbClr val="2E7D32"/>
                </a:solidFill>
                <a:latin typeface="Calibri"/>
              </a:defRPr>
            </a:pPr>
            <a:r>
              <a:t>When to use</a:t>
            </a:r>
          </a:p>
        </p:txBody>
      </p:sp>
      <p:sp>
        <p:nvSpPr>
          <p:cNvPr id="9" name="TextBox 8"/>
          <p:cNvSpPr txBox="1"/>
          <p:nvPr/>
        </p:nvSpPr>
        <p:spPr>
          <a:xfrm>
            <a:off x="731520" y="2011680"/>
            <a:ext cx="4846320" cy="1005840"/>
          </a:xfrm>
          <a:prstGeom prst="rect">
            <a:avLst/>
          </a:prstGeom>
          <a:noFill/>
        </p:spPr>
        <p:txBody>
          <a:bodyPr wrap="square">
            <a:spAutoFit/>
          </a:bodyPr>
          <a:lstStyle/>
          <a:p>
            <a:pPr>
              <a:spcAft>
                <a:spcPts val="400"/>
              </a:spcAft>
              <a:defRPr sz="1100">
                <a:solidFill>
                  <a:srgbClr val="333333"/>
                </a:solidFill>
                <a:latin typeface="Calibri Light"/>
              </a:defRPr>
            </a:pPr>
            <a:r>
              <a:t>Object initialization is significantly expensive (DB, network, computation)</a:t>
            </a:r>
          </a:p>
          <a:p>
            <a:pPr>
              <a:spcAft>
                <a:spcPts val="400"/>
              </a:spcAft>
              <a:defRPr sz="1100">
                <a:solidFill>
                  <a:srgbClr val="333333"/>
                </a:solidFill>
                <a:latin typeface="Calibri Light"/>
              </a:defRPr>
            </a:pPr>
            <a:r>
              <a:t>You need many similar objects with small variations</a:t>
            </a:r>
          </a:p>
          <a:p>
            <a:pPr>
              <a:spcAft>
                <a:spcPts val="400"/>
              </a:spcAft>
              <a:defRPr sz="1100">
                <a:solidFill>
                  <a:srgbClr val="333333"/>
                </a:solidFill>
                <a:latin typeface="Calibri Light"/>
              </a:defRPr>
            </a:pPr>
            <a:r>
              <a:t>You want to add new product types at runtime without new classes</a:t>
            </a:r>
          </a:p>
        </p:txBody>
      </p:sp>
      <p:sp>
        <p:nvSpPr>
          <p:cNvPr id="10" name="Rectangle 9"/>
          <p:cNvSpPr/>
          <p:nvPr/>
        </p:nvSpPr>
        <p:spPr>
          <a:xfrm>
            <a:off x="6126480" y="1645920"/>
            <a:ext cx="5577840" cy="1463040"/>
          </a:xfrm>
          <a:prstGeom prst="rect">
            <a:avLst/>
          </a:prstGeom>
          <a:solidFill>
            <a:srgbClr val="FFF3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126480" y="1645920"/>
            <a:ext cx="73152" cy="1463040"/>
          </a:xfrm>
          <a:prstGeom prst="rect">
            <a:avLst/>
          </a:prstGeom>
          <a:solidFill>
            <a:srgbClr val="BD27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400800" y="1691640"/>
            <a:ext cx="5029200" cy="274320"/>
          </a:xfrm>
          <a:prstGeom prst="rect">
            <a:avLst/>
          </a:prstGeom>
          <a:noFill/>
        </p:spPr>
        <p:txBody>
          <a:bodyPr wrap="square"/>
          <a:lstStyle/>
          <a:p>
            <a:pPr algn="l">
              <a:spcBef>
                <a:spcPts val="0"/>
              </a:spcBef>
              <a:spcAft>
                <a:spcPts val="0"/>
              </a:spcAft>
              <a:defRPr sz="1400" b="1" i="0">
                <a:solidFill>
                  <a:srgbClr val="BD2716"/>
                </a:solidFill>
                <a:latin typeface="Calibri"/>
              </a:defRPr>
            </a:pPr>
            <a:r>
              <a:t>When to avoid</a:t>
            </a:r>
          </a:p>
        </p:txBody>
      </p:sp>
      <p:sp>
        <p:nvSpPr>
          <p:cNvPr id="13" name="TextBox 12"/>
          <p:cNvSpPr txBox="1"/>
          <p:nvPr/>
        </p:nvSpPr>
        <p:spPr>
          <a:xfrm>
            <a:off x="6400800" y="2011680"/>
            <a:ext cx="5029200" cy="1005840"/>
          </a:xfrm>
          <a:prstGeom prst="rect">
            <a:avLst/>
          </a:prstGeom>
          <a:noFill/>
        </p:spPr>
        <p:txBody>
          <a:bodyPr wrap="square">
            <a:spAutoFit/>
          </a:bodyPr>
          <a:lstStyle/>
          <a:p>
            <a:pPr>
              <a:spcAft>
                <a:spcPts val="400"/>
              </a:spcAft>
              <a:defRPr sz="1100">
                <a:solidFill>
                  <a:srgbClr val="333333"/>
                </a:solidFill>
                <a:latin typeface="Calibri Light"/>
              </a:defRPr>
            </a:pPr>
            <a:r>
              <a:t>Objects are cheap to create from scratch</a:t>
            </a:r>
          </a:p>
          <a:p>
            <a:pPr>
              <a:spcAft>
                <a:spcPts val="400"/>
              </a:spcAft>
              <a:defRPr sz="1100">
                <a:solidFill>
                  <a:srgbClr val="333333"/>
                </a:solidFill>
                <a:latin typeface="Calibri Light"/>
              </a:defRPr>
            </a:pPr>
            <a:r>
              <a:t>The object graph is complex with circular references</a:t>
            </a:r>
          </a:p>
          <a:p>
            <a:pPr>
              <a:spcAft>
                <a:spcPts val="400"/>
              </a:spcAft>
              <a:defRPr sz="1100">
                <a:solidFill>
                  <a:srgbClr val="333333"/>
                </a:solidFill>
                <a:latin typeface="Calibri Light"/>
              </a:defRPr>
            </a:pPr>
            <a:r>
              <a:t>You confuse Prototype with simple object copying — the pattern is about a creation strategy</a:t>
            </a:r>
          </a:p>
        </p:txBody>
      </p:sp>
      <p:sp>
        <p:nvSpPr>
          <p:cNvPr id="14" name="Rectangle 13"/>
          <p:cNvSpPr/>
          <p:nvPr/>
        </p:nvSpPr>
        <p:spPr>
          <a:xfrm>
            <a:off x="457200" y="3383280"/>
            <a:ext cx="11247120" cy="1188720"/>
          </a:xfrm>
          <a:prstGeom prst="rect">
            <a:avLst/>
          </a:prstGeom>
          <a:solidFill>
            <a:srgbClr val="FFF8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457200" y="3383280"/>
            <a:ext cx="73152" cy="1188720"/>
          </a:xfrm>
          <a:prstGeom prst="rect">
            <a:avLst/>
          </a:prstGeom>
          <a:solidFill>
            <a:srgbClr val="E8A3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31520" y="3429000"/>
            <a:ext cx="10698480" cy="274320"/>
          </a:xfrm>
          <a:prstGeom prst="rect">
            <a:avLst/>
          </a:prstGeom>
          <a:noFill/>
        </p:spPr>
        <p:txBody>
          <a:bodyPr wrap="square"/>
          <a:lstStyle/>
          <a:p>
            <a:pPr algn="l">
              <a:spcBef>
                <a:spcPts val="0"/>
              </a:spcBef>
              <a:spcAft>
                <a:spcPts val="0"/>
              </a:spcAft>
              <a:defRPr sz="1400" b="1" i="0">
                <a:solidFill>
                  <a:srgbClr val="E8A317"/>
                </a:solidFill>
                <a:latin typeface="Calibri"/>
              </a:defRPr>
            </a:pPr>
            <a:r>
              <a:t>Modern Java perspective</a:t>
            </a:r>
          </a:p>
        </p:txBody>
      </p:sp>
      <p:sp>
        <p:nvSpPr>
          <p:cNvPr id="17" name="TextBox 16"/>
          <p:cNvSpPr txBox="1"/>
          <p:nvPr/>
        </p:nvSpPr>
        <p:spPr>
          <a:xfrm>
            <a:off x="731520" y="3749039"/>
            <a:ext cx="10698480" cy="731520"/>
          </a:xfrm>
          <a:prstGeom prst="rect">
            <a:avLst/>
          </a:prstGeom>
          <a:noFill/>
        </p:spPr>
        <p:txBody>
          <a:bodyPr wrap="square"/>
          <a:lstStyle/>
          <a:p>
            <a:pPr algn="l">
              <a:spcBef>
                <a:spcPts val="0"/>
              </a:spcBef>
              <a:spcAft>
                <a:spcPts val="0"/>
              </a:spcAft>
              <a:defRPr sz="1200" b="0" i="0">
                <a:solidFill>
                  <a:srgbClr val="333333"/>
                </a:solidFill>
                <a:latin typeface="Calibri Light"/>
              </a:defRPr>
            </a:pPr>
            <a:r>
              <a:t>Avoid java.lang.Cloneable: use copy constructors or serialization-based deep copy instead. Java records are inherently immutable, which makes Prototype less necessary for value objects. For mutable domain objects, consider using Prototype with the Memento pattern to snapshot and restore state. Spring’s prototype scope is named after this pattern but uses Factory Method internally, not cloning.</a:t>
            </a:r>
          </a:p>
        </p:txBody>
      </p:sp>
      <p:sp>
        <p:nvSpPr>
          <p:cNvPr id="18" name="Rectangle 17"/>
          <p:cNvSpPr/>
          <p:nvPr/>
        </p:nvSpPr>
        <p:spPr>
          <a:xfrm>
            <a:off x="457200" y="4846320"/>
            <a:ext cx="11247120" cy="109728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31520" y="4892040"/>
            <a:ext cx="10698480" cy="274320"/>
          </a:xfrm>
          <a:prstGeom prst="rect">
            <a:avLst/>
          </a:prstGeom>
          <a:noFill/>
        </p:spPr>
        <p:txBody>
          <a:bodyPr wrap="square"/>
          <a:lstStyle/>
          <a:p>
            <a:pPr algn="l">
              <a:spcBef>
                <a:spcPts val="0"/>
              </a:spcBef>
              <a:spcAft>
                <a:spcPts val="0"/>
              </a:spcAft>
              <a:defRPr sz="1400" b="1" i="0">
                <a:solidFill>
                  <a:srgbClr val="1565C0"/>
                </a:solidFill>
                <a:latin typeface="Calibri"/>
              </a:defRPr>
            </a:pPr>
            <a:r>
              <a:t>Related Patterns</a:t>
            </a:r>
          </a:p>
        </p:txBody>
      </p:sp>
      <p:sp>
        <p:nvSpPr>
          <p:cNvPr id="20" name="TextBox 19"/>
          <p:cNvSpPr txBox="1"/>
          <p:nvPr/>
        </p:nvSpPr>
        <p:spPr>
          <a:xfrm>
            <a:off x="731520" y="5212080"/>
            <a:ext cx="10698480" cy="640080"/>
          </a:xfrm>
          <a:prstGeom prst="rect">
            <a:avLst/>
          </a:prstGeom>
          <a:noFill/>
        </p:spPr>
        <p:txBody>
          <a:bodyPr wrap="square"/>
          <a:lstStyle/>
          <a:p>
            <a:pPr algn="l">
              <a:spcBef>
                <a:spcPts val="0"/>
              </a:spcBef>
              <a:spcAft>
                <a:spcPts val="0"/>
              </a:spcAft>
              <a:defRPr sz="1200" b="0" i="0">
                <a:solidFill>
                  <a:srgbClr val="333333"/>
                </a:solidFill>
                <a:latin typeface="Calibri Light"/>
              </a:defRPr>
            </a:pPr>
            <a:r>
              <a:t>Abstract Factory – can use prototypes instead of factory methods. Memento – captures state that can be used to restore or clone. Builder – Builder constructs from scratch; Prototype copies an existing object.</a:t>
            </a:r>
          </a:p>
        </p:txBody>
      </p:sp>
      <p:sp>
        <p:nvSpPr>
          <p:cNvPr id="21" name="Rectangle 20"/>
          <p:cNvSpPr/>
          <p:nvPr/>
        </p:nvSpPr>
        <p:spPr>
          <a:xfrm>
            <a:off x="0" y="6492240"/>
            <a:ext cx="12192000" cy="365760"/>
          </a:xfrm>
          <a:prstGeom prst="rect">
            <a:avLst/>
          </a:prstGeom>
          <a:solidFill>
            <a:srgbClr val="BD27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57200" y="6528816"/>
            <a:ext cx="3657600" cy="274320"/>
          </a:xfrm>
          <a:prstGeom prst="rect">
            <a:avLst/>
          </a:prstGeom>
          <a:noFill/>
        </p:spPr>
        <p:txBody>
          <a:bodyPr wrap="square"/>
          <a:lstStyle/>
          <a:p>
            <a:pPr algn="l">
              <a:spcBef>
                <a:spcPts val="0"/>
              </a:spcBef>
              <a:spcAft>
                <a:spcPts val="0"/>
              </a:spcAft>
              <a:defRPr sz="900" b="0" i="0">
                <a:solidFill>
                  <a:srgbClr val="FFFFFF"/>
                </a:solidFill>
                <a:latin typeface="Calibri Light"/>
              </a:defRPr>
            </a:pPr>
            <a:r>
              <a:t>www.overnet.education</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1E1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2000" cy="73152"/>
          </a:xfrm>
          <a:prstGeom prst="rect">
            <a:avLst/>
          </a:prstGeom>
          <a:solidFill>
            <a:srgbClr val="BD27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1371600"/>
            <a:ext cx="10058400" cy="457200"/>
          </a:xfrm>
          <a:prstGeom prst="rect">
            <a:avLst/>
          </a:prstGeom>
          <a:noFill/>
        </p:spPr>
        <p:txBody>
          <a:bodyPr wrap="square"/>
          <a:lstStyle/>
          <a:p>
            <a:pPr algn="l">
              <a:spcBef>
                <a:spcPts val="0"/>
              </a:spcBef>
              <a:spcAft>
                <a:spcPts val="0"/>
              </a:spcAft>
              <a:defRPr sz="1600" b="0" i="0">
                <a:solidFill>
                  <a:srgbClr val="AAAABB"/>
                </a:solidFill>
                <a:latin typeface="Calibri Light"/>
              </a:defRPr>
            </a:pPr>
            <a:r>
              <a:t>Creational Pattern</a:t>
            </a:r>
          </a:p>
        </p:txBody>
      </p:sp>
      <p:sp>
        <p:nvSpPr>
          <p:cNvPr id="5" name="TextBox 4"/>
          <p:cNvSpPr txBox="1"/>
          <p:nvPr/>
        </p:nvSpPr>
        <p:spPr>
          <a:xfrm>
            <a:off x="548640" y="2011680"/>
            <a:ext cx="10058400" cy="914400"/>
          </a:xfrm>
          <a:prstGeom prst="rect">
            <a:avLst/>
          </a:prstGeom>
          <a:noFill/>
        </p:spPr>
        <p:txBody>
          <a:bodyPr wrap="square"/>
          <a:lstStyle/>
          <a:p>
            <a:pPr algn="l">
              <a:spcBef>
                <a:spcPts val="0"/>
              </a:spcBef>
              <a:spcAft>
                <a:spcPts val="0"/>
              </a:spcAft>
              <a:defRPr sz="4400" b="1" i="0">
                <a:solidFill>
                  <a:srgbClr val="FFFFFF"/>
                </a:solidFill>
                <a:latin typeface="Calibri"/>
              </a:defRPr>
            </a:pPr>
            <a:r>
              <a:t>Singleton</a:t>
            </a:r>
          </a:p>
        </p:txBody>
      </p:sp>
      <p:sp>
        <p:nvSpPr>
          <p:cNvPr id="6" name="Rectangle 5"/>
          <p:cNvSpPr/>
          <p:nvPr/>
        </p:nvSpPr>
        <p:spPr>
          <a:xfrm>
            <a:off x="548640" y="3017520"/>
            <a:ext cx="2286000" cy="54864"/>
          </a:xfrm>
          <a:prstGeom prst="rect">
            <a:avLst/>
          </a:prstGeom>
          <a:solidFill>
            <a:srgbClr val="BD27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48640" y="3291840"/>
            <a:ext cx="10058400" cy="457200"/>
          </a:xfrm>
          <a:prstGeom prst="rect">
            <a:avLst/>
          </a:prstGeom>
          <a:noFill/>
        </p:spPr>
        <p:txBody>
          <a:bodyPr wrap="square"/>
          <a:lstStyle/>
          <a:p>
            <a:pPr algn="l">
              <a:spcBef>
                <a:spcPts val="0"/>
              </a:spcBef>
              <a:spcAft>
                <a:spcPts val="0"/>
              </a:spcAft>
              <a:defRPr sz="1800" b="0" i="0">
                <a:solidFill>
                  <a:srgbClr val="BD2716"/>
                </a:solidFill>
                <a:latin typeface="Calibri Light"/>
              </a:defRPr>
            </a:pPr>
            <a:r>
              <a:t>One instance, global access</a:t>
            </a:r>
          </a:p>
        </p:txBody>
      </p:sp>
      <p:sp>
        <p:nvSpPr>
          <p:cNvPr id="8" name="Rectangle 7"/>
          <p:cNvSpPr/>
          <p:nvPr/>
        </p:nvSpPr>
        <p:spPr>
          <a:xfrm>
            <a:off x="548640" y="4114800"/>
            <a:ext cx="10515600" cy="1097280"/>
          </a:xfrm>
          <a:prstGeom prst="rect">
            <a:avLst/>
          </a:prstGeom>
          <a:solidFill>
            <a:srgbClr val="282C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548640" y="4114800"/>
            <a:ext cx="73152" cy="1097280"/>
          </a:xfrm>
          <a:prstGeom prst="rect">
            <a:avLst/>
          </a:prstGeom>
          <a:solidFill>
            <a:srgbClr val="BD27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68680" y="4206240"/>
            <a:ext cx="9966960" cy="914400"/>
          </a:xfrm>
          <a:prstGeom prst="rect">
            <a:avLst/>
          </a:prstGeom>
          <a:noFill/>
        </p:spPr>
        <p:txBody>
          <a:bodyPr wrap="square">
            <a:spAutoFit/>
          </a:bodyPr>
          <a:lstStyle/>
          <a:p>
            <a:pPr algn="l"/>
            <a:r>
              <a:rPr sz="1400" b="1" i="0">
                <a:solidFill>
                  <a:srgbClr val="BD2716"/>
                </a:solidFill>
                <a:latin typeface="Calibri"/>
              </a:rPr>
              <a:t>Intent: </a:t>
            </a:r>
            <a:r>
              <a:rPr sz="1400" b="0" i="0">
                <a:solidFill>
                  <a:srgbClr val="DDDDEE"/>
                </a:solidFill>
                <a:latin typeface="Calibri Light"/>
              </a:rPr>
              <a:t>Ensure a class has only one instance, and provide a global point of access to it.</a:t>
            </a:r>
          </a:p>
        </p:txBody>
      </p:sp>
      <p:sp>
        <p:nvSpPr>
          <p:cNvPr id="11" name="Rectangle 10"/>
          <p:cNvSpPr/>
          <p:nvPr/>
        </p:nvSpPr>
        <p:spPr>
          <a:xfrm>
            <a:off x="0" y="6492240"/>
            <a:ext cx="12192000" cy="365760"/>
          </a:xfrm>
          <a:prstGeom prst="rect">
            <a:avLst/>
          </a:prstGeom>
          <a:solidFill>
            <a:srgbClr val="BD27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57200" y="6528816"/>
            <a:ext cx="3657600" cy="274320"/>
          </a:xfrm>
          <a:prstGeom prst="rect">
            <a:avLst/>
          </a:prstGeom>
          <a:noFill/>
        </p:spPr>
        <p:txBody>
          <a:bodyPr wrap="square"/>
          <a:lstStyle/>
          <a:p>
            <a:pPr algn="l">
              <a:spcBef>
                <a:spcPts val="0"/>
              </a:spcBef>
              <a:spcAft>
                <a:spcPts val="0"/>
              </a:spcAft>
              <a:defRPr sz="900" b="0" i="0">
                <a:solidFill>
                  <a:srgbClr val="FFFFFF"/>
                </a:solidFill>
                <a:latin typeface="Calibri Light"/>
              </a:defRPr>
            </a:pPr>
            <a:r>
              <a:t>www.overnet.education</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54864"/>
          </a:xfrm>
          <a:prstGeom prst="rect">
            <a:avLst/>
          </a:prstGeom>
          <a:solidFill>
            <a:srgbClr val="BD27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182880"/>
            <a:ext cx="457200" cy="320040"/>
          </a:xfrm>
          <a:prstGeom prst="rect">
            <a:avLst/>
          </a:prstGeom>
          <a:noFill/>
        </p:spPr>
        <p:txBody>
          <a:bodyPr wrap="square"/>
          <a:lstStyle/>
          <a:p>
            <a:pPr algn="l">
              <a:spcBef>
                <a:spcPts val="0"/>
              </a:spcBef>
              <a:spcAft>
                <a:spcPts val="0"/>
              </a:spcAft>
              <a:defRPr sz="1300" b="1" i="0">
                <a:solidFill>
                  <a:srgbClr val="BD2716"/>
                </a:solidFill>
                <a:latin typeface="Calibri"/>
              </a:defRPr>
            </a:pPr>
            <a:r>
              <a:t>2.5</a:t>
            </a:r>
          </a:p>
        </p:txBody>
      </p:sp>
      <p:sp>
        <p:nvSpPr>
          <p:cNvPr id="4" name="TextBox 3"/>
          <p:cNvSpPr txBox="1"/>
          <p:nvPr/>
        </p:nvSpPr>
        <p:spPr>
          <a:xfrm>
            <a:off x="822960" y="182880"/>
            <a:ext cx="7315200" cy="320040"/>
          </a:xfrm>
          <a:prstGeom prst="rect">
            <a:avLst/>
          </a:prstGeom>
          <a:noFill/>
        </p:spPr>
        <p:txBody>
          <a:bodyPr wrap="square"/>
          <a:lstStyle/>
          <a:p>
            <a:pPr algn="l">
              <a:spcBef>
                <a:spcPts val="0"/>
              </a:spcBef>
              <a:spcAft>
                <a:spcPts val="0"/>
              </a:spcAft>
              <a:defRPr sz="1100" b="0" i="0">
                <a:solidFill>
                  <a:srgbClr val="666666"/>
                </a:solidFill>
                <a:latin typeface="Calibri Light"/>
              </a:defRPr>
            </a:pPr>
            <a:r>
              <a:t>Singleton</a:t>
            </a:r>
          </a:p>
        </p:txBody>
      </p:sp>
      <p:sp>
        <p:nvSpPr>
          <p:cNvPr id="5" name="TextBox 4"/>
          <p:cNvSpPr txBox="1"/>
          <p:nvPr/>
        </p:nvSpPr>
        <p:spPr>
          <a:xfrm>
            <a:off x="548640" y="731520"/>
            <a:ext cx="10515600" cy="731520"/>
          </a:xfrm>
          <a:prstGeom prst="rect">
            <a:avLst/>
          </a:prstGeom>
          <a:noFill/>
        </p:spPr>
        <p:txBody>
          <a:bodyPr wrap="square"/>
          <a:lstStyle/>
          <a:p>
            <a:pPr algn="l">
              <a:spcBef>
                <a:spcPts val="0"/>
              </a:spcBef>
              <a:spcAft>
                <a:spcPts val="0"/>
              </a:spcAft>
              <a:defRPr sz="3200" b="1" i="0">
                <a:solidFill>
                  <a:srgbClr val="333333"/>
                </a:solidFill>
                <a:latin typeface="Calibri"/>
              </a:defRPr>
            </a:pPr>
            <a:r>
              <a:t>Singleton: Structure &amp; Consequences</a:t>
            </a:r>
          </a:p>
        </p:txBody>
      </p:sp>
      <p:sp>
        <p:nvSpPr>
          <p:cNvPr id="6" name="Rectangle 5"/>
          <p:cNvSpPr/>
          <p:nvPr/>
        </p:nvSpPr>
        <p:spPr>
          <a:xfrm>
            <a:off x="457200" y="1645920"/>
            <a:ext cx="11247120" cy="109728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457200" y="1645920"/>
            <a:ext cx="73152" cy="1097280"/>
          </a:xfrm>
          <a:prstGeom prst="rect">
            <a:avLst/>
          </a:prstGeom>
          <a:solidFill>
            <a:srgbClr val="BD27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31520" y="1691640"/>
            <a:ext cx="1828800" cy="274320"/>
          </a:xfrm>
          <a:prstGeom prst="rect">
            <a:avLst/>
          </a:prstGeom>
          <a:noFill/>
        </p:spPr>
        <p:txBody>
          <a:bodyPr wrap="square"/>
          <a:lstStyle/>
          <a:p>
            <a:pPr algn="l">
              <a:spcBef>
                <a:spcPts val="0"/>
              </a:spcBef>
              <a:spcAft>
                <a:spcPts val="0"/>
              </a:spcAft>
              <a:defRPr sz="1300" b="1" i="0">
                <a:solidFill>
                  <a:srgbClr val="BD2716"/>
                </a:solidFill>
                <a:latin typeface="Calibri"/>
              </a:defRPr>
            </a:pPr>
            <a:r>
              <a:t>Motivation</a:t>
            </a:r>
          </a:p>
        </p:txBody>
      </p:sp>
      <p:sp>
        <p:nvSpPr>
          <p:cNvPr id="9" name="TextBox 8"/>
          <p:cNvSpPr txBox="1"/>
          <p:nvPr/>
        </p:nvSpPr>
        <p:spPr>
          <a:xfrm>
            <a:off x="731520" y="1965960"/>
            <a:ext cx="10698480" cy="685800"/>
          </a:xfrm>
          <a:prstGeom prst="rect">
            <a:avLst/>
          </a:prstGeom>
          <a:noFill/>
        </p:spPr>
        <p:txBody>
          <a:bodyPr wrap="square"/>
          <a:lstStyle/>
          <a:p>
            <a:pPr algn="l">
              <a:spcBef>
                <a:spcPts val="0"/>
              </a:spcBef>
              <a:spcAft>
                <a:spcPts val="0"/>
              </a:spcAft>
              <a:defRPr sz="1200" b="0" i="0">
                <a:solidFill>
                  <a:srgbClr val="333333"/>
                </a:solidFill>
                <a:latin typeface="Calibri Light"/>
              </a:defRPr>
            </a:pPr>
            <a:r>
              <a:t>A connection pool manager, a configuration registry, or an audit logger: these are resources where having multiple instances would be wasteful or dangerous. Singleton ensures that exactly one instance exists and that all clients share it. However, Singleton is also the most controversial GoF pattern, because it introduces hidden global state and makes testing harder.</a:t>
            </a:r>
          </a:p>
        </p:txBody>
      </p:sp>
      <p:sp>
        <p:nvSpPr>
          <p:cNvPr id="10" name="TextBox 9"/>
          <p:cNvSpPr txBox="1"/>
          <p:nvPr/>
        </p:nvSpPr>
        <p:spPr>
          <a:xfrm>
            <a:off x="457200" y="2926080"/>
            <a:ext cx="2743200" cy="274320"/>
          </a:xfrm>
          <a:prstGeom prst="rect">
            <a:avLst/>
          </a:prstGeom>
          <a:noFill/>
        </p:spPr>
        <p:txBody>
          <a:bodyPr wrap="square"/>
          <a:lstStyle/>
          <a:p>
            <a:pPr algn="l">
              <a:spcBef>
                <a:spcPts val="0"/>
              </a:spcBef>
              <a:spcAft>
                <a:spcPts val="0"/>
              </a:spcAft>
              <a:defRPr sz="1400" b="1" i="0">
                <a:solidFill>
                  <a:srgbClr val="1565C0"/>
                </a:solidFill>
                <a:latin typeface="Calibri"/>
              </a:defRPr>
            </a:pPr>
            <a:r>
              <a:t>Participants</a:t>
            </a:r>
          </a:p>
        </p:txBody>
      </p:sp>
      <p:sp>
        <p:nvSpPr>
          <p:cNvPr id="11" name="TextBox 10"/>
          <p:cNvSpPr txBox="1"/>
          <p:nvPr/>
        </p:nvSpPr>
        <p:spPr>
          <a:xfrm>
            <a:off x="640080" y="3246120"/>
            <a:ext cx="10972800" cy="1371600"/>
          </a:xfrm>
          <a:prstGeom prst="rect">
            <a:avLst/>
          </a:prstGeom>
          <a:noFill/>
        </p:spPr>
        <p:txBody>
          <a:bodyPr wrap="square">
            <a:spAutoFit/>
          </a:bodyPr>
          <a:lstStyle/>
          <a:p>
            <a:pPr>
              <a:spcAft>
                <a:spcPts val="400"/>
              </a:spcAft>
              <a:defRPr sz="1200">
                <a:solidFill>
                  <a:srgbClr val="333333"/>
                </a:solidFill>
                <a:latin typeface="Calibri Light"/>
              </a:defRPr>
            </a:pPr>
            <a:r>
              <a:t>Singleton – the class itself, which holds the single instance and provides a static access point</a:t>
            </a:r>
          </a:p>
          <a:p>
            <a:pPr>
              <a:spcAft>
                <a:spcPts val="400"/>
              </a:spcAft>
              <a:defRPr sz="1200">
                <a:solidFill>
                  <a:srgbClr val="333333"/>
                </a:solidFill>
                <a:latin typeface="Calibri Light"/>
              </a:defRPr>
            </a:pPr>
            <a:r>
              <a:t>getInstance() – the static method (or equivalent) that returns the sole instance</a:t>
            </a:r>
          </a:p>
          <a:p>
            <a:pPr>
              <a:spcAft>
                <a:spcPts val="400"/>
              </a:spcAft>
              <a:defRPr sz="1200">
                <a:solidFill>
                  <a:srgbClr val="333333"/>
                </a:solidFill>
                <a:latin typeface="Calibri Light"/>
              </a:defRPr>
            </a:pPr>
            <a:r>
              <a:t>Client – accesses the instance via the global access point</a:t>
            </a:r>
          </a:p>
        </p:txBody>
      </p:sp>
      <p:sp>
        <p:nvSpPr>
          <p:cNvPr id="12" name="Rectangle 11"/>
          <p:cNvSpPr/>
          <p:nvPr/>
        </p:nvSpPr>
        <p:spPr>
          <a:xfrm>
            <a:off x="457200" y="4754880"/>
            <a:ext cx="5394960" cy="1280160"/>
          </a:xfrm>
          <a:prstGeom prst="rect">
            <a:avLst/>
          </a:prstGeom>
          <a:solidFill>
            <a:srgbClr val="F0FF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40080" y="4800600"/>
            <a:ext cx="5029200" cy="274320"/>
          </a:xfrm>
          <a:prstGeom prst="rect">
            <a:avLst/>
          </a:prstGeom>
          <a:noFill/>
        </p:spPr>
        <p:txBody>
          <a:bodyPr wrap="square"/>
          <a:lstStyle/>
          <a:p>
            <a:pPr algn="l">
              <a:spcBef>
                <a:spcPts val="0"/>
              </a:spcBef>
              <a:spcAft>
                <a:spcPts val="0"/>
              </a:spcAft>
              <a:defRPr sz="1300" b="1" i="0">
                <a:solidFill>
                  <a:srgbClr val="2E7D32"/>
                </a:solidFill>
                <a:latin typeface="Calibri"/>
              </a:defRPr>
            </a:pPr>
            <a:r>
              <a:t>✓  Advantages</a:t>
            </a:r>
          </a:p>
        </p:txBody>
      </p:sp>
      <p:sp>
        <p:nvSpPr>
          <p:cNvPr id="14" name="TextBox 13"/>
          <p:cNvSpPr txBox="1"/>
          <p:nvPr/>
        </p:nvSpPr>
        <p:spPr>
          <a:xfrm>
            <a:off x="640080" y="5120640"/>
            <a:ext cx="5029200" cy="822960"/>
          </a:xfrm>
          <a:prstGeom prst="rect">
            <a:avLst/>
          </a:prstGeom>
          <a:noFill/>
        </p:spPr>
        <p:txBody>
          <a:bodyPr wrap="square">
            <a:spAutoFit/>
          </a:bodyPr>
          <a:lstStyle/>
          <a:p>
            <a:pPr>
              <a:spcAft>
                <a:spcPts val="400"/>
              </a:spcAft>
              <a:defRPr sz="1100">
                <a:solidFill>
                  <a:srgbClr val="333333"/>
                </a:solidFill>
                <a:latin typeface="Calibri Light"/>
              </a:defRPr>
            </a:pPr>
            <a:r>
              <a:t>Controlled access to the sole instance</a:t>
            </a:r>
          </a:p>
          <a:p>
            <a:pPr>
              <a:spcAft>
                <a:spcPts val="400"/>
              </a:spcAft>
              <a:defRPr sz="1100">
                <a:solidFill>
                  <a:srgbClr val="333333"/>
                </a:solidFill>
                <a:latin typeface="Calibri Light"/>
              </a:defRPr>
            </a:pPr>
            <a:r>
              <a:t>Lazy initialization possible: create only when first needed</a:t>
            </a:r>
          </a:p>
          <a:p>
            <a:pPr>
              <a:spcAft>
                <a:spcPts val="400"/>
              </a:spcAft>
              <a:defRPr sz="1100">
                <a:solidFill>
                  <a:srgbClr val="333333"/>
                </a:solidFill>
                <a:latin typeface="Calibri Light"/>
              </a:defRPr>
            </a:pPr>
            <a:r>
              <a:t>Can be subclassed (with care) to provide different implementations</a:t>
            </a:r>
          </a:p>
        </p:txBody>
      </p:sp>
      <p:sp>
        <p:nvSpPr>
          <p:cNvPr id="15" name="Rectangle 14"/>
          <p:cNvSpPr/>
          <p:nvPr/>
        </p:nvSpPr>
        <p:spPr>
          <a:xfrm>
            <a:off x="6126480" y="4754880"/>
            <a:ext cx="5577840" cy="1280160"/>
          </a:xfrm>
          <a:prstGeom prst="rect">
            <a:avLst/>
          </a:prstGeom>
          <a:solidFill>
            <a:srgbClr val="FFF3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309360" y="4800600"/>
            <a:ext cx="5212080" cy="274320"/>
          </a:xfrm>
          <a:prstGeom prst="rect">
            <a:avLst/>
          </a:prstGeom>
          <a:noFill/>
        </p:spPr>
        <p:txBody>
          <a:bodyPr wrap="square"/>
          <a:lstStyle/>
          <a:p>
            <a:pPr algn="l">
              <a:spcBef>
                <a:spcPts val="0"/>
              </a:spcBef>
              <a:spcAft>
                <a:spcPts val="0"/>
              </a:spcAft>
              <a:defRPr sz="1300" b="1" i="0">
                <a:solidFill>
                  <a:srgbClr val="BD2716"/>
                </a:solidFill>
                <a:latin typeface="Calibri"/>
              </a:defRPr>
            </a:pPr>
            <a:r>
              <a:t>✗  Drawbacks</a:t>
            </a:r>
          </a:p>
        </p:txBody>
      </p:sp>
      <p:sp>
        <p:nvSpPr>
          <p:cNvPr id="17" name="TextBox 16"/>
          <p:cNvSpPr txBox="1"/>
          <p:nvPr/>
        </p:nvSpPr>
        <p:spPr>
          <a:xfrm>
            <a:off x="6309360" y="5120640"/>
            <a:ext cx="5212080" cy="822960"/>
          </a:xfrm>
          <a:prstGeom prst="rect">
            <a:avLst/>
          </a:prstGeom>
          <a:noFill/>
        </p:spPr>
        <p:txBody>
          <a:bodyPr wrap="square">
            <a:spAutoFit/>
          </a:bodyPr>
          <a:lstStyle/>
          <a:p>
            <a:pPr>
              <a:spcAft>
                <a:spcPts val="400"/>
              </a:spcAft>
              <a:defRPr sz="1100">
                <a:solidFill>
                  <a:srgbClr val="333333"/>
                </a:solidFill>
                <a:latin typeface="Calibri Light"/>
              </a:defRPr>
            </a:pPr>
            <a:r>
              <a:t>Introduces hidden global state — any class can depend on it</a:t>
            </a:r>
          </a:p>
          <a:p>
            <a:pPr>
              <a:spcAft>
                <a:spcPts val="400"/>
              </a:spcAft>
              <a:defRPr sz="1100">
                <a:solidFill>
                  <a:srgbClr val="333333"/>
                </a:solidFill>
                <a:latin typeface="Calibri Light"/>
              </a:defRPr>
            </a:pPr>
            <a:r>
              <a:t>Extremely difficult to test in isolation (mocking is painful)</a:t>
            </a:r>
          </a:p>
          <a:p>
            <a:pPr>
              <a:spcAft>
                <a:spcPts val="400"/>
              </a:spcAft>
              <a:defRPr sz="1100">
                <a:solidFill>
                  <a:srgbClr val="333333"/>
                </a:solidFill>
                <a:latin typeface="Calibri Light"/>
              </a:defRPr>
            </a:pPr>
            <a:r>
              <a:t>Thread-safety must be handled explicitly</a:t>
            </a:r>
          </a:p>
          <a:p>
            <a:pPr>
              <a:spcAft>
                <a:spcPts val="400"/>
              </a:spcAft>
              <a:defRPr sz="1100">
                <a:solidFill>
                  <a:srgbClr val="333333"/>
                </a:solidFill>
                <a:latin typeface="Calibri Light"/>
              </a:defRPr>
            </a:pPr>
            <a:r>
              <a:t>Often misused as a disguised global variable</a:t>
            </a:r>
          </a:p>
        </p:txBody>
      </p:sp>
      <p:sp>
        <p:nvSpPr>
          <p:cNvPr id="18" name="Rectangle 17"/>
          <p:cNvSpPr/>
          <p:nvPr/>
        </p:nvSpPr>
        <p:spPr>
          <a:xfrm>
            <a:off x="0" y="6492240"/>
            <a:ext cx="12192000" cy="365760"/>
          </a:xfrm>
          <a:prstGeom prst="rect">
            <a:avLst/>
          </a:prstGeom>
          <a:solidFill>
            <a:srgbClr val="BD27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57200" y="6528816"/>
            <a:ext cx="3657600" cy="274320"/>
          </a:xfrm>
          <a:prstGeom prst="rect">
            <a:avLst/>
          </a:prstGeom>
          <a:noFill/>
        </p:spPr>
        <p:txBody>
          <a:bodyPr wrap="square"/>
          <a:lstStyle/>
          <a:p>
            <a:pPr algn="l">
              <a:spcBef>
                <a:spcPts val="0"/>
              </a:spcBef>
              <a:spcAft>
                <a:spcPts val="0"/>
              </a:spcAft>
              <a:defRPr sz="900" b="0" i="0">
                <a:solidFill>
                  <a:srgbClr val="FFFFFF"/>
                </a:solidFill>
                <a:latin typeface="Calibri Light"/>
              </a:defRPr>
            </a:pPr>
            <a:r>
              <a:t>www.overnet.education</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54864"/>
          </a:xfrm>
          <a:prstGeom prst="rect">
            <a:avLst/>
          </a:prstGeom>
          <a:solidFill>
            <a:srgbClr val="BD27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182880"/>
            <a:ext cx="457200" cy="320040"/>
          </a:xfrm>
          <a:prstGeom prst="rect">
            <a:avLst/>
          </a:prstGeom>
          <a:noFill/>
        </p:spPr>
        <p:txBody>
          <a:bodyPr wrap="square"/>
          <a:lstStyle/>
          <a:p>
            <a:pPr algn="l">
              <a:spcBef>
                <a:spcPts val="0"/>
              </a:spcBef>
              <a:spcAft>
                <a:spcPts val="0"/>
              </a:spcAft>
              <a:defRPr sz="1300" b="1" i="0">
                <a:solidFill>
                  <a:srgbClr val="BD2716"/>
                </a:solidFill>
                <a:latin typeface="Calibri"/>
              </a:defRPr>
            </a:pPr>
            <a:r>
              <a:t>2.5</a:t>
            </a:r>
          </a:p>
        </p:txBody>
      </p:sp>
      <p:sp>
        <p:nvSpPr>
          <p:cNvPr id="4" name="TextBox 3"/>
          <p:cNvSpPr txBox="1"/>
          <p:nvPr/>
        </p:nvSpPr>
        <p:spPr>
          <a:xfrm>
            <a:off x="822960" y="182880"/>
            <a:ext cx="7315200" cy="320040"/>
          </a:xfrm>
          <a:prstGeom prst="rect">
            <a:avLst/>
          </a:prstGeom>
          <a:noFill/>
        </p:spPr>
        <p:txBody>
          <a:bodyPr wrap="square"/>
          <a:lstStyle/>
          <a:p>
            <a:pPr algn="l">
              <a:spcBef>
                <a:spcPts val="0"/>
              </a:spcBef>
              <a:spcAft>
                <a:spcPts val="0"/>
              </a:spcAft>
              <a:defRPr sz="1100" b="0" i="0">
                <a:solidFill>
                  <a:srgbClr val="666666"/>
                </a:solidFill>
                <a:latin typeface="Calibri Light"/>
              </a:defRPr>
            </a:pPr>
            <a:r>
              <a:t>Singleton</a:t>
            </a:r>
          </a:p>
        </p:txBody>
      </p:sp>
      <p:sp>
        <p:nvSpPr>
          <p:cNvPr id="5" name="TextBox 4"/>
          <p:cNvSpPr txBox="1"/>
          <p:nvPr/>
        </p:nvSpPr>
        <p:spPr>
          <a:xfrm>
            <a:off x="548640" y="731520"/>
            <a:ext cx="10515600" cy="731520"/>
          </a:xfrm>
          <a:prstGeom prst="rect">
            <a:avLst/>
          </a:prstGeom>
          <a:noFill/>
        </p:spPr>
        <p:txBody>
          <a:bodyPr wrap="square"/>
          <a:lstStyle/>
          <a:p>
            <a:pPr algn="l">
              <a:spcBef>
                <a:spcPts val="0"/>
              </a:spcBef>
              <a:spcAft>
                <a:spcPts val="0"/>
              </a:spcAft>
              <a:defRPr sz="3000" b="1" i="0">
                <a:solidFill>
                  <a:srgbClr val="333333"/>
                </a:solidFill>
                <a:latin typeface="Calibri"/>
              </a:defRPr>
            </a:pPr>
            <a:r>
              <a:t>Singleton: Java Implementation Variants</a:t>
            </a:r>
          </a:p>
        </p:txBody>
      </p:sp>
      <p:sp>
        <p:nvSpPr>
          <p:cNvPr id="6" name="Rectangle 5"/>
          <p:cNvSpPr/>
          <p:nvPr/>
        </p:nvSpPr>
        <p:spPr>
          <a:xfrm>
            <a:off x="457200" y="1645920"/>
            <a:ext cx="5577840" cy="365760"/>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40080" y="1664208"/>
            <a:ext cx="5029200" cy="329184"/>
          </a:xfrm>
          <a:prstGeom prst="rect">
            <a:avLst/>
          </a:prstGeom>
          <a:noFill/>
        </p:spPr>
        <p:txBody>
          <a:bodyPr wrap="square"/>
          <a:lstStyle/>
          <a:p>
            <a:pPr algn="l">
              <a:spcBef>
                <a:spcPts val="0"/>
              </a:spcBef>
              <a:spcAft>
                <a:spcPts val="0"/>
              </a:spcAft>
              <a:defRPr sz="1200" b="1" i="0">
                <a:solidFill>
                  <a:srgbClr val="FFFFFF"/>
                </a:solidFill>
                <a:latin typeface="Calibri"/>
              </a:defRPr>
            </a:pPr>
            <a:r>
              <a:t>Classic Java approaches</a:t>
            </a:r>
          </a:p>
        </p:txBody>
      </p:sp>
      <p:sp>
        <p:nvSpPr>
          <p:cNvPr id="8" name="Rectangle 7"/>
          <p:cNvSpPr/>
          <p:nvPr/>
        </p:nvSpPr>
        <p:spPr>
          <a:xfrm>
            <a:off x="457200" y="2011680"/>
            <a:ext cx="5577840" cy="3840480"/>
          </a:xfrm>
          <a:prstGeom prst="rect">
            <a:avLst/>
          </a:prstGeom>
          <a:solidFill>
            <a:srgbClr val="282C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40080" y="2103120"/>
            <a:ext cx="5212080" cy="3657600"/>
          </a:xfrm>
          <a:prstGeom prst="rect">
            <a:avLst/>
          </a:prstGeom>
          <a:noFill/>
        </p:spPr>
        <p:txBody>
          <a:bodyPr wrap="square"/>
          <a:lstStyle/>
          <a:p>
            <a:pPr algn="l">
              <a:spcBef>
                <a:spcPts val="0"/>
              </a:spcBef>
              <a:spcAft>
                <a:spcPts val="0"/>
              </a:spcAft>
              <a:defRPr sz="900" b="0" i="0">
                <a:solidFill>
                  <a:srgbClr val="ABB2BF"/>
                </a:solidFill>
                <a:latin typeface="Consolas"/>
              </a:defRPr>
            </a:pPr>
            <a:r>
              <a:t>// 1. Enum-based (Josh Bloch recommended)</a:t>
            </a:r>
            <a:br/>
            <a:r>
              <a:t>// Thread-safe, serialization-safe, simple</a:t>
            </a:r>
            <a:br/>
            <a:r>
              <a:t>public enum ConnectionPoolHolder {</a:t>
            </a:r>
            <a:br/>
            <a:r>
              <a:t>    INSTANCE;</a:t>
            </a:r>
            <a:br/>
            <a:br/>
            <a:r>
              <a:t>    private final ConnectionPool pool;</a:t>
            </a:r>
            <a:br/>
            <a:br/>
            <a:r>
              <a:t>    ConnectionPoolHolder() {</a:t>
            </a:r>
            <a:br/>
            <a:r>
              <a:t>        pool = new ConnectionPool(</a:t>
            </a:r>
            <a:br/>
            <a:r>
              <a:t>            Config.load());</a:t>
            </a:r>
            <a:br/>
            <a:r>
              <a:t>    }</a:t>
            </a:r>
            <a:br/>
            <a:br/>
            <a:r>
              <a:t>    public ConnectionPool getPool() {</a:t>
            </a:r>
            <a:br/>
            <a:r>
              <a:t>        return pool;</a:t>
            </a:r>
            <a:br/>
            <a:r>
              <a:t>    }</a:t>
            </a:r>
            <a:br/>
            <a:r>
              <a:t>}</a:t>
            </a:r>
            <a:br/>
            <a:br/>
            <a:r>
              <a:t>// Usage:</a:t>
            </a:r>
            <a:br/>
            <a:r>
              <a:t>ConnectionPool pool =</a:t>
            </a:r>
            <a:br/>
            <a:r>
              <a:t>    ConnectionPoolHolder.INSTANCE.getPool();</a:t>
            </a:r>
            <a:br/>
            <a:br/>
            <a:br/>
            <a:r>
              <a:t>// 2. Lazy holder idiom (thread-safe)</a:t>
            </a:r>
            <a:br/>
            <a:r>
              <a:t>public class ConfigRegistry {</a:t>
            </a:r>
            <a:br/>
            <a:r>
              <a:t>    private ConfigRegistry() {</a:t>
            </a:r>
            <a:br/>
            <a:r>
              <a:t>        // load config</a:t>
            </a:r>
            <a:br/>
            <a:r>
              <a:t>    }</a:t>
            </a:r>
            <a:br/>
            <a:br/>
            <a:r>
              <a:t>    private static class Holder {</a:t>
            </a:r>
            <a:br/>
            <a:r>
              <a:t>        static final ConfigRegistry INSTANCE =</a:t>
            </a:r>
            <a:br/>
            <a:r>
              <a:t>            new ConfigRegistry();</a:t>
            </a:r>
            <a:br/>
            <a:r>
              <a:t>    }</a:t>
            </a:r>
            <a:br/>
            <a:br/>
            <a:r>
              <a:t>    public static ConfigRegistry getInstance(){</a:t>
            </a:r>
            <a:br/>
            <a:r>
              <a:t>        return Holder.INSTANCE;</a:t>
            </a:r>
            <a:br/>
            <a:r>
              <a:t>    }</a:t>
            </a:r>
            <a:br/>
            <a:r>
              <a:t>}</a:t>
            </a:r>
          </a:p>
        </p:txBody>
      </p:sp>
      <p:sp>
        <p:nvSpPr>
          <p:cNvPr id="10" name="Rectangle 9"/>
          <p:cNvSpPr/>
          <p:nvPr/>
        </p:nvSpPr>
        <p:spPr>
          <a:xfrm>
            <a:off x="6309360" y="1645920"/>
            <a:ext cx="5577840" cy="365760"/>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492240" y="1664208"/>
            <a:ext cx="5029200" cy="329184"/>
          </a:xfrm>
          <a:prstGeom prst="rect">
            <a:avLst/>
          </a:prstGeom>
          <a:noFill/>
        </p:spPr>
        <p:txBody>
          <a:bodyPr wrap="square"/>
          <a:lstStyle/>
          <a:p>
            <a:pPr algn="l">
              <a:spcBef>
                <a:spcPts val="0"/>
              </a:spcBef>
              <a:spcAft>
                <a:spcPts val="0"/>
              </a:spcAft>
              <a:defRPr sz="1200" b="1" i="0">
                <a:solidFill>
                  <a:srgbClr val="FFFFFF"/>
                </a:solidFill>
                <a:latin typeface="Calibri"/>
              </a:defRPr>
            </a:pPr>
            <a:r>
              <a:t>Spring DI approach (recommended)</a:t>
            </a:r>
          </a:p>
        </p:txBody>
      </p:sp>
      <p:sp>
        <p:nvSpPr>
          <p:cNvPr id="12" name="Rectangle 11"/>
          <p:cNvSpPr/>
          <p:nvPr/>
        </p:nvSpPr>
        <p:spPr>
          <a:xfrm>
            <a:off x="6309360" y="2011680"/>
            <a:ext cx="5577840" cy="3840480"/>
          </a:xfrm>
          <a:prstGeom prst="rect">
            <a:avLst/>
          </a:prstGeom>
          <a:solidFill>
            <a:srgbClr val="282C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492240" y="2103120"/>
            <a:ext cx="5212080" cy="3657600"/>
          </a:xfrm>
          <a:prstGeom prst="rect">
            <a:avLst/>
          </a:prstGeom>
          <a:noFill/>
        </p:spPr>
        <p:txBody>
          <a:bodyPr wrap="square"/>
          <a:lstStyle/>
          <a:p>
            <a:pPr algn="l">
              <a:spcBef>
                <a:spcPts val="0"/>
              </a:spcBef>
              <a:spcAft>
                <a:spcPts val="0"/>
              </a:spcAft>
              <a:defRPr sz="900" b="0" i="0">
                <a:solidFill>
                  <a:srgbClr val="ABB2BF"/>
                </a:solidFill>
                <a:latin typeface="Consolas"/>
              </a:defRPr>
            </a:pPr>
            <a:r>
              <a:t>// 3. Spring approach (preferred in enterprise)</a:t>
            </a:r>
            <a:br/>
            <a:r>
              <a:t>// The container manages the single instance</a:t>
            </a:r>
            <a:br/>
            <a:r>
              <a:t>@Configuration</a:t>
            </a:r>
            <a:br/>
            <a:r>
              <a:t>public class InfraConfig {</a:t>
            </a:r>
            <a:br/>
            <a:br/>
            <a:r>
              <a:t>    @Bean  // singleton scope by default</a:t>
            </a:r>
            <a:br/>
            <a:r>
              <a:t>    public ConnectionPool connectionPool() {</a:t>
            </a:r>
            <a:br/>
            <a:r>
              <a:t>        return new ConnectionPool(</a:t>
            </a:r>
            <a:br/>
            <a:r>
              <a:t>            Config.load());</a:t>
            </a:r>
            <a:br/>
            <a:r>
              <a:t>    }</a:t>
            </a:r>
            <a:br/>
            <a:br/>
            <a:r>
              <a:t>    @Bean</a:t>
            </a:r>
            <a:br/>
            <a:r>
              <a:t>    public AuditLogger auditLogger(</a:t>
            </a:r>
            <a:br/>
            <a:r>
              <a:t>            ConnectionPool pool) {</a:t>
            </a:r>
            <a:br/>
            <a:r>
              <a:t>        return new AuditLogger(pool);</a:t>
            </a:r>
            <a:br/>
            <a:r>
              <a:t>    }</a:t>
            </a:r>
            <a:br/>
            <a:r>
              <a:t>}</a:t>
            </a:r>
            <a:br/>
            <a:br/>
            <a:r>
              <a:t>// No static access point needed</a:t>
            </a:r>
            <a:br/>
            <a:r>
              <a:t>// The bean is injected where needed</a:t>
            </a:r>
            <a:br/>
            <a:r>
              <a:t>@Service</a:t>
            </a:r>
            <a:br/>
            <a:r>
              <a:t>public class TradeService {</a:t>
            </a:r>
            <a:br/>
            <a:r>
              <a:t>    private final ConnectionPool pool;</a:t>
            </a:r>
            <a:br/>
            <a:br/>
            <a:r>
              <a:t>    // Constructor injection</a:t>
            </a:r>
            <a:br/>
            <a:r>
              <a:t>    public TradeService(ConnectionPool pool){</a:t>
            </a:r>
            <a:br/>
            <a:r>
              <a:t>        this.pool = pool;</a:t>
            </a:r>
            <a:br/>
            <a:r>
              <a:t>    }</a:t>
            </a:r>
            <a:br/>
            <a:r>
              <a:t>}</a:t>
            </a:r>
            <a:br/>
            <a:br/>
            <a:r>
              <a:t>// Benefits over classic Singleton:</a:t>
            </a:r>
            <a:br/>
            <a:r>
              <a:t>// - Testable (inject a mock)</a:t>
            </a:r>
            <a:br/>
            <a:r>
              <a:t>// - No hidden dependency</a:t>
            </a:r>
            <a:br/>
            <a:r>
              <a:t>// - Lifecycle managed by container</a:t>
            </a:r>
            <a:br/>
            <a:r>
              <a:t>// - Scope can be changed (prototype, etc.)</a:t>
            </a:r>
          </a:p>
        </p:txBody>
      </p:sp>
      <p:sp>
        <p:nvSpPr>
          <p:cNvPr id="14" name="Rectangle 13"/>
          <p:cNvSpPr/>
          <p:nvPr/>
        </p:nvSpPr>
        <p:spPr>
          <a:xfrm>
            <a:off x="0" y="6492240"/>
            <a:ext cx="12192000" cy="365760"/>
          </a:xfrm>
          <a:prstGeom prst="rect">
            <a:avLst/>
          </a:prstGeom>
          <a:solidFill>
            <a:srgbClr val="BD27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57200" y="6528816"/>
            <a:ext cx="3657600" cy="274320"/>
          </a:xfrm>
          <a:prstGeom prst="rect">
            <a:avLst/>
          </a:prstGeom>
          <a:noFill/>
        </p:spPr>
        <p:txBody>
          <a:bodyPr wrap="square"/>
          <a:lstStyle/>
          <a:p>
            <a:pPr algn="l">
              <a:spcBef>
                <a:spcPts val="0"/>
              </a:spcBef>
              <a:spcAft>
                <a:spcPts val="0"/>
              </a:spcAft>
              <a:defRPr sz="900" b="0" i="0">
                <a:solidFill>
                  <a:srgbClr val="FFFFFF"/>
                </a:solidFill>
                <a:latin typeface="Calibri Light"/>
              </a:defRPr>
            </a:pPr>
            <a:r>
              <a:t>www.overnet.education</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54864"/>
          </a:xfrm>
          <a:prstGeom prst="rect">
            <a:avLst/>
          </a:prstGeom>
          <a:solidFill>
            <a:srgbClr val="BD27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182880"/>
            <a:ext cx="457200" cy="320040"/>
          </a:xfrm>
          <a:prstGeom prst="rect">
            <a:avLst/>
          </a:prstGeom>
          <a:noFill/>
        </p:spPr>
        <p:txBody>
          <a:bodyPr wrap="square"/>
          <a:lstStyle/>
          <a:p>
            <a:pPr algn="l">
              <a:spcBef>
                <a:spcPts val="0"/>
              </a:spcBef>
              <a:spcAft>
                <a:spcPts val="0"/>
              </a:spcAft>
              <a:defRPr sz="1300" b="1" i="0">
                <a:solidFill>
                  <a:srgbClr val="BD2716"/>
                </a:solidFill>
                <a:latin typeface="Calibri"/>
              </a:defRPr>
            </a:pPr>
            <a:r>
              <a:t>2.5</a:t>
            </a:r>
          </a:p>
        </p:txBody>
      </p:sp>
      <p:sp>
        <p:nvSpPr>
          <p:cNvPr id="4" name="TextBox 3"/>
          <p:cNvSpPr txBox="1"/>
          <p:nvPr/>
        </p:nvSpPr>
        <p:spPr>
          <a:xfrm>
            <a:off x="822960" y="182880"/>
            <a:ext cx="7315200" cy="320040"/>
          </a:xfrm>
          <a:prstGeom prst="rect">
            <a:avLst/>
          </a:prstGeom>
          <a:noFill/>
        </p:spPr>
        <p:txBody>
          <a:bodyPr wrap="square"/>
          <a:lstStyle/>
          <a:p>
            <a:pPr algn="l">
              <a:spcBef>
                <a:spcPts val="0"/>
              </a:spcBef>
              <a:spcAft>
                <a:spcPts val="0"/>
              </a:spcAft>
              <a:defRPr sz="1100" b="0" i="0">
                <a:solidFill>
                  <a:srgbClr val="666666"/>
                </a:solidFill>
                <a:latin typeface="Calibri Light"/>
              </a:defRPr>
            </a:pPr>
            <a:r>
              <a:t>Singleton</a:t>
            </a:r>
          </a:p>
        </p:txBody>
      </p:sp>
      <p:sp>
        <p:nvSpPr>
          <p:cNvPr id="5" name="TextBox 4"/>
          <p:cNvSpPr txBox="1"/>
          <p:nvPr/>
        </p:nvSpPr>
        <p:spPr>
          <a:xfrm>
            <a:off x="548640" y="731520"/>
            <a:ext cx="10515600" cy="731520"/>
          </a:xfrm>
          <a:prstGeom prst="rect">
            <a:avLst/>
          </a:prstGeom>
          <a:noFill/>
        </p:spPr>
        <p:txBody>
          <a:bodyPr wrap="square"/>
          <a:lstStyle/>
          <a:p>
            <a:pPr algn="l">
              <a:spcBef>
                <a:spcPts val="0"/>
              </a:spcBef>
              <a:spcAft>
                <a:spcPts val="0"/>
              </a:spcAft>
              <a:defRPr sz="3000" b="1" i="0">
                <a:solidFill>
                  <a:srgbClr val="333333"/>
                </a:solidFill>
                <a:latin typeface="Calibri"/>
              </a:defRPr>
            </a:pPr>
            <a:r>
              <a:t>Singleton: Critical Discussion</a:t>
            </a:r>
          </a:p>
        </p:txBody>
      </p:sp>
      <p:sp>
        <p:nvSpPr>
          <p:cNvPr id="6" name="Rectangle 5"/>
          <p:cNvSpPr/>
          <p:nvPr/>
        </p:nvSpPr>
        <p:spPr>
          <a:xfrm>
            <a:off x="457200" y="1645920"/>
            <a:ext cx="5394960" cy="1463040"/>
          </a:xfrm>
          <a:prstGeom prst="rect">
            <a:avLst/>
          </a:prstGeom>
          <a:solidFill>
            <a:srgbClr val="F0FF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457200" y="1645920"/>
            <a:ext cx="73152" cy="1463040"/>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31520" y="1691640"/>
            <a:ext cx="4846320" cy="274320"/>
          </a:xfrm>
          <a:prstGeom prst="rect">
            <a:avLst/>
          </a:prstGeom>
          <a:noFill/>
        </p:spPr>
        <p:txBody>
          <a:bodyPr wrap="square"/>
          <a:lstStyle/>
          <a:p>
            <a:pPr algn="l">
              <a:spcBef>
                <a:spcPts val="0"/>
              </a:spcBef>
              <a:spcAft>
                <a:spcPts val="0"/>
              </a:spcAft>
              <a:defRPr sz="1400" b="1" i="0">
                <a:solidFill>
                  <a:srgbClr val="2E7D32"/>
                </a:solidFill>
                <a:latin typeface="Calibri"/>
              </a:defRPr>
            </a:pPr>
            <a:r>
              <a:t>When to use</a:t>
            </a:r>
          </a:p>
        </p:txBody>
      </p:sp>
      <p:sp>
        <p:nvSpPr>
          <p:cNvPr id="9" name="TextBox 8"/>
          <p:cNvSpPr txBox="1"/>
          <p:nvPr/>
        </p:nvSpPr>
        <p:spPr>
          <a:xfrm>
            <a:off x="731520" y="2011680"/>
            <a:ext cx="4846320" cy="1005840"/>
          </a:xfrm>
          <a:prstGeom prst="rect">
            <a:avLst/>
          </a:prstGeom>
          <a:noFill/>
        </p:spPr>
        <p:txBody>
          <a:bodyPr wrap="square">
            <a:spAutoFit/>
          </a:bodyPr>
          <a:lstStyle/>
          <a:p>
            <a:pPr>
              <a:spcAft>
                <a:spcPts val="400"/>
              </a:spcAft>
              <a:defRPr sz="1100">
                <a:solidFill>
                  <a:srgbClr val="333333"/>
                </a:solidFill>
                <a:latin typeface="Calibri Light"/>
              </a:defRPr>
            </a:pPr>
            <a:r>
              <a:t>You truly need exactly one instance system-wide (connection pool, hardware interface)</a:t>
            </a:r>
          </a:p>
          <a:p>
            <a:pPr>
              <a:spcAft>
                <a:spcPts val="400"/>
              </a:spcAft>
              <a:defRPr sz="1100">
                <a:solidFill>
                  <a:srgbClr val="333333"/>
                </a:solidFill>
                <a:latin typeface="Calibri Light"/>
              </a:defRPr>
            </a:pPr>
            <a:r>
              <a:t>You are NOT using a DI framework and need controlled access</a:t>
            </a:r>
          </a:p>
          <a:p>
            <a:pPr>
              <a:spcAft>
                <a:spcPts val="400"/>
              </a:spcAft>
              <a:defRPr sz="1100">
                <a:solidFill>
                  <a:srgbClr val="333333"/>
                </a:solidFill>
                <a:latin typeface="Calibri Light"/>
              </a:defRPr>
            </a:pPr>
            <a:r>
              <a:t>The Singleton manages a scarce, shared resource</a:t>
            </a:r>
          </a:p>
        </p:txBody>
      </p:sp>
      <p:sp>
        <p:nvSpPr>
          <p:cNvPr id="10" name="Rectangle 9"/>
          <p:cNvSpPr/>
          <p:nvPr/>
        </p:nvSpPr>
        <p:spPr>
          <a:xfrm>
            <a:off x="6126480" y="1645920"/>
            <a:ext cx="5577840" cy="1463040"/>
          </a:xfrm>
          <a:prstGeom prst="rect">
            <a:avLst/>
          </a:prstGeom>
          <a:solidFill>
            <a:srgbClr val="FFF3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126480" y="1645920"/>
            <a:ext cx="73152" cy="1463040"/>
          </a:xfrm>
          <a:prstGeom prst="rect">
            <a:avLst/>
          </a:prstGeom>
          <a:solidFill>
            <a:srgbClr val="BD27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400800" y="1691640"/>
            <a:ext cx="5029200" cy="274320"/>
          </a:xfrm>
          <a:prstGeom prst="rect">
            <a:avLst/>
          </a:prstGeom>
          <a:noFill/>
        </p:spPr>
        <p:txBody>
          <a:bodyPr wrap="square"/>
          <a:lstStyle/>
          <a:p>
            <a:pPr algn="l">
              <a:spcBef>
                <a:spcPts val="0"/>
              </a:spcBef>
              <a:spcAft>
                <a:spcPts val="0"/>
              </a:spcAft>
              <a:defRPr sz="1400" b="1" i="0">
                <a:solidFill>
                  <a:srgbClr val="BD2716"/>
                </a:solidFill>
                <a:latin typeface="Calibri"/>
              </a:defRPr>
            </a:pPr>
            <a:r>
              <a:t>When to avoid</a:t>
            </a:r>
          </a:p>
        </p:txBody>
      </p:sp>
      <p:sp>
        <p:nvSpPr>
          <p:cNvPr id="13" name="TextBox 12"/>
          <p:cNvSpPr txBox="1"/>
          <p:nvPr/>
        </p:nvSpPr>
        <p:spPr>
          <a:xfrm>
            <a:off x="6400800" y="2011680"/>
            <a:ext cx="5029200" cy="1005840"/>
          </a:xfrm>
          <a:prstGeom prst="rect">
            <a:avLst/>
          </a:prstGeom>
          <a:noFill/>
        </p:spPr>
        <p:txBody>
          <a:bodyPr wrap="square">
            <a:spAutoFit/>
          </a:bodyPr>
          <a:lstStyle/>
          <a:p>
            <a:pPr>
              <a:spcAft>
                <a:spcPts val="400"/>
              </a:spcAft>
              <a:defRPr sz="1100">
                <a:solidFill>
                  <a:srgbClr val="333333"/>
                </a:solidFill>
                <a:latin typeface="Calibri Light"/>
              </a:defRPr>
            </a:pPr>
            <a:r>
              <a:t>You are using Spring or any DI container — use singleton-scoped beans instead</a:t>
            </a:r>
          </a:p>
          <a:p>
            <a:pPr>
              <a:spcAft>
                <a:spcPts val="400"/>
              </a:spcAft>
              <a:defRPr sz="1100">
                <a:solidFill>
                  <a:srgbClr val="333333"/>
                </a:solidFill>
                <a:latin typeface="Calibri Light"/>
              </a:defRPr>
            </a:pPr>
            <a:r>
              <a:t>You use Singleton as a global variable to avoid passing dependencies</a:t>
            </a:r>
          </a:p>
          <a:p>
            <a:pPr>
              <a:spcAft>
                <a:spcPts val="400"/>
              </a:spcAft>
              <a:defRPr sz="1100">
                <a:solidFill>
                  <a:srgbClr val="333333"/>
                </a:solidFill>
                <a:latin typeface="Calibri Light"/>
              </a:defRPr>
            </a:pPr>
            <a:r>
              <a:t>You find yourself writing Singleton in unit tests — it signals coupling</a:t>
            </a:r>
          </a:p>
          <a:p>
            <a:pPr>
              <a:spcAft>
                <a:spcPts val="400"/>
              </a:spcAft>
              <a:defRPr sz="1100">
                <a:solidFill>
                  <a:srgbClr val="333333"/>
                </a:solidFill>
                <a:latin typeface="Calibri Light"/>
              </a:defRPr>
            </a:pPr>
            <a:r>
              <a:t>The Singleton holds mutable state that multiple threads access</a:t>
            </a:r>
          </a:p>
        </p:txBody>
      </p:sp>
      <p:sp>
        <p:nvSpPr>
          <p:cNvPr id="14" name="Rectangle 13"/>
          <p:cNvSpPr/>
          <p:nvPr/>
        </p:nvSpPr>
        <p:spPr>
          <a:xfrm>
            <a:off x="457200" y="3383280"/>
            <a:ext cx="11247120" cy="1188720"/>
          </a:xfrm>
          <a:prstGeom prst="rect">
            <a:avLst/>
          </a:prstGeom>
          <a:solidFill>
            <a:srgbClr val="FFF8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457200" y="3383280"/>
            <a:ext cx="73152" cy="1188720"/>
          </a:xfrm>
          <a:prstGeom prst="rect">
            <a:avLst/>
          </a:prstGeom>
          <a:solidFill>
            <a:srgbClr val="E8A3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31520" y="3429000"/>
            <a:ext cx="10698480" cy="274320"/>
          </a:xfrm>
          <a:prstGeom prst="rect">
            <a:avLst/>
          </a:prstGeom>
          <a:noFill/>
        </p:spPr>
        <p:txBody>
          <a:bodyPr wrap="square"/>
          <a:lstStyle/>
          <a:p>
            <a:pPr algn="l">
              <a:spcBef>
                <a:spcPts val="0"/>
              </a:spcBef>
              <a:spcAft>
                <a:spcPts val="0"/>
              </a:spcAft>
              <a:defRPr sz="1400" b="1" i="0">
                <a:solidFill>
                  <a:srgbClr val="E8A317"/>
                </a:solidFill>
                <a:latin typeface="Calibri"/>
              </a:defRPr>
            </a:pPr>
            <a:r>
              <a:t>Modern Java perspective</a:t>
            </a:r>
          </a:p>
        </p:txBody>
      </p:sp>
      <p:sp>
        <p:nvSpPr>
          <p:cNvPr id="17" name="TextBox 16"/>
          <p:cNvSpPr txBox="1"/>
          <p:nvPr/>
        </p:nvSpPr>
        <p:spPr>
          <a:xfrm>
            <a:off x="731520" y="3749039"/>
            <a:ext cx="10698480" cy="731520"/>
          </a:xfrm>
          <a:prstGeom prst="rect">
            <a:avLst/>
          </a:prstGeom>
          <a:noFill/>
        </p:spPr>
        <p:txBody>
          <a:bodyPr wrap="square"/>
          <a:lstStyle/>
          <a:p>
            <a:pPr algn="l">
              <a:spcBef>
                <a:spcPts val="0"/>
              </a:spcBef>
              <a:spcAft>
                <a:spcPts val="0"/>
              </a:spcAft>
              <a:defRPr sz="1200" b="0" i="0">
                <a:solidFill>
                  <a:srgbClr val="333333"/>
                </a:solidFill>
                <a:latin typeface="Calibri Light"/>
              </a:defRPr>
            </a:pPr>
            <a:r>
              <a:t>In modern enterprise Java, the classic Singleton (static getInstance) is an anti-pattern. Spring’s singleton beans provide the same single-instance guarantee with full testability and lifecycle management. If you must write a classic Singleton, prefer the enum approach or the lazy holder idiom. Avoid double-checked locking — it is error-prone and unnecessary with these alternatives.</a:t>
            </a:r>
          </a:p>
        </p:txBody>
      </p:sp>
      <p:sp>
        <p:nvSpPr>
          <p:cNvPr id="18" name="Rectangle 17"/>
          <p:cNvSpPr/>
          <p:nvPr/>
        </p:nvSpPr>
        <p:spPr>
          <a:xfrm>
            <a:off x="457200" y="4846320"/>
            <a:ext cx="11247120" cy="109728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31520" y="4892040"/>
            <a:ext cx="10698480" cy="274320"/>
          </a:xfrm>
          <a:prstGeom prst="rect">
            <a:avLst/>
          </a:prstGeom>
          <a:noFill/>
        </p:spPr>
        <p:txBody>
          <a:bodyPr wrap="square"/>
          <a:lstStyle/>
          <a:p>
            <a:pPr algn="l">
              <a:spcBef>
                <a:spcPts val="0"/>
              </a:spcBef>
              <a:spcAft>
                <a:spcPts val="0"/>
              </a:spcAft>
              <a:defRPr sz="1400" b="1" i="0">
                <a:solidFill>
                  <a:srgbClr val="1565C0"/>
                </a:solidFill>
                <a:latin typeface="Calibri"/>
              </a:defRPr>
            </a:pPr>
            <a:r>
              <a:t>Related Patterns</a:t>
            </a:r>
          </a:p>
        </p:txBody>
      </p:sp>
      <p:sp>
        <p:nvSpPr>
          <p:cNvPr id="20" name="TextBox 19"/>
          <p:cNvSpPr txBox="1"/>
          <p:nvPr/>
        </p:nvSpPr>
        <p:spPr>
          <a:xfrm>
            <a:off x="731520" y="5212080"/>
            <a:ext cx="10698480" cy="640080"/>
          </a:xfrm>
          <a:prstGeom prst="rect">
            <a:avLst/>
          </a:prstGeom>
          <a:noFill/>
        </p:spPr>
        <p:txBody>
          <a:bodyPr wrap="square"/>
          <a:lstStyle/>
          <a:p>
            <a:pPr algn="l">
              <a:spcBef>
                <a:spcPts val="0"/>
              </a:spcBef>
              <a:spcAft>
                <a:spcPts val="0"/>
              </a:spcAft>
              <a:defRPr sz="1200" b="0" i="0">
                <a:solidFill>
                  <a:srgbClr val="333333"/>
                </a:solidFill>
                <a:latin typeface="Calibri Light"/>
              </a:defRPr>
            </a:pPr>
            <a:r>
              <a:t>Abstract Factory, Builder, Prototype – all can be implemented as Singletons when only one factory/builder/registry is needed. Facade – often implemented as a Singleton to provide a single entry point. State – State objects are often Singletons since they carry no per-instance data.</a:t>
            </a:r>
          </a:p>
        </p:txBody>
      </p:sp>
      <p:sp>
        <p:nvSpPr>
          <p:cNvPr id="21" name="Rectangle 20"/>
          <p:cNvSpPr/>
          <p:nvPr/>
        </p:nvSpPr>
        <p:spPr>
          <a:xfrm>
            <a:off x="0" y="6492240"/>
            <a:ext cx="12192000" cy="365760"/>
          </a:xfrm>
          <a:prstGeom prst="rect">
            <a:avLst/>
          </a:prstGeom>
          <a:solidFill>
            <a:srgbClr val="BD27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57200" y="6528816"/>
            <a:ext cx="3657600" cy="274320"/>
          </a:xfrm>
          <a:prstGeom prst="rect">
            <a:avLst/>
          </a:prstGeom>
          <a:noFill/>
        </p:spPr>
        <p:txBody>
          <a:bodyPr wrap="square"/>
          <a:lstStyle/>
          <a:p>
            <a:pPr algn="l">
              <a:spcBef>
                <a:spcPts val="0"/>
              </a:spcBef>
              <a:spcAft>
                <a:spcPts val="0"/>
              </a:spcAft>
              <a:defRPr sz="900" b="0" i="0">
                <a:solidFill>
                  <a:srgbClr val="FFFFFF"/>
                </a:solidFill>
                <a:latin typeface="Calibri Light"/>
              </a:defRPr>
            </a:pPr>
            <a:r>
              <a:t>www.overnet.education</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54864"/>
          </a:xfrm>
          <a:prstGeom prst="rect">
            <a:avLst/>
          </a:prstGeom>
          <a:solidFill>
            <a:srgbClr val="BD27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182880"/>
            <a:ext cx="457200" cy="320040"/>
          </a:xfrm>
          <a:prstGeom prst="rect">
            <a:avLst/>
          </a:prstGeom>
          <a:noFill/>
        </p:spPr>
        <p:txBody>
          <a:bodyPr wrap="square"/>
          <a:lstStyle/>
          <a:p>
            <a:pPr algn="l">
              <a:spcBef>
                <a:spcPts val="0"/>
              </a:spcBef>
              <a:spcAft>
                <a:spcPts val="0"/>
              </a:spcAft>
              <a:defRPr sz="1300" b="1" i="0">
                <a:solidFill>
                  <a:srgbClr val="BD2716"/>
                </a:solidFill>
                <a:latin typeface="Calibri"/>
              </a:defRPr>
            </a:pPr>
            <a:r>
              <a:t>M2</a:t>
            </a:r>
          </a:p>
        </p:txBody>
      </p:sp>
      <p:sp>
        <p:nvSpPr>
          <p:cNvPr id="4" name="TextBox 3"/>
          <p:cNvSpPr txBox="1"/>
          <p:nvPr/>
        </p:nvSpPr>
        <p:spPr>
          <a:xfrm>
            <a:off x="822960" y="182880"/>
            <a:ext cx="7315200" cy="320040"/>
          </a:xfrm>
          <a:prstGeom prst="rect">
            <a:avLst/>
          </a:prstGeom>
          <a:noFill/>
        </p:spPr>
        <p:txBody>
          <a:bodyPr wrap="square"/>
          <a:lstStyle/>
          <a:p>
            <a:pPr algn="l">
              <a:spcBef>
                <a:spcPts val="0"/>
              </a:spcBef>
              <a:spcAft>
                <a:spcPts val="0"/>
              </a:spcAft>
              <a:defRPr sz="1100" b="0" i="0">
                <a:solidFill>
                  <a:srgbClr val="666666"/>
                </a:solidFill>
                <a:latin typeface="Calibri Light"/>
              </a:defRPr>
            </a:pPr>
            <a:r>
              <a:t>Creational Patterns</a:t>
            </a:r>
          </a:p>
        </p:txBody>
      </p:sp>
      <p:sp>
        <p:nvSpPr>
          <p:cNvPr id="5" name="TextBox 4"/>
          <p:cNvSpPr txBox="1"/>
          <p:nvPr/>
        </p:nvSpPr>
        <p:spPr>
          <a:xfrm>
            <a:off x="548640" y="731520"/>
            <a:ext cx="10515600" cy="731520"/>
          </a:xfrm>
          <a:prstGeom prst="rect">
            <a:avLst/>
          </a:prstGeom>
          <a:noFill/>
        </p:spPr>
        <p:txBody>
          <a:bodyPr wrap="square"/>
          <a:lstStyle/>
          <a:p>
            <a:pPr algn="l">
              <a:spcBef>
                <a:spcPts val="0"/>
              </a:spcBef>
              <a:spcAft>
                <a:spcPts val="0"/>
              </a:spcAft>
              <a:defRPr sz="3600" b="1" i="0">
                <a:solidFill>
                  <a:srgbClr val="333333"/>
                </a:solidFill>
                <a:latin typeface="Calibri"/>
              </a:defRPr>
            </a:pPr>
            <a:r>
              <a:t>Creational Patterns: Comparison</a:t>
            </a:r>
          </a:p>
        </p:txBody>
      </p:sp>
      <p:sp>
        <p:nvSpPr>
          <p:cNvPr id="6" name="Rectangle 5"/>
          <p:cNvSpPr/>
          <p:nvPr/>
        </p:nvSpPr>
        <p:spPr>
          <a:xfrm>
            <a:off x="457200" y="1645920"/>
            <a:ext cx="11247120" cy="411480"/>
          </a:xfrm>
          <a:prstGeom prst="rect">
            <a:avLst/>
          </a:prstGeom>
          <a:solidFill>
            <a:srgbClr val="BD27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40080" y="1664208"/>
            <a:ext cx="2103120" cy="374904"/>
          </a:xfrm>
          <a:prstGeom prst="rect">
            <a:avLst/>
          </a:prstGeom>
          <a:noFill/>
        </p:spPr>
        <p:txBody>
          <a:bodyPr wrap="square"/>
          <a:lstStyle/>
          <a:p>
            <a:pPr algn="l">
              <a:spcBef>
                <a:spcPts val="0"/>
              </a:spcBef>
              <a:spcAft>
                <a:spcPts val="0"/>
              </a:spcAft>
              <a:defRPr sz="1200" b="1" i="0">
                <a:solidFill>
                  <a:srgbClr val="FFFFFF"/>
                </a:solidFill>
                <a:latin typeface="Calibri"/>
              </a:defRPr>
            </a:pPr>
            <a:r>
              <a:t>Pattern</a:t>
            </a:r>
          </a:p>
        </p:txBody>
      </p:sp>
      <p:sp>
        <p:nvSpPr>
          <p:cNvPr id="8" name="TextBox 7"/>
          <p:cNvSpPr txBox="1"/>
          <p:nvPr/>
        </p:nvSpPr>
        <p:spPr>
          <a:xfrm>
            <a:off x="2743200" y="1664208"/>
            <a:ext cx="1828800" cy="374904"/>
          </a:xfrm>
          <a:prstGeom prst="rect">
            <a:avLst/>
          </a:prstGeom>
          <a:noFill/>
        </p:spPr>
        <p:txBody>
          <a:bodyPr wrap="square"/>
          <a:lstStyle/>
          <a:p>
            <a:pPr algn="l">
              <a:spcBef>
                <a:spcPts val="0"/>
              </a:spcBef>
              <a:spcAft>
                <a:spcPts val="0"/>
              </a:spcAft>
              <a:defRPr sz="1200" b="1" i="0">
                <a:solidFill>
                  <a:srgbClr val="FFFFFF"/>
                </a:solidFill>
                <a:latin typeface="Calibri"/>
              </a:defRPr>
            </a:pPr>
            <a:r>
              <a:t>Creates</a:t>
            </a:r>
          </a:p>
        </p:txBody>
      </p:sp>
      <p:sp>
        <p:nvSpPr>
          <p:cNvPr id="9" name="TextBox 8"/>
          <p:cNvSpPr txBox="1"/>
          <p:nvPr/>
        </p:nvSpPr>
        <p:spPr>
          <a:xfrm>
            <a:off x="4572000" y="1664208"/>
            <a:ext cx="2743200" cy="374904"/>
          </a:xfrm>
          <a:prstGeom prst="rect">
            <a:avLst/>
          </a:prstGeom>
          <a:noFill/>
        </p:spPr>
        <p:txBody>
          <a:bodyPr wrap="square"/>
          <a:lstStyle/>
          <a:p>
            <a:pPr algn="l">
              <a:spcBef>
                <a:spcPts val="0"/>
              </a:spcBef>
              <a:spcAft>
                <a:spcPts val="0"/>
              </a:spcAft>
              <a:defRPr sz="1200" b="1" i="0">
                <a:solidFill>
                  <a:srgbClr val="FFFFFF"/>
                </a:solidFill>
                <a:latin typeface="Calibri"/>
              </a:defRPr>
            </a:pPr>
            <a:r>
              <a:t>Key mechanism</a:t>
            </a:r>
          </a:p>
        </p:txBody>
      </p:sp>
      <p:sp>
        <p:nvSpPr>
          <p:cNvPr id="10" name="TextBox 9"/>
          <p:cNvSpPr txBox="1"/>
          <p:nvPr/>
        </p:nvSpPr>
        <p:spPr>
          <a:xfrm>
            <a:off x="7315200" y="1664208"/>
            <a:ext cx="4206240" cy="374904"/>
          </a:xfrm>
          <a:prstGeom prst="rect">
            <a:avLst/>
          </a:prstGeom>
          <a:noFill/>
        </p:spPr>
        <p:txBody>
          <a:bodyPr wrap="square"/>
          <a:lstStyle/>
          <a:p>
            <a:pPr algn="l">
              <a:spcBef>
                <a:spcPts val="0"/>
              </a:spcBef>
              <a:spcAft>
                <a:spcPts val="0"/>
              </a:spcAft>
              <a:defRPr sz="1200" b="1" i="0">
                <a:solidFill>
                  <a:srgbClr val="FFFFFF"/>
                </a:solidFill>
                <a:latin typeface="Calibri"/>
              </a:defRPr>
            </a:pPr>
            <a:r>
              <a:t>Best for</a:t>
            </a:r>
          </a:p>
        </p:txBody>
      </p:sp>
      <p:sp>
        <p:nvSpPr>
          <p:cNvPr id="11" name="Rectangle 10"/>
          <p:cNvSpPr/>
          <p:nvPr/>
        </p:nvSpPr>
        <p:spPr>
          <a:xfrm>
            <a:off x="457200" y="2057400"/>
            <a:ext cx="11247120" cy="59436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40080" y="2103120"/>
            <a:ext cx="2103120" cy="502920"/>
          </a:xfrm>
          <a:prstGeom prst="rect">
            <a:avLst/>
          </a:prstGeom>
          <a:noFill/>
        </p:spPr>
        <p:txBody>
          <a:bodyPr wrap="square"/>
          <a:lstStyle/>
          <a:p>
            <a:pPr algn="l">
              <a:spcBef>
                <a:spcPts val="0"/>
              </a:spcBef>
              <a:spcAft>
                <a:spcPts val="0"/>
              </a:spcAft>
              <a:defRPr sz="1200" b="1" i="0">
                <a:solidFill>
                  <a:srgbClr val="BD2716"/>
                </a:solidFill>
                <a:latin typeface="Calibri"/>
              </a:defRPr>
            </a:pPr>
            <a:r>
              <a:t>Abstract Factory</a:t>
            </a:r>
          </a:p>
        </p:txBody>
      </p:sp>
      <p:sp>
        <p:nvSpPr>
          <p:cNvPr id="13" name="TextBox 12"/>
          <p:cNvSpPr txBox="1"/>
          <p:nvPr/>
        </p:nvSpPr>
        <p:spPr>
          <a:xfrm>
            <a:off x="2743200" y="2103120"/>
            <a:ext cx="1828800" cy="502920"/>
          </a:xfrm>
          <a:prstGeom prst="rect">
            <a:avLst/>
          </a:prstGeom>
          <a:noFill/>
        </p:spPr>
        <p:txBody>
          <a:bodyPr wrap="square"/>
          <a:lstStyle/>
          <a:p>
            <a:pPr algn="l">
              <a:spcBef>
                <a:spcPts val="0"/>
              </a:spcBef>
              <a:spcAft>
                <a:spcPts val="0"/>
              </a:spcAft>
              <a:defRPr sz="1100" b="0" i="0">
                <a:solidFill>
                  <a:srgbClr val="333333"/>
                </a:solidFill>
                <a:latin typeface="Calibri Light"/>
              </a:defRPr>
            </a:pPr>
            <a:r>
              <a:t>Families of objects</a:t>
            </a:r>
          </a:p>
        </p:txBody>
      </p:sp>
      <p:sp>
        <p:nvSpPr>
          <p:cNvPr id="14" name="TextBox 13"/>
          <p:cNvSpPr txBox="1"/>
          <p:nvPr/>
        </p:nvSpPr>
        <p:spPr>
          <a:xfrm>
            <a:off x="4572000" y="2103120"/>
            <a:ext cx="2743200" cy="502920"/>
          </a:xfrm>
          <a:prstGeom prst="rect">
            <a:avLst/>
          </a:prstGeom>
          <a:noFill/>
        </p:spPr>
        <p:txBody>
          <a:bodyPr wrap="square"/>
          <a:lstStyle/>
          <a:p>
            <a:pPr algn="l">
              <a:spcBef>
                <a:spcPts val="0"/>
              </a:spcBef>
              <a:spcAft>
                <a:spcPts val="0"/>
              </a:spcAft>
              <a:defRPr sz="1100" b="0" i="0">
                <a:solidFill>
                  <a:srgbClr val="333333"/>
                </a:solidFill>
                <a:latin typeface="Calibri Light"/>
              </a:defRPr>
            </a:pPr>
            <a:r>
              <a:t>Factory interface + concrete factories</a:t>
            </a:r>
          </a:p>
        </p:txBody>
      </p:sp>
      <p:sp>
        <p:nvSpPr>
          <p:cNvPr id="15" name="TextBox 14"/>
          <p:cNvSpPr txBox="1"/>
          <p:nvPr/>
        </p:nvSpPr>
        <p:spPr>
          <a:xfrm>
            <a:off x="7315200" y="2103120"/>
            <a:ext cx="4206240" cy="502920"/>
          </a:xfrm>
          <a:prstGeom prst="rect">
            <a:avLst/>
          </a:prstGeom>
          <a:noFill/>
        </p:spPr>
        <p:txBody>
          <a:bodyPr wrap="square"/>
          <a:lstStyle/>
          <a:p>
            <a:pPr algn="l">
              <a:spcBef>
                <a:spcPts val="0"/>
              </a:spcBef>
              <a:spcAft>
                <a:spcPts val="0"/>
              </a:spcAft>
              <a:defRPr sz="1100" b="0" i="0">
                <a:solidFill>
                  <a:srgbClr val="666666"/>
                </a:solidFill>
                <a:latin typeface="Calibri Light"/>
              </a:defRPr>
            </a:pPr>
            <a:r>
              <a:t>Consistent product families (themes, platforms)</a:t>
            </a:r>
          </a:p>
        </p:txBody>
      </p:sp>
      <p:sp>
        <p:nvSpPr>
          <p:cNvPr id="16" name="Rectangle 15"/>
          <p:cNvSpPr/>
          <p:nvPr/>
        </p:nvSpPr>
        <p:spPr>
          <a:xfrm>
            <a:off x="457200" y="2651760"/>
            <a:ext cx="11247120" cy="5943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40080" y="2697479"/>
            <a:ext cx="2103120" cy="502920"/>
          </a:xfrm>
          <a:prstGeom prst="rect">
            <a:avLst/>
          </a:prstGeom>
          <a:noFill/>
        </p:spPr>
        <p:txBody>
          <a:bodyPr wrap="square"/>
          <a:lstStyle/>
          <a:p>
            <a:pPr algn="l">
              <a:spcBef>
                <a:spcPts val="0"/>
              </a:spcBef>
              <a:spcAft>
                <a:spcPts val="0"/>
              </a:spcAft>
              <a:defRPr sz="1200" b="1" i="0">
                <a:solidFill>
                  <a:srgbClr val="BD2716"/>
                </a:solidFill>
                <a:latin typeface="Calibri"/>
              </a:defRPr>
            </a:pPr>
            <a:r>
              <a:t>Builder</a:t>
            </a:r>
          </a:p>
        </p:txBody>
      </p:sp>
      <p:sp>
        <p:nvSpPr>
          <p:cNvPr id="18" name="TextBox 17"/>
          <p:cNvSpPr txBox="1"/>
          <p:nvPr/>
        </p:nvSpPr>
        <p:spPr>
          <a:xfrm>
            <a:off x="2743200" y="2697479"/>
            <a:ext cx="1828800" cy="502920"/>
          </a:xfrm>
          <a:prstGeom prst="rect">
            <a:avLst/>
          </a:prstGeom>
          <a:noFill/>
        </p:spPr>
        <p:txBody>
          <a:bodyPr wrap="square"/>
          <a:lstStyle/>
          <a:p>
            <a:pPr algn="l">
              <a:spcBef>
                <a:spcPts val="0"/>
              </a:spcBef>
              <a:spcAft>
                <a:spcPts val="0"/>
              </a:spcAft>
              <a:defRPr sz="1100" b="0" i="0">
                <a:solidFill>
                  <a:srgbClr val="333333"/>
                </a:solidFill>
                <a:latin typeface="Calibri Light"/>
              </a:defRPr>
            </a:pPr>
            <a:r>
              <a:t>Complex single objects</a:t>
            </a:r>
          </a:p>
        </p:txBody>
      </p:sp>
      <p:sp>
        <p:nvSpPr>
          <p:cNvPr id="19" name="TextBox 18"/>
          <p:cNvSpPr txBox="1"/>
          <p:nvPr/>
        </p:nvSpPr>
        <p:spPr>
          <a:xfrm>
            <a:off x="4572000" y="2697479"/>
            <a:ext cx="2743200" cy="502920"/>
          </a:xfrm>
          <a:prstGeom prst="rect">
            <a:avLst/>
          </a:prstGeom>
          <a:noFill/>
        </p:spPr>
        <p:txBody>
          <a:bodyPr wrap="square"/>
          <a:lstStyle/>
          <a:p>
            <a:pPr algn="l">
              <a:spcBef>
                <a:spcPts val="0"/>
              </a:spcBef>
              <a:spcAft>
                <a:spcPts val="0"/>
              </a:spcAft>
              <a:defRPr sz="1100" b="0" i="0">
                <a:solidFill>
                  <a:srgbClr val="333333"/>
                </a:solidFill>
                <a:latin typeface="Calibri Light"/>
              </a:defRPr>
            </a:pPr>
            <a:r>
              <a:t>Fluent step-by-step construction</a:t>
            </a:r>
          </a:p>
        </p:txBody>
      </p:sp>
      <p:sp>
        <p:nvSpPr>
          <p:cNvPr id="20" name="TextBox 19"/>
          <p:cNvSpPr txBox="1"/>
          <p:nvPr/>
        </p:nvSpPr>
        <p:spPr>
          <a:xfrm>
            <a:off x="7315200" y="2697479"/>
            <a:ext cx="4206240" cy="502920"/>
          </a:xfrm>
          <a:prstGeom prst="rect">
            <a:avLst/>
          </a:prstGeom>
          <a:noFill/>
        </p:spPr>
        <p:txBody>
          <a:bodyPr wrap="square"/>
          <a:lstStyle/>
          <a:p>
            <a:pPr algn="l">
              <a:spcBef>
                <a:spcPts val="0"/>
              </a:spcBef>
              <a:spcAft>
                <a:spcPts val="0"/>
              </a:spcAft>
              <a:defRPr sz="1100" b="0" i="0">
                <a:solidFill>
                  <a:srgbClr val="666666"/>
                </a:solidFill>
                <a:latin typeface="Calibri Light"/>
              </a:defRPr>
            </a:pPr>
            <a:r>
              <a:t>Objects with many optional parameters</a:t>
            </a:r>
          </a:p>
        </p:txBody>
      </p:sp>
      <p:sp>
        <p:nvSpPr>
          <p:cNvPr id="21" name="Rectangle 20"/>
          <p:cNvSpPr/>
          <p:nvPr/>
        </p:nvSpPr>
        <p:spPr>
          <a:xfrm>
            <a:off x="457200" y="3246120"/>
            <a:ext cx="11247120" cy="59436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40080" y="3291839"/>
            <a:ext cx="2103120" cy="502920"/>
          </a:xfrm>
          <a:prstGeom prst="rect">
            <a:avLst/>
          </a:prstGeom>
          <a:noFill/>
        </p:spPr>
        <p:txBody>
          <a:bodyPr wrap="square"/>
          <a:lstStyle/>
          <a:p>
            <a:pPr algn="l">
              <a:spcBef>
                <a:spcPts val="0"/>
              </a:spcBef>
              <a:spcAft>
                <a:spcPts val="0"/>
              </a:spcAft>
              <a:defRPr sz="1200" b="1" i="0">
                <a:solidFill>
                  <a:srgbClr val="BD2716"/>
                </a:solidFill>
                <a:latin typeface="Calibri"/>
              </a:defRPr>
            </a:pPr>
            <a:r>
              <a:t>Factory Method</a:t>
            </a:r>
          </a:p>
        </p:txBody>
      </p:sp>
      <p:sp>
        <p:nvSpPr>
          <p:cNvPr id="23" name="TextBox 22"/>
          <p:cNvSpPr txBox="1"/>
          <p:nvPr/>
        </p:nvSpPr>
        <p:spPr>
          <a:xfrm>
            <a:off x="2743200" y="3291839"/>
            <a:ext cx="1828800" cy="502920"/>
          </a:xfrm>
          <a:prstGeom prst="rect">
            <a:avLst/>
          </a:prstGeom>
          <a:noFill/>
        </p:spPr>
        <p:txBody>
          <a:bodyPr wrap="square"/>
          <a:lstStyle/>
          <a:p>
            <a:pPr algn="l">
              <a:spcBef>
                <a:spcPts val="0"/>
              </a:spcBef>
              <a:spcAft>
                <a:spcPts val="0"/>
              </a:spcAft>
              <a:defRPr sz="1100" b="0" i="0">
                <a:solidFill>
                  <a:srgbClr val="333333"/>
                </a:solidFill>
                <a:latin typeface="Calibri Light"/>
              </a:defRPr>
            </a:pPr>
            <a:r>
              <a:t>Single products</a:t>
            </a:r>
          </a:p>
        </p:txBody>
      </p:sp>
      <p:sp>
        <p:nvSpPr>
          <p:cNvPr id="24" name="TextBox 23"/>
          <p:cNvSpPr txBox="1"/>
          <p:nvPr/>
        </p:nvSpPr>
        <p:spPr>
          <a:xfrm>
            <a:off x="4572000" y="3291839"/>
            <a:ext cx="2743200" cy="502920"/>
          </a:xfrm>
          <a:prstGeom prst="rect">
            <a:avLst/>
          </a:prstGeom>
          <a:noFill/>
        </p:spPr>
        <p:txBody>
          <a:bodyPr wrap="square"/>
          <a:lstStyle/>
          <a:p>
            <a:pPr algn="l">
              <a:spcBef>
                <a:spcPts val="0"/>
              </a:spcBef>
              <a:spcAft>
                <a:spcPts val="0"/>
              </a:spcAft>
              <a:defRPr sz="1100" b="0" i="0">
                <a:solidFill>
                  <a:srgbClr val="333333"/>
                </a:solidFill>
                <a:latin typeface="Calibri Light"/>
              </a:defRPr>
            </a:pPr>
            <a:r>
              <a:t>Subclass overrides creation method</a:t>
            </a:r>
          </a:p>
        </p:txBody>
      </p:sp>
      <p:sp>
        <p:nvSpPr>
          <p:cNvPr id="25" name="TextBox 24"/>
          <p:cNvSpPr txBox="1"/>
          <p:nvPr/>
        </p:nvSpPr>
        <p:spPr>
          <a:xfrm>
            <a:off x="7315200" y="3291839"/>
            <a:ext cx="4206240" cy="502920"/>
          </a:xfrm>
          <a:prstGeom prst="rect">
            <a:avLst/>
          </a:prstGeom>
          <a:noFill/>
        </p:spPr>
        <p:txBody>
          <a:bodyPr wrap="square"/>
          <a:lstStyle/>
          <a:p>
            <a:pPr algn="l">
              <a:spcBef>
                <a:spcPts val="0"/>
              </a:spcBef>
              <a:spcAft>
                <a:spcPts val="0"/>
              </a:spcAft>
              <a:defRPr sz="1100" b="0" i="0">
                <a:solidFill>
                  <a:srgbClr val="666666"/>
                </a:solidFill>
                <a:latin typeface="Calibri Light"/>
              </a:defRPr>
            </a:pPr>
            <a:r>
              <a:t>Frameworks, hooks for custom creation</a:t>
            </a:r>
          </a:p>
        </p:txBody>
      </p:sp>
      <p:sp>
        <p:nvSpPr>
          <p:cNvPr id="26" name="Rectangle 25"/>
          <p:cNvSpPr/>
          <p:nvPr/>
        </p:nvSpPr>
        <p:spPr>
          <a:xfrm>
            <a:off x="457200" y="3840480"/>
            <a:ext cx="11247120" cy="5943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40080" y="3886200"/>
            <a:ext cx="2103120" cy="502920"/>
          </a:xfrm>
          <a:prstGeom prst="rect">
            <a:avLst/>
          </a:prstGeom>
          <a:noFill/>
        </p:spPr>
        <p:txBody>
          <a:bodyPr wrap="square"/>
          <a:lstStyle/>
          <a:p>
            <a:pPr algn="l">
              <a:spcBef>
                <a:spcPts val="0"/>
              </a:spcBef>
              <a:spcAft>
                <a:spcPts val="0"/>
              </a:spcAft>
              <a:defRPr sz="1200" b="1" i="0">
                <a:solidFill>
                  <a:srgbClr val="BD2716"/>
                </a:solidFill>
                <a:latin typeface="Calibri"/>
              </a:defRPr>
            </a:pPr>
            <a:r>
              <a:t>Prototype</a:t>
            </a:r>
          </a:p>
        </p:txBody>
      </p:sp>
      <p:sp>
        <p:nvSpPr>
          <p:cNvPr id="28" name="TextBox 27"/>
          <p:cNvSpPr txBox="1"/>
          <p:nvPr/>
        </p:nvSpPr>
        <p:spPr>
          <a:xfrm>
            <a:off x="2743200" y="3886200"/>
            <a:ext cx="1828800" cy="502920"/>
          </a:xfrm>
          <a:prstGeom prst="rect">
            <a:avLst/>
          </a:prstGeom>
          <a:noFill/>
        </p:spPr>
        <p:txBody>
          <a:bodyPr wrap="square"/>
          <a:lstStyle/>
          <a:p>
            <a:pPr algn="l">
              <a:spcBef>
                <a:spcPts val="0"/>
              </a:spcBef>
              <a:spcAft>
                <a:spcPts val="0"/>
              </a:spcAft>
              <a:defRPr sz="1100" b="0" i="0">
                <a:solidFill>
                  <a:srgbClr val="333333"/>
                </a:solidFill>
                <a:latin typeface="Calibri Light"/>
              </a:defRPr>
            </a:pPr>
            <a:r>
              <a:t>Copies of existing objects</a:t>
            </a:r>
          </a:p>
        </p:txBody>
      </p:sp>
      <p:sp>
        <p:nvSpPr>
          <p:cNvPr id="29" name="TextBox 28"/>
          <p:cNvSpPr txBox="1"/>
          <p:nvPr/>
        </p:nvSpPr>
        <p:spPr>
          <a:xfrm>
            <a:off x="4572000" y="3886200"/>
            <a:ext cx="2743200" cy="502920"/>
          </a:xfrm>
          <a:prstGeom prst="rect">
            <a:avLst/>
          </a:prstGeom>
          <a:noFill/>
        </p:spPr>
        <p:txBody>
          <a:bodyPr wrap="square"/>
          <a:lstStyle/>
          <a:p>
            <a:pPr algn="l">
              <a:spcBef>
                <a:spcPts val="0"/>
              </a:spcBef>
              <a:spcAft>
                <a:spcPts val="0"/>
              </a:spcAft>
              <a:defRPr sz="1100" b="0" i="0">
                <a:solidFill>
                  <a:srgbClr val="333333"/>
                </a:solidFill>
                <a:latin typeface="Calibri Light"/>
              </a:defRPr>
            </a:pPr>
            <a:r>
              <a:t>Clone / deep copy</a:t>
            </a:r>
          </a:p>
        </p:txBody>
      </p:sp>
      <p:sp>
        <p:nvSpPr>
          <p:cNvPr id="30" name="TextBox 29"/>
          <p:cNvSpPr txBox="1"/>
          <p:nvPr/>
        </p:nvSpPr>
        <p:spPr>
          <a:xfrm>
            <a:off x="7315200" y="3886200"/>
            <a:ext cx="4206240" cy="502920"/>
          </a:xfrm>
          <a:prstGeom prst="rect">
            <a:avLst/>
          </a:prstGeom>
          <a:noFill/>
        </p:spPr>
        <p:txBody>
          <a:bodyPr wrap="square"/>
          <a:lstStyle/>
          <a:p>
            <a:pPr algn="l">
              <a:spcBef>
                <a:spcPts val="0"/>
              </a:spcBef>
              <a:spcAft>
                <a:spcPts val="0"/>
              </a:spcAft>
              <a:defRPr sz="1100" b="0" i="0">
                <a:solidFill>
                  <a:srgbClr val="666666"/>
                </a:solidFill>
                <a:latin typeface="Calibri Light"/>
              </a:defRPr>
            </a:pPr>
            <a:r>
              <a:t>Expensive init, many similar objects</a:t>
            </a:r>
          </a:p>
        </p:txBody>
      </p:sp>
      <p:sp>
        <p:nvSpPr>
          <p:cNvPr id="31" name="Rectangle 30"/>
          <p:cNvSpPr/>
          <p:nvPr/>
        </p:nvSpPr>
        <p:spPr>
          <a:xfrm>
            <a:off x="457200" y="4434840"/>
            <a:ext cx="11247120" cy="59436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640080" y="4480559"/>
            <a:ext cx="2103120" cy="502920"/>
          </a:xfrm>
          <a:prstGeom prst="rect">
            <a:avLst/>
          </a:prstGeom>
          <a:noFill/>
        </p:spPr>
        <p:txBody>
          <a:bodyPr wrap="square"/>
          <a:lstStyle/>
          <a:p>
            <a:pPr algn="l">
              <a:spcBef>
                <a:spcPts val="0"/>
              </a:spcBef>
              <a:spcAft>
                <a:spcPts val="0"/>
              </a:spcAft>
              <a:defRPr sz="1200" b="1" i="0">
                <a:solidFill>
                  <a:srgbClr val="BD2716"/>
                </a:solidFill>
                <a:latin typeface="Calibri"/>
              </a:defRPr>
            </a:pPr>
            <a:r>
              <a:t>Singleton</a:t>
            </a:r>
          </a:p>
        </p:txBody>
      </p:sp>
      <p:sp>
        <p:nvSpPr>
          <p:cNvPr id="33" name="TextBox 32"/>
          <p:cNvSpPr txBox="1"/>
          <p:nvPr/>
        </p:nvSpPr>
        <p:spPr>
          <a:xfrm>
            <a:off x="2743200" y="4480559"/>
            <a:ext cx="1828800" cy="502920"/>
          </a:xfrm>
          <a:prstGeom prst="rect">
            <a:avLst/>
          </a:prstGeom>
          <a:noFill/>
        </p:spPr>
        <p:txBody>
          <a:bodyPr wrap="square"/>
          <a:lstStyle/>
          <a:p>
            <a:pPr algn="l">
              <a:spcBef>
                <a:spcPts val="0"/>
              </a:spcBef>
              <a:spcAft>
                <a:spcPts val="0"/>
              </a:spcAft>
              <a:defRPr sz="1100" b="0" i="0">
                <a:solidFill>
                  <a:srgbClr val="333333"/>
                </a:solidFill>
                <a:latin typeface="Calibri Light"/>
              </a:defRPr>
            </a:pPr>
            <a:r>
              <a:t>One global instance</a:t>
            </a:r>
          </a:p>
        </p:txBody>
      </p:sp>
      <p:sp>
        <p:nvSpPr>
          <p:cNvPr id="34" name="TextBox 33"/>
          <p:cNvSpPr txBox="1"/>
          <p:nvPr/>
        </p:nvSpPr>
        <p:spPr>
          <a:xfrm>
            <a:off x="4572000" y="4480559"/>
            <a:ext cx="2743200" cy="502920"/>
          </a:xfrm>
          <a:prstGeom prst="rect">
            <a:avLst/>
          </a:prstGeom>
          <a:noFill/>
        </p:spPr>
        <p:txBody>
          <a:bodyPr wrap="square"/>
          <a:lstStyle/>
          <a:p>
            <a:pPr algn="l">
              <a:spcBef>
                <a:spcPts val="0"/>
              </a:spcBef>
              <a:spcAft>
                <a:spcPts val="0"/>
              </a:spcAft>
              <a:defRPr sz="1100" b="0" i="0">
                <a:solidFill>
                  <a:srgbClr val="333333"/>
                </a:solidFill>
                <a:latin typeface="Calibri Light"/>
              </a:defRPr>
            </a:pPr>
            <a:r>
              <a:t>Controlled access point</a:t>
            </a:r>
          </a:p>
        </p:txBody>
      </p:sp>
      <p:sp>
        <p:nvSpPr>
          <p:cNvPr id="35" name="TextBox 34"/>
          <p:cNvSpPr txBox="1"/>
          <p:nvPr/>
        </p:nvSpPr>
        <p:spPr>
          <a:xfrm>
            <a:off x="7315200" y="4480559"/>
            <a:ext cx="4206240" cy="502920"/>
          </a:xfrm>
          <a:prstGeom prst="rect">
            <a:avLst/>
          </a:prstGeom>
          <a:noFill/>
        </p:spPr>
        <p:txBody>
          <a:bodyPr wrap="square"/>
          <a:lstStyle/>
          <a:p>
            <a:pPr algn="l">
              <a:spcBef>
                <a:spcPts val="0"/>
              </a:spcBef>
              <a:spcAft>
                <a:spcPts val="0"/>
              </a:spcAft>
              <a:defRPr sz="1100" b="0" i="0">
                <a:solidFill>
                  <a:srgbClr val="666666"/>
                </a:solidFill>
                <a:latin typeface="Calibri Light"/>
              </a:defRPr>
            </a:pPr>
            <a:r>
              <a:t>Shared resources (use DI beans instead)</a:t>
            </a:r>
          </a:p>
        </p:txBody>
      </p:sp>
      <p:sp>
        <p:nvSpPr>
          <p:cNvPr id="36" name="Rectangle 35"/>
          <p:cNvSpPr/>
          <p:nvPr/>
        </p:nvSpPr>
        <p:spPr>
          <a:xfrm>
            <a:off x="457200" y="5212080"/>
            <a:ext cx="11247120" cy="822960"/>
          </a:xfrm>
          <a:prstGeom prst="rect">
            <a:avLst/>
          </a:prstGeom>
          <a:solidFill>
            <a:srgbClr val="FFF8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ectangle 36"/>
          <p:cNvSpPr/>
          <p:nvPr/>
        </p:nvSpPr>
        <p:spPr>
          <a:xfrm>
            <a:off x="457200" y="5212080"/>
            <a:ext cx="73152" cy="822960"/>
          </a:xfrm>
          <a:prstGeom prst="rect">
            <a:avLst/>
          </a:prstGeom>
          <a:solidFill>
            <a:srgbClr val="E8A3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731520" y="5257800"/>
            <a:ext cx="10698480" cy="274320"/>
          </a:xfrm>
          <a:prstGeom prst="rect">
            <a:avLst/>
          </a:prstGeom>
          <a:noFill/>
        </p:spPr>
        <p:txBody>
          <a:bodyPr wrap="square"/>
          <a:lstStyle/>
          <a:p>
            <a:pPr algn="l">
              <a:spcBef>
                <a:spcPts val="0"/>
              </a:spcBef>
              <a:spcAft>
                <a:spcPts val="0"/>
              </a:spcAft>
              <a:defRPr sz="1300" b="1" i="0">
                <a:solidFill>
                  <a:srgbClr val="E8A317"/>
                </a:solidFill>
                <a:latin typeface="Calibri"/>
              </a:defRPr>
            </a:pPr>
            <a:r>
              <a:t>Quick decision guide</a:t>
            </a:r>
          </a:p>
        </p:txBody>
      </p:sp>
      <p:sp>
        <p:nvSpPr>
          <p:cNvPr id="39" name="TextBox 38"/>
          <p:cNvSpPr txBox="1"/>
          <p:nvPr/>
        </p:nvSpPr>
        <p:spPr>
          <a:xfrm>
            <a:off x="731520" y="5577840"/>
            <a:ext cx="10698480" cy="411480"/>
          </a:xfrm>
          <a:prstGeom prst="rect">
            <a:avLst/>
          </a:prstGeom>
          <a:noFill/>
        </p:spPr>
        <p:txBody>
          <a:bodyPr wrap="square"/>
          <a:lstStyle/>
          <a:p>
            <a:pPr algn="l">
              <a:spcBef>
                <a:spcPts val="0"/>
              </a:spcBef>
              <a:spcAft>
                <a:spcPts val="0"/>
              </a:spcAft>
              <a:defRPr sz="1200" b="0" i="0">
                <a:solidFill>
                  <a:srgbClr val="333333"/>
                </a:solidFill>
                <a:latin typeface="Calibri Light"/>
              </a:defRPr>
            </a:pPr>
            <a:r>
              <a:t>Need families? → Abstract Factory.  Complex construction? → Builder.  Hook for subclasses? → Factory Method.  Expensive init? → Prototype.  One instance? → Singleton (or better: Spring bean).</a:t>
            </a:r>
          </a:p>
        </p:txBody>
      </p:sp>
      <p:sp>
        <p:nvSpPr>
          <p:cNvPr id="40" name="Rectangle 39"/>
          <p:cNvSpPr/>
          <p:nvPr/>
        </p:nvSpPr>
        <p:spPr>
          <a:xfrm>
            <a:off x="0" y="6492240"/>
            <a:ext cx="12192000" cy="365760"/>
          </a:xfrm>
          <a:prstGeom prst="rect">
            <a:avLst/>
          </a:prstGeom>
          <a:solidFill>
            <a:srgbClr val="BD27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457200" y="6528816"/>
            <a:ext cx="3657600" cy="274320"/>
          </a:xfrm>
          <a:prstGeom prst="rect">
            <a:avLst/>
          </a:prstGeom>
          <a:noFill/>
        </p:spPr>
        <p:txBody>
          <a:bodyPr wrap="square"/>
          <a:lstStyle/>
          <a:p>
            <a:pPr algn="l">
              <a:spcBef>
                <a:spcPts val="0"/>
              </a:spcBef>
              <a:spcAft>
                <a:spcPts val="0"/>
              </a:spcAft>
              <a:defRPr sz="900" b="0" i="0">
                <a:solidFill>
                  <a:srgbClr val="FFFFFF"/>
                </a:solidFill>
                <a:latin typeface="Calibri Light"/>
              </a:defRPr>
            </a:pPr>
            <a:r>
              <a:t>www.overnet.education</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1E1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2000" cy="73152"/>
          </a:xfrm>
          <a:prstGeom prst="rect">
            <a:avLst/>
          </a:prstGeom>
          <a:solidFill>
            <a:srgbClr val="BD27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365760"/>
            <a:ext cx="9144000" cy="731520"/>
          </a:xfrm>
          <a:prstGeom prst="rect">
            <a:avLst/>
          </a:prstGeom>
          <a:noFill/>
        </p:spPr>
        <p:txBody>
          <a:bodyPr wrap="square"/>
          <a:lstStyle/>
          <a:p>
            <a:pPr algn="l">
              <a:spcBef>
                <a:spcPts val="0"/>
              </a:spcBef>
              <a:spcAft>
                <a:spcPts val="0"/>
              </a:spcAft>
              <a:defRPr sz="3600" b="1" i="0">
                <a:solidFill>
                  <a:srgbClr val="FFFFFF"/>
                </a:solidFill>
                <a:latin typeface="Calibri"/>
              </a:defRPr>
            </a:pPr>
            <a:r>
              <a:t>Module 2: Key Takeaways</a:t>
            </a:r>
          </a:p>
        </p:txBody>
      </p:sp>
      <p:sp>
        <p:nvSpPr>
          <p:cNvPr id="5" name="Rectangle 4"/>
          <p:cNvSpPr/>
          <p:nvPr/>
        </p:nvSpPr>
        <p:spPr>
          <a:xfrm>
            <a:off x="731520" y="1463040"/>
            <a:ext cx="201168" cy="201168"/>
          </a:xfrm>
          <a:prstGeom prst="rect">
            <a:avLst/>
          </a:prstGeom>
          <a:solidFill>
            <a:srgbClr val="BD27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188720" y="1371600"/>
            <a:ext cx="10241280" cy="457200"/>
          </a:xfrm>
          <a:prstGeom prst="rect">
            <a:avLst/>
          </a:prstGeom>
          <a:noFill/>
        </p:spPr>
        <p:txBody>
          <a:bodyPr wrap="square"/>
          <a:lstStyle/>
          <a:p>
            <a:pPr algn="l">
              <a:spcBef>
                <a:spcPts val="0"/>
              </a:spcBef>
              <a:spcAft>
                <a:spcPts val="0"/>
              </a:spcAft>
              <a:defRPr sz="1400" b="0" i="0">
                <a:solidFill>
                  <a:srgbClr val="DDDDEE"/>
                </a:solidFill>
                <a:latin typeface="Calibri Light"/>
              </a:defRPr>
            </a:pPr>
            <a:r>
              <a:t>Creational patterns decouple clients from the way objects are created and composed.</a:t>
            </a:r>
          </a:p>
        </p:txBody>
      </p:sp>
      <p:sp>
        <p:nvSpPr>
          <p:cNvPr id="7" name="Rectangle 6"/>
          <p:cNvSpPr/>
          <p:nvPr/>
        </p:nvSpPr>
        <p:spPr>
          <a:xfrm>
            <a:off x="731520" y="2011680"/>
            <a:ext cx="201168" cy="201168"/>
          </a:xfrm>
          <a:prstGeom prst="rect">
            <a:avLst/>
          </a:prstGeom>
          <a:solidFill>
            <a:srgbClr val="BD27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88720" y="1920240"/>
            <a:ext cx="10241280" cy="457200"/>
          </a:xfrm>
          <a:prstGeom prst="rect">
            <a:avLst/>
          </a:prstGeom>
          <a:noFill/>
        </p:spPr>
        <p:txBody>
          <a:bodyPr wrap="square"/>
          <a:lstStyle/>
          <a:p>
            <a:pPr algn="l">
              <a:spcBef>
                <a:spcPts val="0"/>
              </a:spcBef>
              <a:spcAft>
                <a:spcPts val="0"/>
              </a:spcAft>
              <a:defRPr sz="1400" b="0" i="0">
                <a:solidFill>
                  <a:srgbClr val="DDDDEE"/>
                </a:solidFill>
                <a:latin typeface="Calibri Light"/>
              </a:defRPr>
            </a:pPr>
            <a:r>
              <a:t>Abstract Factory guarantees consistency across families; use it when you have multiple product variants.</a:t>
            </a:r>
          </a:p>
        </p:txBody>
      </p:sp>
      <p:sp>
        <p:nvSpPr>
          <p:cNvPr id="9" name="Rectangle 8"/>
          <p:cNvSpPr/>
          <p:nvPr/>
        </p:nvSpPr>
        <p:spPr>
          <a:xfrm>
            <a:off x="731520" y="2560320"/>
            <a:ext cx="201168" cy="201168"/>
          </a:xfrm>
          <a:prstGeom prst="rect">
            <a:avLst/>
          </a:prstGeom>
          <a:solidFill>
            <a:srgbClr val="BD27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188720" y="2468880"/>
            <a:ext cx="10241280" cy="457200"/>
          </a:xfrm>
          <a:prstGeom prst="rect">
            <a:avLst/>
          </a:prstGeom>
          <a:noFill/>
        </p:spPr>
        <p:txBody>
          <a:bodyPr wrap="square"/>
          <a:lstStyle/>
          <a:p>
            <a:pPr algn="l">
              <a:spcBef>
                <a:spcPts val="0"/>
              </a:spcBef>
              <a:spcAft>
                <a:spcPts val="0"/>
              </a:spcAft>
              <a:defRPr sz="1400" b="0" i="0">
                <a:solidFill>
                  <a:srgbClr val="DDDDEE"/>
                </a:solidFill>
                <a:latin typeface="Calibri Light"/>
              </a:defRPr>
            </a:pPr>
            <a:r>
              <a:t>Builder shines for complex objects with many optional fields; prefer it over telescoping constructors.</a:t>
            </a:r>
          </a:p>
        </p:txBody>
      </p:sp>
      <p:sp>
        <p:nvSpPr>
          <p:cNvPr id="11" name="Rectangle 10"/>
          <p:cNvSpPr/>
          <p:nvPr/>
        </p:nvSpPr>
        <p:spPr>
          <a:xfrm>
            <a:off x="731520" y="3108960"/>
            <a:ext cx="201168" cy="201168"/>
          </a:xfrm>
          <a:prstGeom prst="rect">
            <a:avLst/>
          </a:prstGeom>
          <a:solidFill>
            <a:srgbClr val="BD27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188720" y="3017520"/>
            <a:ext cx="10241280" cy="457200"/>
          </a:xfrm>
          <a:prstGeom prst="rect">
            <a:avLst/>
          </a:prstGeom>
          <a:noFill/>
        </p:spPr>
        <p:txBody>
          <a:bodyPr wrap="square"/>
          <a:lstStyle/>
          <a:p>
            <a:pPr algn="l">
              <a:spcBef>
                <a:spcPts val="0"/>
              </a:spcBef>
              <a:spcAft>
                <a:spcPts val="0"/>
              </a:spcAft>
              <a:defRPr sz="1400" b="0" i="0">
                <a:solidFill>
                  <a:srgbClr val="DDDDEE"/>
                </a:solidFill>
                <a:latin typeface="Calibri Light"/>
              </a:defRPr>
            </a:pPr>
            <a:r>
              <a:t>Factory Method provides a hook for subclasses; in Spring, every @Bean method is a factory method.</a:t>
            </a:r>
          </a:p>
        </p:txBody>
      </p:sp>
      <p:sp>
        <p:nvSpPr>
          <p:cNvPr id="13" name="Rectangle 12"/>
          <p:cNvSpPr/>
          <p:nvPr/>
        </p:nvSpPr>
        <p:spPr>
          <a:xfrm>
            <a:off x="731520" y="3657600"/>
            <a:ext cx="201168" cy="201168"/>
          </a:xfrm>
          <a:prstGeom prst="rect">
            <a:avLst/>
          </a:prstGeom>
          <a:solidFill>
            <a:srgbClr val="BD27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188720" y="3566160"/>
            <a:ext cx="10241280" cy="457200"/>
          </a:xfrm>
          <a:prstGeom prst="rect">
            <a:avLst/>
          </a:prstGeom>
          <a:noFill/>
        </p:spPr>
        <p:txBody>
          <a:bodyPr wrap="square"/>
          <a:lstStyle/>
          <a:p>
            <a:pPr algn="l">
              <a:spcBef>
                <a:spcPts val="0"/>
              </a:spcBef>
              <a:spcAft>
                <a:spcPts val="0"/>
              </a:spcAft>
              <a:defRPr sz="1400" b="0" i="0">
                <a:solidFill>
                  <a:srgbClr val="DDDDEE"/>
                </a:solidFill>
                <a:latin typeface="Calibri Light"/>
              </a:defRPr>
            </a:pPr>
            <a:r>
              <a:t>Prototype avoids expensive re-initialization by cloning; prefer copy constructors over Cloneable.</a:t>
            </a:r>
          </a:p>
        </p:txBody>
      </p:sp>
      <p:sp>
        <p:nvSpPr>
          <p:cNvPr id="15" name="Rectangle 14"/>
          <p:cNvSpPr/>
          <p:nvPr/>
        </p:nvSpPr>
        <p:spPr>
          <a:xfrm>
            <a:off x="731520" y="4206240"/>
            <a:ext cx="201168" cy="201168"/>
          </a:xfrm>
          <a:prstGeom prst="rect">
            <a:avLst/>
          </a:prstGeom>
          <a:solidFill>
            <a:srgbClr val="BD27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188720" y="4114800"/>
            <a:ext cx="10241280" cy="457200"/>
          </a:xfrm>
          <a:prstGeom prst="rect">
            <a:avLst/>
          </a:prstGeom>
          <a:noFill/>
        </p:spPr>
        <p:txBody>
          <a:bodyPr wrap="square"/>
          <a:lstStyle/>
          <a:p>
            <a:pPr algn="l">
              <a:spcBef>
                <a:spcPts val="0"/>
              </a:spcBef>
              <a:spcAft>
                <a:spcPts val="0"/>
              </a:spcAft>
              <a:defRPr sz="1400" b="0" i="0">
                <a:solidFill>
                  <a:srgbClr val="DDDDEE"/>
                </a:solidFill>
                <a:latin typeface="Calibri Light"/>
              </a:defRPr>
            </a:pPr>
            <a:r>
              <a:t>Singleton ensures one instance, but in enterprise Java, DI-managed beans are almost always better.</a:t>
            </a:r>
          </a:p>
        </p:txBody>
      </p:sp>
      <p:sp>
        <p:nvSpPr>
          <p:cNvPr id="17" name="Rectangle 16"/>
          <p:cNvSpPr/>
          <p:nvPr/>
        </p:nvSpPr>
        <p:spPr>
          <a:xfrm>
            <a:off x="731520" y="4754879"/>
            <a:ext cx="201168" cy="201168"/>
          </a:xfrm>
          <a:prstGeom prst="rect">
            <a:avLst/>
          </a:prstGeom>
          <a:solidFill>
            <a:srgbClr val="BD27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1188720" y="4663440"/>
            <a:ext cx="10241280" cy="457200"/>
          </a:xfrm>
          <a:prstGeom prst="rect">
            <a:avLst/>
          </a:prstGeom>
          <a:noFill/>
        </p:spPr>
        <p:txBody>
          <a:bodyPr wrap="square"/>
          <a:lstStyle/>
          <a:p>
            <a:pPr algn="l">
              <a:spcBef>
                <a:spcPts val="0"/>
              </a:spcBef>
              <a:spcAft>
                <a:spcPts val="0"/>
              </a:spcAft>
              <a:defRPr sz="1400" b="0" i="0">
                <a:solidFill>
                  <a:srgbClr val="DDDDEE"/>
                </a:solidFill>
                <a:latin typeface="Calibri Light"/>
              </a:defRPr>
            </a:pPr>
            <a:r>
              <a:t>Modern Java (records, lambdas, Supplier&lt;T&gt;) reduces the ceremony of many creational patterns.</a:t>
            </a:r>
          </a:p>
        </p:txBody>
      </p:sp>
      <p:sp>
        <p:nvSpPr>
          <p:cNvPr id="19" name="Rectangle 18"/>
          <p:cNvSpPr/>
          <p:nvPr/>
        </p:nvSpPr>
        <p:spPr>
          <a:xfrm>
            <a:off x="731520" y="5303520"/>
            <a:ext cx="201168" cy="201168"/>
          </a:xfrm>
          <a:prstGeom prst="rect">
            <a:avLst/>
          </a:prstGeom>
          <a:solidFill>
            <a:srgbClr val="BD27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188720" y="5212080"/>
            <a:ext cx="10241280" cy="457200"/>
          </a:xfrm>
          <a:prstGeom prst="rect">
            <a:avLst/>
          </a:prstGeom>
          <a:noFill/>
        </p:spPr>
        <p:txBody>
          <a:bodyPr wrap="square"/>
          <a:lstStyle/>
          <a:p>
            <a:pPr algn="l">
              <a:spcBef>
                <a:spcPts val="0"/>
              </a:spcBef>
              <a:spcAft>
                <a:spcPts val="0"/>
              </a:spcAft>
              <a:defRPr sz="1400" b="0" i="0">
                <a:solidFill>
                  <a:srgbClr val="DDDDEE"/>
                </a:solidFill>
                <a:latin typeface="Calibri Light"/>
              </a:defRPr>
            </a:pPr>
            <a:r>
              <a:t>The best creational pattern is the one that solves a real problem you have today — not tomorrow.</a:t>
            </a:r>
          </a:p>
        </p:txBody>
      </p:sp>
      <p:sp>
        <p:nvSpPr>
          <p:cNvPr id="21" name="Rectangle 20"/>
          <p:cNvSpPr/>
          <p:nvPr/>
        </p:nvSpPr>
        <p:spPr>
          <a:xfrm>
            <a:off x="0" y="6492240"/>
            <a:ext cx="12192000" cy="365760"/>
          </a:xfrm>
          <a:prstGeom prst="rect">
            <a:avLst/>
          </a:prstGeom>
          <a:solidFill>
            <a:srgbClr val="BD27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57200" y="6528816"/>
            <a:ext cx="3657600" cy="274320"/>
          </a:xfrm>
          <a:prstGeom prst="rect">
            <a:avLst/>
          </a:prstGeom>
          <a:noFill/>
        </p:spPr>
        <p:txBody>
          <a:bodyPr wrap="square"/>
          <a:lstStyle/>
          <a:p>
            <a:pPr algn="l">
              <a:spcBef>
                <a:spcPts val="0"/>
              </a:spcBef>
              <a:spcAft>
                <a:spcPts val="0"/>
              </a:spcAft>
              <a:defRPr sz="900" b="0" i="0">
                <a:solidFill>
                  <a:srgbClr val="FFFFFF"/>
                </a:solidFill>
                <a:latin typeface="Calibri Light"/>
              </a:defRPr>
            </a:pPr>
            <a:r>
              <a:t>www.overnet.education</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54864"/>
          </a:xfrm>
          <a:prstGeom prst="rect">
            <a:avLst/>
          </a:prstGeom>
          <a:solidFill>
            <a:srgbClr val="BD27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371600"/>
            <a:ext cx="9144000" cy="731520"/>
          </a:xfrm>
          <a:prstGeom prst="rect">
            <a:avLst/>
          </a:prstGeom>
          <a:noFill/>
        </p:spPr>
        <p:txBody>
          <a:bodyPr wrap="square"/>
          <a:lstStyle/>
          <a:p>
            <a:pPr algn="l">
              <a:spcBef>
                <a:spcPts val="0"/>
              </a:spcBef>
              <a:spcAft>
                <a:spcPts val="0"/>
              </a:spcAft>
              <a:defRPr sz="3600" b="1" i="0">
                <a:solidFill>
                  <a:srgbClr val="333333"/>
                </a:solidFill>
                <a:latin typeface="Calibri"/>
              </a:defRPr>
            </a:pPr>
            <a:r>
              <a:t>Coming Next</a:t>
            </a:r>
          </a:p>
        </p:txBody>
      </p:sp>
      <p:sp>
        <p:nvSpPr>
          <p:cNvPr id="4" name="TextBox 3"/>
          <p:cNvSpPr txBox="1"/>
          <p:nvPr/>
        </p:nvSpPr>
        <p:spPr>
          <a:xfrm>
            <a:off x="548640" y="2194560"/>
            <a:ext cx="9144000" cy="640080"/>
          </a:xfrm>
          <a:prstGeom prst="rect">
            <a:avLst/>
          </a:prstGeom>
          <a:noFill/>
        </p:spPr>
        <p:txBody>
          <a:bodyPr wrap="square"/>
          <a:lstStyle/>
          <a:p>
            <a:pPr algn="l">
              <a:spcBef>
                <a:spcPts val="0"/>
              </a:spcBef>
              <a:spcAft>
                <a:spcPts val="0"/>
              </a:spcAft>
              <a:defRPr sz="2800" b="1" i="0">
                <a:solidFill>
                  <a:srgbClr val="BD2716"/>
                </a:solidFill>
                <a:latin typeface="Calibri"/>
              </a:defRPr>
            </a:pPr>
            <a:r>
              <a:t>Module 3: Structural Patterns</a:t>
            </a:r>
          </a:p>
        </p:txBody>
      </p:sp>
      <p:sp>
        <p:nvSpPr>
          <p:cNvPr id="5" name="TextBox 4"/>
          <p:cNvSpPr txBox="1"/>
          <p:nvPr/>
        </p:nvSpPr>
        <p:spPr>
          <a:xfrm>
            <a:off x="731520" y="2926080"/>
            <a:ext cx="10515600" cy="457200"/>
          </a:xfrm>
          <a:prstGeom prst="rect">
            <a:avLst/>
          </a:prstGeom>
          <a:noFill/>
        </p:spPr>
        <p:txBody>
          <a:bodyPr wrap="square"/>
          <a:lstStyle/>
          <a:p>
            <a:pPr algn="l">
              <a:spcBef>
                <a:spcPts val="0"/>
              </a:spcBef>
              <a:spcAft>
                <a:spcPts val="0"/>
              </a:spcAft>
              <a:defRPr sz="1600" b="0" i="0">
                <a:solidFill>
                  <a:srgbClr val="666666"/>
                </a:solidFill>
                <a:latin typeface="Calibri Light"/>
              </a:defRPr>
            </a:pPr>
            <a:r>
              <a:t>Adapter  |  Bridge  |  Composite  |  Decorator  |  Facade  |  Flyweight  |  Proxy  |  Value Object</a:t>
            </a:r>
          </a:p>
        </p:txBody>
      </p:sp>
      <p:sp>
        <p:nvSpPr>
          <p:cNvPr id="6" name="TextBox 5"/>
          <p:cNvSpPr txBox="1"/>
          <p:nvPr/>
        </p:nvSpPr>
        <p:spPr>
          <a:xfrm>
            <a:off x="731520" y="3657600"/>
            <a:ext cx="10515600" cy="731520"/>
          </a:xfrm>
          <a:prstGeom prst="rect">
            <a:avLst/>
          </a:prstGeom>
          <a:noFill/>
        </p:spPr>
        <p:txBody>
          <a:bodyPr wrap="square"/>
          <a:lstStyle/>
          <a:p>
            <a:pPr algn="l">
              <a:spcBef>
                <a:spcPts val="0"/>
              </a:spcBef>
              <a:spcAft>
                <a:spcPts val="0"/>
              </a:spcAft>
              <a:defRPr sz="1500" b="0" i="0">
                <a:solidFill>
                  <a:srgbClr val="333333"/>
                </a:solidFill>
                <a:latin typeface="Calibri Light"/>
              </a:defRPr>
            </a:pPr>
            <a:r>
              <a:t>How do we assemble classes and objects into larger, flexible structures? Structural patterns focus on composition, wrapping, and connecting components — the glue that holds enterprise systems together.</a:t>
            </a:r>
          </a:p>
        </p:txBody>
      </p:sp>
      <p:sp>
        <p:nvSpPr>
          <p:cNvPr id="7" name="Rectangle 6"/>
          <p:cNvSpPr/>
          <p:nvPr/>
        </p:nvSpPr>
        <p:spPr>
          <a:xfrm>
            <a:off x="0" y="6492240"/>
            <a:ext cx="12192000" cy="365760"/>
          </a:xfrm>
          <a:prstGeom prst="rect">
            <a:avLst/>
          </a:prstGeom>
          <a:solidFill>
            <a:srgbClr val="BD27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6528816"/>
            <a:ext cx="3657600" cy="274320"/>
          </a:xfrm>
          <a:prstGeom prst="rect">
            <a:avLst/>
          </a:prstGeom>
          <a:noFill/>
        </p:spPr>
        <p:txBody>
          <a:bodyPr wrap="square"/>
          <a:lstStyle/>
          <a:p>
            <a:pPr algn="l">
              <a:spcBef>
                <a:spcPts val="0"/>
              </a:spcBef>
              <a:spcAft>
                <a:spcPts val="0"/>
              </a:spcAft>
              <a:defRPr sz="900" b="0" i="0">
                <a:solidFill>
                  <a:srgbClr val="FFFFFF"/>
                </a:solidFill>
                <a:latin typeface="Calibri Light"/>
              </a:defRPr>
            </a:pPr>
            <a:r>
              <a:t>www.overnet.education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0</TotalTime>
  <Words>4366</Words>
  <Application>Microsoft Office PowerPoint</Application>
  <PresentationFormat>Widescreen</PresentationFormat>
  <Paragraphs>311</Paragraphs>
  <Slides>25</Slides>
  <Notes>0</Notes>
  <HiddenSlides>0</HiddenSlides>
  <MMClips>0</MMClips>
  <ScaleCrop>false</ScaleCrop>
  <HeadingPairs>
    <vt:vector size="6" baseType="variant">
      <vt:variant>
        <vt:lpstr>Caratteri utilizzati</vt:lpstr>
      </vt:variant>
      <vt:variant>
        <vt:i4>3</vt:i4>
      </vt:variant>
      <vt:variant>
        <vt:lpstr>Tema</vt:lpstr>
      </vt:variant>
      <vt:variant>
        <vt:i4>1</vt:i4>
      </vt:variant>
      <vt:variant>
        <vt:lpstr>Titoli diapositive</vt:lpstr>
      </vt:variant>
      <vt:variant>
        <vt:i4>25</vt:i4>
      </vt:variant>
    </vt:vector>
  </HeadingPairs>
  <TitlesOfParts>
    <vt:vector size="29" baseType="lpstr">
      <vt:lpstr>Arial</vt:lpstr>
      <vt:lpstr>Calibri</vt:lpstr>
      <vt:lpstr>Calibri Light</vt:lpstr>
      <vt:lpstr>Office Theme</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Salvatore Sorrentino</cp:lastModifiedBy>
  <cp:revision>1</cp:revision>
  <dcterms:created xsi:type="dcterms:W3CDTF">2013-01-27T09:14:16Z</dcterms:created>
  <dcterms:modified xsi:type="dcterms:W3CDTF">2026-02-12T16:00:07Z</dcterms:modified>
  <cp:category/>
</cp:coreProperties>
</file>